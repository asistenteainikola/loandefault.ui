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8" r:id="rId1"/>
    <p:sldMasterId id="2147483679" r:id="rId2"/>
  </p:sldMasterIdLst>
  <p:notesMasterIdLst>
    <p:notesMasterId r:id="rId30"/>
  </p:notesMasterIdLst>
  <p:sldIdLst>
    <p:sldId id="256" r:id="rId3"/>
    <p:sldId id="257" r:id="rId4"/>
    <p:sldId id="258" r:id="rId5"/>
    <p:sldId id="259" r:id="rId6"/>
    <p:sldId id="261" r:id="rId7"/>
    <p:sldId id="278" r:id="rId8"/>
    <p:sldId id="262" r:id="rId9"/>
    <p:sldId id="263" r:id="rId10"/>
    <p:sldId id="264" r:id="rId11"/>
    <p:sldId id="279" r:id="rId12"/>
    <p:sldId id="280" r:id="rId13"/>
    <p:sldId id="265" r:id="rId14"/>
    <p:sldId id="287" r:id="rId15"/>
    <p:sldId id="282" r:id="rId16"/>
    <p:sldId id="267" r:id="rId17"/>
    <p:sldId id="269" r:id="rId18"/>
    <p:sldId id="283" r:id="rId19"/>
    <p:sldId id="284" r:id="rId20"/>
    <p:sldId id="285" r:id="rId21"/>
    <p:sldId id="286" r:id="rId22"/>
    <p:sldId id="270" r:id="rId23"/>
    <p:sldId id="271" r:id="rId24"/>
    <p:sldId id="272" r:id="rId25"/>
    <p:sldId id="273" r:id="rId26"/>
    <p:sldId id="274" r:id="rId27"/>
    <p:sldId id="275" r:id="rId28"/>
    <p:sldId id="276" r:id="rId29"/>
  </p:sldIdLst>
  <p:sldSz cx="9144000" cy="5143500" type="screen16x9"/>
  <p:notesSz cx="6858000" cy="9144000"/>
  <p:embeddedFontLst>
    <p:embeddedFont>
      <p:font typeface="Century Gothic" panose="020B0502020202020204" pitchFamily="34" charset="0"/>
      <p:regular r:id="rId31"/>
      <p:bold r:id="rId32"/>
      <p:italic r:id="rId33"/>
      <p:boldItalic r:id="rId34"/>
    </p:embeddedFont>
    <p:embeddedFont>
      <p:font typeface="Nunito" pitchFamily="2" charset="77"/>
      <p:regular r:id="rId35"/>
      <p:bold r:id="rId36"/>
      <p:italic r:id="rId37"/>
      <p:boldItalic r:id="rId38"/>
    </p:embeddedFont>
    <p:embeddedFont>
      <p:font typeface="Nunito ExtraBold" pitchFamily="2" charset="77"/>
      <p:bold r:id="rId39"/>
      <p:italic r:id="rId40"/>
      <p:boldItalic r:id="rId41"/>
    </p:embeddedFont>
    <p:embeddedFont>
      <p:font typeface="Nunito SemiBold" pitchFamily="2" charset="77"/>
      <p:regular r:id="rId42"/>
      <p:bold r:id="rId43"/>
      <p:italic r:id="rId44"/>
      <p:boldItalic r:id="rId4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CFC87C6-1A0B-40AD-94C4-E44D0AB50E7B}">
  <a:tblStyle styleId="{4CFC87C6-1A0B-40AD-94C4-E44D0AB50E7B}" styleName="Table_0">
    <a:wholeTbl>
      <a:tcTxStyle b="off" i="off">
        <a:font>
          <a:latin typeface="Arial"/>
          <a:ea typeface="Arial"/>
          <a:cs typeface="Arial"/>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12700" cap="flat" cmpd="sng">
              <a:solidFill>
                <a:srgbClr val="5B9BD5"/>
              </a:solidFill>
              <a:prstDash val="solid"/>
              <a:round/>
              <a:headEnd type="none" w="sm" len="sm"/>
              <a:tailEnd type="none" w="sm" len="sm"/>
            </a:ln>
          </a:top>
          <a:bottom>
            <a:ln w="12700" cap="flat" cmpd="sng">
              <a:solidFill>
                <a:srgbClr val="5B9BD5"/>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fill>
          <a:solidFill>
            <a:srgbClr val="5B9BD5">
              <a:alpha val="20000"/>
            </a:srgbClr>
          </a:solidFill>
        </a:fill>
      </a:tcStyle>
    </a:band1H>
    <a:band2H>
      <a:tcTxStyle b="off" i="off"/>
      <a:tcStyle>
        <a:tcBdr/>
      </a:tcStyle>
    </a:band2H>
    <a:band1V>
      <a:tcTxStyle b="off" i="off"/>
      <a:tcStyle>
        <a:tcBdr/>
        <a:fill>
          <a:solidFill>
            <a:srgbClr val="5B9BD5">
              <a:alpha val="20000"/>
            </a:srgbClr>
          </a:solidFill>
        </a:fill>
      </a:tcStyle>
    </a:band1V>
    <a:band2V>
      <a:tcTxStyle b="off" i="off"/>
      <a:tcStyle>
        <a:tcBdr/>
      </a:tcStyle>
    </a:band2V>
    <a:lastCol>
      <a:tcTxStyle b="on" i="off"/>
      <a:tcStyle>
        <a:tcBdr/>
      </a:tcStyle>
    </a:lastCol>
    <a:firstCol>
      <a:tcTxStyle b="on" i="off"/>
      <a:tcStyle>
        <a:tcBdr/>
      </a:tcStyle>
    </a:firstCol>
    <a:lastRow>
      <a:tcTxStyle b="on" i="off"/>
      <a:tcStyle>
        <a:tcBdr>
          <a:top>
            <a:ln w="12700" cap="flat" cmpd="sng">
              <a:solidFill>
                <a:srgbClr val="5B9BD5"/>
              </a:solidFill>
              <a:prstDash val="solid"/>
              <a:round/>
              <a:headEnd type="none" w="sm" len="sm"/>
              <a:tailEnd type="none" w="sm" len="sm"/>
            </a:ln>
          </a:top>
        </a:tcBdr>
        <a:fill>
          <a:solidFill>
            <a:srgbClr val="FFFFFF">
              <a:alpha val="0"/>
            </a:srgbClr>
          </a:solidFill>
        </a:fill>
      </a:tcStyle>
    </a:lastRow>
    <a:seCell>
      <a:tcTxStyle b="off" i="off"/>
      <a:tcStyle>
        <a:tcBdr/>
      </a:tcStyle>
    </a:seCell>
    <a:swCell>
      <a:tcTxStyle b="off" i="off"/>
      <a:tcStyle>
        <a:tcBdr/>
      </a:tcStyle>
    </a:swCell>
    <a:firstRow>
      <a:tcTxStyle b="on" i="off"/>
      <a:tcStyle>
        <a:tcBdr>
          <a:bottom>
            <a:ln w="12700" cap="flat" cmpd="sng">
              <a:solidFill>
                <a:srgbClr val="5B9BD5"/>
              </a:solidFill>
              <a:prstDash val="solid"/>
              <a:round/>
              <a:headEnd type="none" w="sm" len="sm"/>
              <a:tailEnd type="none" w="sm" len="sm"/>
            </a:ln>
          </a:bottom>
        </a:tcBdr>
        <a:fill>
          <a:solidFill>
            <a:srgbClr val="FFFFFF">
              <a:alpha val="0"/>
            </a:srgbClr>
          </a:solidFill>
        </a:fill>
      </a:tcStyle>
    </a:firstRow>
    <a:neCell>
      <a:tcTxStyle b="off" i="off"/>
      <a:tcStyle>
        <a:tcBdr/>
      </a:tcStyle>
    </a:neCell>
    <a:nwCell>
      <a:tcTxStyle b="off" i="off"/>
      <a:tcStyle>
        <a:tcBdr/>
      </a:tcStyle>
    </a:nwCell>
  </a:tblStyle>
  <a:tblStyle styleId="{36976CF4-DB81-4460-9A5E-51383ADFE053}" styleName="Table_1">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BEEEF"/>
          </a:solidFill>
        </a:fill>
      </a:tcStyle>
    </a:wholeTbl>
    <a:band1H>
      <a:tcTxStyle b="off" i="off"/>
      <a:tcStyle>
        <a:tcBdr/>
        <a:fill>
          <a:solidFill>
            <a:srgbClr val="D5DBDE"/>
          </a:solidFill>
        </a:fill>
      </a:tcStyle>
    </a:band1H>
    <a:band2H>
      <a:tcTxStyle b="off" i="off"/>
      <a:tcStyle>
        <a:tcBdr/>
      </a:tcStyle>
    </a:band2H>
    <a:band1V>
      <a:tcTxStyle b="off" i="off"/>
      <a:tcStyle>
        <a:tcBdr/>
        <a:fill>
          <a:solidFill>
            <a:srgbClr val="D5DBDE"/>
          </a:solidFill>
        </a:fill>
      </a:tcStyle>
    </a:band1V>
    <a:band2V>
      <a:tcTxStyle b="off" i="off"/>
      <a:tcStyle>
        <a:tcBdr/>
      </a:tcStyle>
    </a:band2V>
    <a:lastCol>
      <a:tcTxStyle b="on" i="off">
        <a:font>
          <a:latin typeface="Arial"/>
          <a:ea typeface="Arial"/>
          <a:cs typeface="Arial"/>
        </a:font>
        <a:schemeClr val="lt1"/>
      </a:tcTxStyle>
      <a:tcStyle>
        <a:tcBdr/>
        <a:fill>
          <a:solidFill>
            <a:schemeClr val="accent3"/>
          </a:solidFill>
        </a:fill>
      </a:tcStyle>
    </a:lastCol>
    <a:firstCol>
      <a:tcTxStyle b="on" i="off">
        <a:font>
          <a:latin typeface="Arial"/>
          <a:ea typeface="Arial"/>
          <a:cs typeface="Arial"/>
        </a:font>
        <a:schemeClr val="lt1"/>
      </a:tcTxStyle>
      <a:tcStyle>
        <a:tcBdr/>
        <a:fill>
          <a:solidFill>
            <a:schemeClr val="accent3"/>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3"/>
          </a:solidFill>
        </a:fill>
      </a:tcStyle>
    </a:lastRow>
    <a:seCell>
      <a:tcTxStyle b="off" i="off"/>
      <a:tcStyle>
        <a:tcBdr/>
      </a:tcStyle>
    </a:seCell>
    <a:swCell>
      <a:tcTxStyle b="off" i="off"/>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3"/>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64"/>
    <p:restoredTop sz="94704"/>
  </p:normalViewPr>
  <p:slideViewPr>
    <p:cSldViewPr snapToGrid="0">
      <p:cViewPr varScale="1">
        <p:scale>
          <a:sx n="141" d="100"/>
          <a:sy n="141" d="100"/>
        </p:scale>
        <p:origin x="704" y="48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font" Target="fonts/font9.fntdata"/><Relationship Id="rId21" Type="http://schemas.openxmlformats.org/officeDocument/2006/relationships/slide" Target="slides/slide19.xml"/><Relationship Id="rId34" Type="http://schemas.openxmlformats.org/officeDocument/2006/relationships/font" Target="fonts/font4.fntdata"/><Relationship Id="rId42" Type="http://schemas.openxmlformats.org/officeDocument/2006/relationships/font" Target="fonts/font12.fntdata"/><Relationship Id="rId47"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font" Target="fonts/font2.fntdata"/><Relationship Id="rId37" Type="http://schemas.openxmlformats.org/officeDocument/2006/relationships/font" Target="fonts/font7.fntdata"/><Relationship Id="rId40" Type="http://schemas.openxmlformats.org/officeDocument/2006/relationships/font" Target="fonts/font10.fntdata"/><Relationship Id="rId45" Type="http://schemas.openxmlformats.org/officeDocument/2006/relationships/font" Target="fonts/font15.fntdata"/><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font" Target="fonts/font6.fntdata"/><Relationship Id="rId49"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1.fntdata"/><Relationship Id="rId44" Type="http://schemas.openxmlformats.org/officeDocument/2006/relationships/font" Target="fonts/font14.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notesMaster" Target="notesMasters/notesMaster1.xml"/><Relationship Id="rId35" Type="http://schemas.openxmlformats.org/officeDocument/2006/relationships/font" Target="fonts/font5.fntdata"/><Relationship Id="rId43" Type="http://schemas.openxmlformats.org/officeDocument/2006/relationships/font" Target="fonts/font13.fntdata"/><Relationship Id="rId48" Type="http://schemas.openxmlformats.org/officeDocument/2006/relationships/theme" Target="theme/theme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font" Target="fonts/font3.fntdata"/><Relationship Id="rId38" Type="http://schemas.openxmlformats.org/officeDocument/2006/relationships/font" Target="fonts/font8.fntdata"/><Relationship Id="rId46"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1" name="Google Shape;15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6" name="Google Shape;156;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2" name="Google Shape;162;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8" name="Google Shape;168;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0" name="Google Shape;180;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a:extLst>
            <a:ext uri="{FF2B5EF4-FFF2-40B4-BE49-F238E27FC236}">
              <a16:creationId xmlns:a16="http://schemas.microsoft.com/office/drawing/2014/main" id="{8C116D0D-FB4A-0B4E-28E9-D7E44CB30929}"/>
            </a:ext>
          </a:extLst>
        </p:cNvPr>
        <p:cNvGrpSpPr/>
        <p:nvPr/>
      </p:nvGrpSpPr>
      <p:grpSpPr>
        <a:xfrm>
          <a:off x="0" y="0"/>
          <a:ext cx="0" cy="0"/>
          <a:chOff x="0" y="0"/>
          <a:chExt cx="0" cy="0"/>
        </a:xfrm>
      </p:grpSpPr>
      <p:sp>
        <p:nvSpPr>
          <p:cNvPr id="179" name="Google Shape;179;p6:notes">
            <a:extLst>
              <a:ext uri="{FF2B5EF4-FFF2-40B4-BE49-F238E27FC236}">
                <a16:creationId xmlns:a16="http://schemas.microsoft.com/office/drawing/2014/main" id="{081E4AA2-DBEB-0D0E-6FB7-B18C62881F6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0" name="Google Shape;180;p6:notes">
            <a:extLst>
              <a:ext uri="{FF2B5EF4-FFF2-40B4-BE49-F238E27FC236}">
                <a16:creationId xmlns:a16="http://schemas.microsoft.com/office/drawing/2014/main" id="{0912469A-7683-748C-F7E5-2CB8E514071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9888235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6" name="Google Shape;186;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8" name="Google Shape;198;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a:extLst>
            <a:ext uri="{FF2B5EF4-FFF2-40B4-BE49-F238E27FC236}">
              <a16:creationId xmlns:a16="http://schemas.microsoft.com/office/drawing/2014/main" id="{F072FCB8-4830-0B6A-950D-587C2A900A84}"/>
            </a:ext>
          </a:extLst>
        </p:cNvPr>
        <p:cNvGrpSpPr/>
        <p:nvPr/>
      </p:nvGrpSpPr>
      <p:grpSpPr>
        <a:xfrm>
          <a:off x="0" y="0"/>
          <a:ext cx="0" cy="0"/>
          <a:chOff x="0" y="0"/>
          <a:chExt cx="0" cy="0"/>
        </a:xfrm>
      </p:grpSpPr>
      <p:sp>
        <p:nvSpPr>
          <p:cNvPr id="197" name="Google Shape;197;p9:notes">
            <a:extLst>
              <a:ext uri="{FF2B5EF4-FFF2-40B4-BE49-F238E27FC236}">
                <a16:creationId xmlns:a16="http://schemas.microsoft.com/office/drawing/2014/main" id="{F65F5111-4D28-665D-44E7-55C222A051D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8" name="Google Shape;198;p9:notes">
            <a:extLst>
              <a:ext uri="{FF2B5EF4-FFF2-40B4-BE49-F238E27FC236}">
                <a16:creationId xmlns:a16="http://schemas.microsoft.com/office/drawing/2014/main" id="{18113909-E809-5B9B-5B56-9F05C213187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203166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a:extLst>
            <a:ext uri="{FF2B5EF4-FFF2-40B4-BE49-F238E27FC236}">
              <a16:creationId xmlns:a16="http://schemas.microsoft.com/office/drawing/2014/main" id="{9E0DDE8A-4C37-5EF4-E517-6A486C5021E3}"/>
            </a:ext>
          </a:extLst>
        </p:cNvPr>
        <p:cNvGrpSpPr/>
        <p:nvPr/>
      </p:nvGrpSpPr>
      <p:grpSpPr>
        <a:xfrm>
          <a:off x="0" y="0"/>
          <a:ext cx="0" cy="0"/>
          <a:chOff x="0" y="0"/>
          <a:chExt cx="0" cy="0"/>
        </a:xfrm>
      </p:grpSpPr>
      <p:sp>
        <p:nvSpPr>
          <p:cNvPr id="197" name="Google Shape;197;p9:notes">
            <a:extLst>
              <a:ext uri="{FF2B5EF4-FFF2-40B4-BE49-F238E27FC236}">
                <a16:creationId xmlns:a16="http://schemas.microsoft.com/office/drawing/2014/main" id="{19470467-6E5E-6FDE-5BC5-64EF77B9ED1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8" name="Google Shape;198;p9:notes">
            <a:extLst>
              <a:ext uri="{FF2B5EF4-FFF2-40B4-BE49-F238E27FC236}">
                <a16:creationId xmlns:a16="http://schemas.microsoft.com/office/drawing/2014/main" id="{BC3AE9ED-B786-AB57-2CB4-A669CF82442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043160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3" name="Google Shape;203;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a:extLst>
            <a:ext uri="{FF2B5EF4-FFF2-40B4-BE49-F238E27FC236}">
              <a16:creationId xmlns:a16="http://schemas.microsoft.com/office/drawing/2014/main" id="{252A4F8B-64FD-04D5-D82B-6C69CFFDE5B0}"/>
            </a:ext>
          </a:extLst>
        </p:cNvPr>
        <p:cNvGrpSpPr/>
        <p:nvPr/>
      </p:nvGrpSpPr>
      <p:grpSpPr>
        <a:xfrm>
          <a:off x="0" y="0"/>
          <a:ext cx="0" cy="0"/>
          <a:chOff x="0" y="0"/>
          <a:chExt cx="0" cy="0"/>
        </a:xfrm>
      </p:grpSpPr>
      <p:sp>
        <p:nvSpPr>
          <p:cNvPr id="202" name="Google Shape;202;p10:notes">
            <a:extLst>
              <a:ext uri="{FF2B5EF4-FFF2-40B4-BE49-F238E27FC236}">
                <a16:creationId xmlns:a16="http://schemas.microsoft.com/office/drawing/2014/main" id="{CC2CD59F-A174-7C6A-733B-743FA23E003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3" name="Google Shape;203;p10:notes">
            <a:extLst>
              <a:ext uri="{FF2B5EF4-FFF2-40B4-BE49-F238E27FC236}">
                <a16:creationId xmlns:a16="http://schemas.microsoft.com/office/drawing/2014/main" id="{8D8F408F-15C1-3263-15D8-4C099E332D8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324477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a:extLst>
            <a:ext uri="{FF2B5EF4-FFF2-40B4-BE49-F238E27FC236}">
              <a16:creationId xmlns:a16="http://schemas.microsoft.com/office/drawing/2014/main" id="{2F1F67A3-C1C5-D8E5-1B74-38306BD9AE18}"/>
            </a:ext>
          </a:extLst>
        </p:cNvPr>
        <p:cNvGrpSpPr/>
        <p:nvPr/>
      </p:nvGrpSpPr>
      <p:grpSpPr>
        <a:xfrm>
          <a:off x="0" y="0"/>
          <a:ext cx="0" cy="0"/>
          <a:chOff x="0" y="0"/>
          <a:chExt cx="0" cy="0"/>
        </a:xfrm>
      </p:grpSpPr>
      <p:sp>
        <p:nvSpPr>
          <p:cNvPr id="207" name="Google Shape;207;p11:notes">
            <a:extLst>
              <a:ext uri="{FF2B5EF4-FFF2-40B4-BE49-F238E27FC236}">
                <a16:creationId xmlns:a16="http://schemas.microsoft.com/office/drawing/2014/main" id="{826A5DA1-CE99-EAC0-C937-E5CD9A4520D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8" name="Google Shape;208;p11:notes">
            <a:extLst>
              <a:ext uri="{FF2B5EF4-FFF2-40B4-BE49-F238E27FC236}">
                <a16:creationId xmlns:a16="http://schemas.microsoft.com/office/drawing/2014/main" id="{1C5B473F-BF83-4A44-0AE1-5D80F040B22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1148182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5" name="Google Shape;215;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5" name="Google Shape;225;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a:extLst>
            <a:ext uri="{FF2B5EF4-FFF2-40B4-BE49-F238E27FC236}">
              <a16:creationId xmlns:a16="http://schemas.microsoft.com/office/drawing/2014/main" id="{96BA6926-2314-EBE9-BAD0-DEF708725D51}"/>
            </a:ext>
          </a:extLst>
        </p:cNvPr>
        <p:cNvGrpSpPr/>
        <p:nvPr/>
      </p:nvGrpSpPr>
      <p:grpSpPr>
        <a:xfrm>
          <a:off x="0" y="0"/>
          <a:ext cx="0" cy="0"/>
          <a:chOff x="0" y="0"/>
          <a:chExt cx="0" cy="0"/>
        </a:xfrm>
      </p:grpSpPr>
      <p:sp>
        <p:nvSpPr>
          <p:cNvPr id="224" name="Google Shape;224;p13:notes">
            <a:extLst>
              <a:ext uri="{FF2B5EF4-FFF2-40B4-BE49-F238E27FC236}">
                <a16:creationId xmlns:a16="http://schemas.microsoft.com/office/drawing/2014/main" id="{6B776981-5EB7-26A8-D909-6D684F0B550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5" name="Google Shape;225;p13:notes">
            <a:extLst>
              <a:ext uri="{FF2B5EF4-FFF2-40B4-BE49-F238E27FC236}">
                <a16:creationId xmlns:a16="http://schemas.microsoft.com/office/drawing/2014/main" id="{B78892DA-5ADA-2170-0984-742038509E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0282641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a:extLst>
            <a:ext uri="{FF2B5EF4-FFF2-40B4-BE49-F238E27FC236}">
              <a16:creationId xmlns:a16="http://schemas.microsoft.com/office/drawing/2014/main" id="{93E6E1DA-3E2B-97C8-A97C-1A6C0FD40D84}"/>
            </a:ext>
          </a:extLst>
        </p:cNvPr>
        <p:cNvGrpSpPr/>
        <p:nvPr/>
      </p:nvGrpSpPr>
      <p:grpSpPr>
        <a:xfrm>
          <a:off x="0" y="0"/>
          <a:ext cx="0" cy="0"/>
          <a:chOff x="0" y="0"/>
          <a:chExt cx="0" cy="0"/>
        </a:xfrm>
      </p:grpSpPr>
      <p:sp>
        <p:nvSpPr>
          <p:cNvPr id="224" name="Google Shape;224;p13:notes">
            <a:extLst>
              <a:ext uri="{FF2B5EF4-FFF2-40B4-BE49-F238E27FC236}">
                <a16:creationId xmlns:a16="http://schemas.microsoft.com/office/drawing/2014/main" id="{498B1D65-0660-1D74-357D-DF12C85F52B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5" name="Google Shape;225;p13:notes">
            <a:extLst>
              <a:ext uri="{FF2B5EF4-FFF2-40B4-BE49-F238E27FC236}">
                <a16:creationId xmlns:a16="http://schemas.microsoft.com/office/drawing/2014/main" id="{877627FC-0DE0-B2F9-F224-FCF6FAB91C2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27874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a:extLst>
            <a:ext uri="{FF2B5EF4-FFF2-40B4-BE49-F238E27FC236}">
              <a16:creationId xmlns:a16="http://schemas.microsoft.com/office/drawing/2014/main" id="{0494BED1-1CAA-6B18-B275-46CFEBFA4951}"/>
            </a:ext>
          </a:extLst>
        </p:cNvPr>
        <p:cNvGrpSpPr/>
        <p:nvPr/>
      </p:nvGrpSpPr>
      <p:grpSpPr>
        <a:xfrm>
          <a:off x="0" y="0"/>
          <a:ext cx="0" cy="0"/>
          <a:chOff x="0" y="0"/>
          <a:chExt cx="0" cy="0"/>
        </a:xfrm>
      </p:grpSpPr>
      <p:sp>
        <p:nvSpPr>
          <p:cNvPr id="224" name="Google Shape;224;p13:notes">
            <a:extLst>
              <a:ext uri="{FF2B5EF4-FFF2-40B4-BE49-F238E27FC236}">
                <a16:creationId xmlns:a16="http://schemas.microsoft.com/office/drawing/2014/main" id="{10E65FCD-EE7A-2150-F27B-EFD06988949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5" name="Google Shape;225;p13:notes">
            <a:extLst>
              <a:ext uri="{FF2B5EF4-FFF2-40B4-BE49-F238E27FC236}">
                <a16:creationId xmlns:a16="http://schemas.microsoft.com/office/drawing/2014/main" id="{B1891E88-BDEB-7EAC-781D-6858FCF059C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916225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a:extLst>
            <a:ext uri="{FF2B5EF4-FFF2-40B4-BE49-F238E27FC236}">
              <a16:creationId xmlns:a16="http://schemas.microsoft.com/office/drawing/2014/main" id="{F994D5C3-44E0-BD41-EB9C-0BB90BE3A31C}"/>
            </a:ext>
          </a:extLst>
        </p:cNvPr>
        <p:cNvGrpSpPr/>
        <p:nvPr/>
      </p:nvGrpSpPr>
      <p:grpSpPr>
        <a:xfrm>
          <a:off x="0" y="0"/>
          <a:ext cx="0" cy="0"/>
          <a:chOff x="0" y="0"/>
          <a:chExt cx="0" cy="0"/>
        </a:xfrm>
      </p:grpSpPr>
      <p:sp>
        <p:nvSpPr>
          <p:cNvPr id="224" name="Google Shape;224;p13:notes">
            <a:extLst>
              <a:ext uri="{FF2B5EF4-FFF2-40B4-BE49-F238E27FC236}">
                <a16:creationId xmlns:a16="http://schemas.microsoft.com/office/drawing/2014/main" id="{032FC733-6FB2-AC3A-2622-60ADBC40A29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5" name="Google Shape;225;p13:notes">
            <a:extLst>
              <a:ext uri="{FF2B5EF4-FFF2-40B4-BE49-F238E27FC236}">
                <a16:creationId xmlns:a16="http://schemas.microsoft.com/office/drawing/2014/main" id="{8241564A-292F-BFE8-DD7D-26B7EEA1770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9182406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0" name="Google Shape;230;p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7" name="Google Shape;237;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385ad5efec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4" name="Google Shape;244;g385ad5efec9_0_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1" name="Google Shape;251;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8" name="Google Shape;258;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4" name="Google Shape;264;p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9" name="Google Shape;269;p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4"/>
        <p:cNvGrpSpPr/>
        <p:nvPr/>
      </p:nvGrpSpPr>
      <p:grpSpPr>
        <a:xfrm>
          <a:off x="0" y="0"/>
          <a:ext cx="0" cy="0"/>
          <a:chOff x="0" y="0"/>
          <a:chExt cx="0" cy="0"/>
        </a:xfrm>
      </p:grpSpPr>
      <p:sp>
        <p:nvSpPr>
          <p:cNvPr id="15" name="Google Shape;15;p2"/>
          <p:cNvSpPr txBox="1">
            <a:spLocks noGrp="1"/>
          </p:cNvSpPr>
          <p:nvPr>
            <p:ph type="ctrTitle"/>
          </p:nvPr>
        </p:nvSpPr>
        <p:spPr>
          <a:xfrm>
            <a:off x="2210208" y="744575"/>
            <a:ext cx="6622200" cy="20526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1pPr>
            <a:lvl2pPr lvl="1"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2pPr>
            <a:lvl3pPr lvl="2"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3pPr>
            <a:lvl4pPr lvl="3"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4pPr>
            <a:lvl5pPr lvl="4"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5pPr>
            <a:lvl6pPr lvl="5"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6pPr>
            <a:lvl7pPr lvl="6"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7pPr>
            <a:lvl8pPr lvl="7"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8pPr>
            <a:lvl9pPr lvl="8"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9pPr>
          </a:lstStyle>
          <a:p>
            <a:endParaRPr/>
          </a:p>
        </p:txBody>
      </p:sp>
      <p:sp>
        <p:nvSpPr>
          <p:cNvPr id="16" name="Google Shape;16;p2"/>
          <p:cNvSpPr txBox="1">
            <a:spLocks noGrp="1"/>
          </p:cNvSpPr>
          <p:nvPr>
            <p:ph type="subTitle" idx="1"/>
          </p:nvPr>
        </p:nvSpPr>
        <p:spPr>
          <a:xfrm>
            <a:off x="2210202" y="2834125"/>
            <a:ext cx="6622200" cy="792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1pPr>
            <a:lvl2pPr lvl="1"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2pPr>
            <a:lvl3pPr lvl="2"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3pPr>
            <a:lvl4pPr lvl="3"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4pPr>
            <a:lvl5pPr lvl="4"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5pPr>
            <a:lvl6pPr lvl="5"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6pPr>
            <a:lvl7pPr lvl="6"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7pPr>
            <a:lvl8pPr lvl="7"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8pPr>
            <a:lvl9pPr lvl="8"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7"/>
        <p:cNvGrpSpPr/>
        <p:nvPr/>
      </p:nvGrpSpPr>
      <p:grpSpPr>
        <a:xfrm>
          <a:off x="0" y="0"/>
          <a:ext cx="0" cy="0"/>
          <a:chOff x="0" y="0"/>
          <a:chExt cx="0" cy="0"/>
        </a:xfrm>
      </p:grpSpPr>
      <p:sp>
        <p:nvSpPr>
          <p:cNvPr id="18" name="Google Shape;18;p3"/>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19" name="Google Shape;19;p3"/>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lvl1pPr marL="457200" lvl="0" indent="-323850" algn="l">
              <a:lnSpc>
                <a:spcPct val="115000"/>
              </a:lnSpc>
              <a:spcBef>
                <a:spcPts val="0"/>
              </a:spcBef>
              <a:spcAft>
                <a:spcPts val="0"/>
              </a:spcAft>
              <a:buSzPts val="1500"/>
              <a:buFont typeface="Nunito"/>
              <a:buChar char="●"/>
              <a:defRPr>
                <a:latin typeface="Nunito"/>
                <a:ea typeface="Nunito"/>
                <a:cs typeface="Nunito"/>
                <a:sym typeface="Nunito"/>
              </a:defRPr>
            </a:lvl1pPr>
            <a:lvl2pPr marL="914400" lvl="1" indent="-311150" algn="l">
              <a:lnSpc>
                <a:spcPct val="115000"/>
              </a:lnSpc>
              <a:spcBef>
                <a:spcPts val="1600"/>
              </a:spcBef>
              <a:spcAft>
                <a:spcPts val="0"/>
              </a:spcAft>
              <a:buSzPts val="1300"/>
              <a:buFont typeface="Nunito"/>
              <a:buChar char="○"/>
              <a:defRPr>
                <a:latin typeface="Nunito"/>
                <a:ea typeface="Nunito"/>
                <a:cs typeface="Nunito"/>
                <a:sym typeface="Nunito"/>
              </a:defRPr>
            </a:lvl2pPr>
            <a:lvl3pPr marL="1371600" lvl="2" indent="-304800" algn="l">
              <a:lnSpc>
                <a:spcPct val="115000"/>
              </a:lnSpc>
              <a:spcBef>
                <a:spcPts val="1600"/>
              </a:spcBef>
              <a:spcAft>
                <a:spcPts val="0"/>
              </a:spcAft>
              <a:buSzPts val="1200"/>
              <a:buFont typeface="Nunito"/>
              <a:buChar char="■"/>
              <a:defRPr>
                <a:latin typeface="Nunito"/>
                <a:ea typeface="Nunito"/>
                <a:cs typeface="Nunito"/>
                <a:sym typeface="Nunito"/>
              </a:defRPr>
            </a:lvl3pPr>
            <a:lvl4pPr marL="1828800" lvl="3" indent="-298450" algn="l">
              <a:lnSpc>
                <a:spcPct val="115000"/>
              </a:lnSpc>
              <a:spcBef>
                <a:spcPts val="1600"/>
              </a:spcBef>
              <a:spcAft>
                <a:spcPts val="0"/>
              </a:spcAft>
              <a:buSzPts val="1100"/>
              <a:buFont typeface="Nunito"/>
              <a:buChar char="●"/>
              <a:defRPr>
                <a:latin typeface="Nunito"/>
                <a:ea typeface="Nunito"/>
                <a:cs typeface="Nunito"/>
                <a:sym typeface="Nunito"/>
              </a:defRPr>
            </a:lvl4pPr>
            <a:lvl5pPr marL="2286000" lvl="4" indent="-292100" algn="l">
              <a:lnSpc>
                <a:spcPct val="115000"/>
              </a:lnSpc>
              <a:spcBef>
                <a:spcPts val="1600"/>
              </a:spcBef>
              <a:spcAft>
                <a:spcPts val="0"/>
              </a:spcAft>
              <a:buSzPts val="1000"/>
              <a:buFont typeface="Nunito"/>
              <a:buChar char="○"/>
              <a:defRPr>
                <a:latin typeface="Nunito"/>
                <a:ea typeface="Nunito"/>
                <a:cs typeface="Nunito"/>
                <a:sym typeface="Nunito"/>
              </a:defRPr>
            </a:lvl5pPr>
            <a:lvl6pPr marL="2743200" lvl="5" indent="-285750" algn="l">
              <a:lnSpc>
                <a:spcPct val="115000"/>
              </a:lnSpc>
              <a:spcBef>
                <a:spcPts val="1600"/>
              </a:spcBef>
              <a:spcAft>
                <a:spcPts val="0"/>
              </a:spcAft>
              <a:buSzPts val="900"/>
              <a:buFont typeface="Nunito"/>
              <a:buChar char="■"/>
              <a:defRPr>
                <a:latin typeface="Nunito"/>
                <a:ea typeface="Nunito"/>
                <a:cs typeface="Nunito"/>
                <a:sym typeface="Nunito"/>
              </a:defRPr>
            </a:lvl6pPr>
            <a:lvl7pPr marL="3200400" lvl="6" indent="-279400" algn="l">
              <a:lnSpc>
                <a:spcPct val="115000"/>
              </a:lnSpc>
              <a:spcBef>
                <a:spcPts val="1600"/>
              </a:spcBef>
              <a:spcAft>
                <a:spcPts val="0"/>
              </a:spcAft>
              <a:buSzPts val="800"/>
              <a:buFont typeface="Nunito"/>
              <a:buChar char="●"/>
              <a:defRPr>
                <a:latin typeface="Nunito"/>
                <a:ea typeface="Nunito"/>
                <a:cs typeface="Nunito"/>
                <a:sym typeface="Nunito"/>
              </a:defRPr>
            </a:lvl7pPr>
            <a:lvl8pPr marL="3657600" lvl="7" indent="-273050" algn="l">
              <a:lnSpc>
                <a:spcPct val="115000"/>
              </a:lnSpc>
              <a:spcBef>
                <a:spcPts val="1600"/>
              </a:spcBef>
              <a:spcAft>
                <a:spcPts val="0"/>
              </a:spcAft>
              <a:buSzPts val="700"/>
              <a:buFont typeface="Nunito"/>
              <a:buChar char="○"/>
              <a:defRPr>
                <a:latin typeface="Nunito"/>
                <a:ea typeface="Nunito"/>
                <a:cs typeface="Nunito"/>
                <a:sym typeface="Nunito"/>
              </a:defRPr>
            </a:lvl8pPr>
            <a:lvl9pPr marL="4114800" lvl="8" indent="-266700" algn="l">
              <a:lnSpc>
                <a:spcPct val="115000"/>
              </a:lnSpc>
              <a:spcBef>
                <a:spcPts val="1600"/>
              </a:spcBef>
              <a:spcAft>
                <a:spcPts val="1600"/>
              </a:spcAft>
              <a:buSzPts val="600"/>
              <a:buFont typeface="Nunito"/>
              <a:buChar char="■"/>
              <a:defRPr>
                <a:latin typeface="Nunito"/>
                <a:ea typeface="Nunito"/>
                <a:cs typeface="Nunito"/>
                <a:sym typeface="Nunito"/>
              </a:defRPr>
            </a:lvl9pPr>
          </a:lstStyle>
          <a:p>
            <a:endParaRPr/>
          </a:p>
        </p:txBody>
      </p:sp>
      <p:sp>
        <p:nvSpPr>
          <p:cNvPr id="20" name="Google Shape;20;p3"/>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rgbClr val="0E39A9"/>
              </a:buClr>
              <a:buSzPts val="3600"/>
              <a:buNone/>
              <a:defRPr sz="3600">
                <a:solidFill>
                  <a:srgbClr val="0E39A9"/>
                </a:solidFill>
              </a:defRPr>
            </a:lvl1pPr>
            <a:lvl2pPr lvl="1" algn="l">
              <a:lnSpc>
                <a:spcPct val="100000"/>
              </a:lnSpc>
              <a:spcBef>
                <a:spcPts val="0"/>
              </a:spcBef>
              <a:spcAft>
                <a:spcPts val="0"/>
              </a:spcAft>
              <a:buClr>
                <a:srgbClr val="0E39A9"/>
              </a:buClr>
              <a:buSzPts val="3600"/>
              <a:buNone/>
              <a:defRPr sz="3600">
                <a:solidFill>
                  <a:srgbClr val="0E39A9"/>
                </a:solidFill>
              </a:defRPr>
            </a:lvl2pPr>
            <a:lvl3pPr lvl="2" algn="l">
              <a:lnSpc>
                <a:spcPct val="100000"/>
              </a:lnSpc>
              <a:spcBef>
                <a:spcPts val="0"/>
              </a:spcBef>
              <a:spcAft>
                <a:spcPts val="0"/>
              </a:spcAft>
              <a:buClr>
                <a:srgbClr val="0E39A9"/>
              </a:buClr>
              <a:buSzPts val="3600"/>
              <a:buNone/>
              <a:defRPr sz="3600">
                <a:solidFill>
                  <a:srgbClr val="0E39A9"/>
                </a:solidFill>
              </a:defRPr>
            </a:lvl3pPr>
            <a:lvl4pPr lvl="3" algn="l">
              <a:lnSpc>
                <a:spcPct val="100000"/>
              </a:lnSpc>
              <a:spcBef>
                <a:spcPts val="0"/>
              </a:spcBef>
              <a:spcAft>
                <a:spcPts val="0"/>
              </a:spcAft>
              <a:buClr>
                <a:srgbClr val="0E39A9"/>
              </a:buClr>
              <a:buSzPts val="3600"/>
              <a:buNone/>
              <a:defRPr sz="3600">
                <a:solidFill>
                  <a:srgbClr val="0E39A9"/>
                </a:solidFill>
              </a:defRPr>
            </a:lvl4pPr>
            <a:lvl5pPr lvl="4" algn="l">
              <a:lnSpc>
                <a:spcPct val="100000"/>
              </a:lnSpc>
              <a:spcBef>
                <a:spcPts val="0"/>
              </a:spcBef>
              <a:spcAft>
                <a:spcPts val="0"/>
              </a:spcAft>
              <a:buClr>
                <a:srgbClr val="0E39A9"/>
              </a:buClr>
              <a:buSzPts val="3600"/>
              <a:buNone/>
              <a:defRPr sz="3600">
                <a:solidFill>
                  <a:srgbClr val="0E39A9"/>
                </a:solidFill>
              </a:defRPr>
            </a:lvl5pPr>
            <a:lvl6pPr lvl="5" algn="l">
              <a:lnSpc>
                <a:spcPct val="100000"/>
              </a:lnSpc>
              <a:spcBef>
                <a:spcPts val="0"/>
              </a:spcBef>
              <a:spcAft>
                <a:spcPts val="0"/>
              </a:spcAft>
              <a:buClr>
                <a:srgbClr val="0E39A9"/>
              </a:buClr>
              <a:buSzPts val="3600"/>
              <a:buNone/>
              <a:defRPr sz="3600">
                <a:solidFill>
                  <a:srgbClr val="0E39A9"/>
                </a:solidFill>
              </a:defRPr>
            </a:lvl6pPr>
            <a:lvl7pPr lvl="6" algn="l">
              <a:lnSpc>
                <a:spcPct val="100000"/>
              </a:lnSpc>
              <a:spcBef>
                <a:spcPts val="0"/>
              </a:spcBef>
              <a:spcAft>
                <a:spcPts val="0"/>
              </a:spcAft>
              <a:buClr>
                <a:srgbClr val="0E39A9"/>
              </a:buClr>
              <a:buSzPts val="3600"/>
              <a:buNone/>
              <a:defRPr sz="3600">
                <a:solidFill>
                  <a:srgbClr val="0E39A9"/>
                </a:solidFill>
              </a:defRPr>
            </a:lvl7pPr>
            <a:lvl8pPr lvl="7" algn="l">
              <a:lnSpc>
                <a:spcPct val="100000"/>
              </a:lnSpc>
              <a:spcBef>
                <a:spcPts val="0"/>
              </a:spcBef>
              <a:spcAft>
                <a:spcPts val="0"/>
              </a:spcAft>
              <a:buClr>
                <a:srgbClr val="0E39A9"/>
              </a:buClr>
              <a:buSzPts val="3600"/>
              <a:buNone/>
              <a:defRPr sz="3600">
                <a:solidFill>
                  <a:srgbClr val="0E39A9"/>
                </a:solidFill>
              </a:defRPr>
            </a:lvl8pPr>
            <a:lvl9pPr lvl="8" algn="l">
              <a:lnSpc>
                <a:spcPct val="100000"/>
              </a:lnSpc>
              <a:spcBef>
                <a:spcPts val="0"/>
              </a:spcBef>
              <a:spcAft>
                <a:spcPts val="0"/>
              </a:spcAft>
              <a:buClr>
                <a:srgbClr val="0E39A9"/>
              </a:buClr>
              <a:buSzPts val="3600"/>
              <a:buNone/>
              <a:defRPr sz="3600">
                <a:solidFill>
                  <a:srgbClr val="0E39A9"/>
                </a:solidFill>
              </a:defRPr>
            </a:lvl9pPr>
          </a:lstStyle>
          <a:p>
            <a:endParaRPr/>
          </a:p>
        </p:txBody>
      </p:sp>
      <p:sp>
        <p:nvSpPr>
          <p:cNvPr id="23" name="Google Shape;23;p4"/>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able">
  <p:cSld name="CUSTOM">
    <p:spTree>
      <p:nvGrpSpPr>
        <p:cNvPr id="1" name="Shape 24"/>
        <p:cNvGrpSpPr/>
        <p:nvPr/>
      </p:nvGrpSpPr>
      <p:grpSpPr>
        <a:xfrm>
          <a:off x="0" y="0"/>
          <a:ext cx="0" cy="0"/>
          <a:chOff x="0" y="0"/>
          <a:chExt cx="0" cy="0"/>
        </a:xfrm>
      </p:grpSpPr>
      <p:sp>
        <p:nvSpPr>
          <p:cNvPr id="25" name="Google Shape;25;p5"/>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graphicFrame>
        <p:nvGraphicFramePr>
          <p:cNvPr id="26" name="Google Shape;26;p5"/>
          <p:cNvGraphicFramePr/>
          <p:nvPr/>
        </p:nvGraphicFramePr>
        <p:xfrm>
          <a:off x="201942" y="833662"/>
          <a:ext cx="3000000" cy="3000000"/>
        </p:xfrm>
        <a:graphic>
          <a:graphicData uri="http://schemas.openxmlformats.org/drawingml/2006/table">
            <a:tbl>
              <a:tblPr firstRow="1" bandRow="1">
                <a:noFill/>
                <a:tableStyleId>{4CFC87C6-1A0B-40AD-94C4-E44D0AB50E7B}</a:tableStyleId>
              </a:tblPr>
              <a:tblGrid>
                <a:gridCol w="883125">
                  <a:extLst>
                    <a:ext uri="{9D8B030D-6E8A-4147-A177-3AD203B41FA5}">
                      <a16:colId xmlns:a16="http://schemas.microsoft.com/office/drawing/2014/main" val="20000"/>
                    </a:ext>
                  </a:extLst>
                </a:gridCol>
                <a:gridCol w="3886050">
                  <a:extLst>
                    <a:ext uri="{9D8B030D-6E8A-4147-A177-3AD203B41FA5}">
                      <a16:colId xmlns:a16="http://schemas.microsoft.com/office/drawing/2014/main" val="20001"/>
                    </a:ext>
                  </a:extLst>
                </a:gridCol>
                <a:gridCol w="3886050">
                  <a:extLst>
                    <a:ext uri="{9D8B030D-6E8A-4147-A177-3AD203B41FA5}">
                      <a16:colId xmlns:a16="http://schemas.microsoft.com/office/drawing/2014/main" val="20002"/>
                    </a:ext>
                  </a:extLst>
                </a:gridCol>
              </a:tblGrid>
              <a:tr h="673575">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Nunito"/>
                          <a:ea typeface="Nunito"/>
                          <a:cs typeface="Nunito"/>
                          <a:sym typeface="Nunito"/>
                        </a:rPr>
                        <a:t>Cluster</a:t>
                      </a:r>
                      <a:endParaRPr sz="14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Nunito"/>
                          <a:ea typeface="Nunito"/>
                          <a:cs typeface="Nunito"/>
                          <a:sym typeface="Nunito"/>
                        </a:rPr>
                        <a:t>Cluster Profile </a:t>
                      </a:r>
                      <a:endParaRPr sz="14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Nunito"/>
                          <a:ea typeface="Nunito"/>
                          <a:cs typeface="Nunito"/>
                          <a:sym typeface="Nunito"/>
                        </a:rPr>
                        <a:t>Business Insights for Marketing Team</a:t>
                      </a:r>
                      <a:endParaRPr sz="14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0"/>
                  </a:ext>
                </a:extLst>
              </a:tr>
              <a:tr h="753325">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Nunito"/>
                          <a:ea typeface="Nunito"/>
                          <a:cs typeface="Nunito"/>
                          <a:sym typeface="Nunito"/>
                        </a:rPr>
                        <a:t>1</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Nunito"/>
                          <a:ea typeface="Nunito"/>
                          <a:cs typeface="Nunito"/>
                          <a:sym typeface="Nunito"/>
                        </a:rPr>
                        <a:t>High value customers who have many credit cards and prefer to engage online</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Nunito"/>
                          <a:ea typeface="Nunito"/>
                          <a:cs typeface="Nunito"/>
                          <a:sym typeface="Nunito"/>
                        </a:rPr>
                        <a:t>Engage Online – Set up priority calling in lines – Upsell and Cross sell premium products</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1"/>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Nunito"/>
                          <a:ea typeface="Nunito"/>
                          <a:cs typeface="Nunito"/>
                          <a:sym typeface="Nunito"/>
                        </a:rPr>
                        <a:t>2</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baseline="30000">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2"/>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Nunito"/>
                          <a:ea typeface="Nunito"/>
                          <a:cs typeface="Nunito"/>
                          <a:sym typeface="Nunito"/>
                        </a:rPr>
                        <a:t>3</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3"/>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4"/>
                  </a:ext>
                </a:extLst>
              </a:tr>
            </a:tbl>
          </a:graphicData>
        </a:graphic>
      </p:graphicFrame>
      <p:sp>
        <p:nvSpPr>
          <p:cNvPr id="27" name="Google Shape;27;p5"/>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8"/>
        <p:cNvGrpSpPr/>
        <p:nvPr/>
      </p:nvGrpSpPr>
      <p:grpSpPr>
        <a:xfrm>
          <a:off x="0" y="0"/>
          <a:ext cx="0" cy="0"/>
          <a:chOff x="0" y="0"/>
          <a:chExt cx="0" cy="0"/>
        </a:xfrm>
      </p:grpSpPr>
      <p:sp>
        <p:nvSpPr>
          <p:cNvPr id="29" name="Google Shape;29;p6"/>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30" name="Google Shape;30;p6"/>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31" name="Google Shape;31;p6"/>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32" name="Google Shape;32;p6"/>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3"/>
        <p:cNvGrpSpPr/>
        <p:nvPr/>
      </p:nvGrpSpPr>
      <p:grpSpPr>
        <a:xfrm>
          <a:off x="0" y="0"/>
          <a:ext cx="0" cy="0"/>
          <a:chOff x="0" y="0"/>
          <a:chExt cx="0" cy="0"/>
        </a:xfrm>
      </p:grpSpPr>
      <p:sp>
        <p:nvSpPr>
          <p:cNvPr id="34" name="Google Shape;34;p7"/>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35" name="Google Shape;35;p7"/>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6"/>
        <p:cNvGrpSpPr/>
        <p:nvPr/>
      </p:nvGrpSpPr>
      <p:grpSpPr>
        <a:xfrm>
          <a:off x="0" y="0"/>
          <a:ext cx="0" cy="0"/>
          <a:chOff x="0" y="0"/>
          <a:chExt cx="0" cy="0"/>
        </a:xfrm>
      </p:grpSpPr>
      <p:sp>
        <p:nvSpPr>
          <p:cNvPr id="37" name="Google Shape;37;p8"/>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8" name="Google Shape;38;p8"/>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9"/>
        <p:cNvGrpSpPr/>
        <p:nvPr/>
      </p:nvGrpSpPr>
      <p:grpSpPr>
        <a:xfrm>
          <a:off x="0" y="0"/>
          <a:ext cx="0" cy="0"/>
          <a:chOff x="0" y="0"/>
          <a:chExt cx="0" cy="0"/>
        </a:xfrm>
      </p:grpSpPr>
      <p:sp>
        <p:nvSpPr>
          <p:cNvPr id="40" name="Google Shape;40;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 name="Google Shape;41;p9"/>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42" name="Google Shape;42;p9"/>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3" name="Google Shape;43;p9"/>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200" lvl="0" indent="-323850" algn="l">
              <a:lnSpc>
                <a:spcPct val="115000"/>
              </a:lnSpc>
              <a:spcBef>
                <a:spcPts val="0"/>
              </a:spcBef>
              <a:spcAft>
                <a:spcPts val="0"/>
              </a:spcAft>
              <a:buSzPts val="1500"/>
              <a:buChar char="●"/>
              <a:defRPr/>
            </a:lvl1pPr>
            <a:lvl2pPr marL="914400" lvl="1" indent="-311150" algn="l">
              <a:lnSpc>
                <a:spcPct val="115000"/>
              </a:lnSpc>
              <a:spcBef>
                <a:spcPts val="1600"/>
              </a:spcBef>
              <a:spcAft>
                <a:spcPts val="0"/>
              </a:spcAft>
              <a:buSzPts val="1300"/>
              <a:buChar char="○"/>
              <a:defRPr/>
            </a:lvl2pPr>
            <a:lvl3pPr marL="1371600" lvl="2" indent="-304800" algn="l">
              <a:lnSpc>
                <a:spcPct val="115000"/>
              </a:lnSpc>
              <a:spcBef>
                <a:spcPts val="1600"/>
              </a:spcBef>
              <a:spcAft>
                <a:spcPts val="0"/>
              </a:spcAft>
              <a:buSzPts val="1200"/>
              <a:buChar char="■"/>
              <a:defRPr/>
            </a:lvl3pPr>
            <a:lvl4pPr marL="1828800" lvl="3" indent="-298450" algn="l">
              <a:lnSpc>
                <a:spcPct val="115000"/>
              </a:lnSpc>
              <a:spcBef>
                <a:spcPts val="1600"/>
              </a:spcBef>
              <a:spcAft>
                <a:spcPts val="0"/>
              </a:spcAft>
              <a:buSzPts val="1100"/>
              <a:buChar char="●"/>
              <a:defRPr/>
            </a:lvl4pPr>
            <a:lvl5pPr marL="2286000" lvl="4" indent="-292100" algn="l">
              <a:lnSpc>
                <a:spcPct val="115000"/>
              </a:lnSpc>
              <a:spcBef>
                <a:spcPts val="1600"/>
              </a:spcBef>
              <a:spcAft>
                <a:spcPts val="0"/>
              </a:spcAft>
              <a:buSzPts val="1000"/>
              <a:buChar char="○"/>
              <a:defRPr/>
            </a:lvl5pPr>
            <a:lvl6pPr marL="2743200" lvl="5" indent="-285750" algn="l">
              <a:lnSpc>
                <a:spcPct val="115000"/>
              </a:lnSpc>
              <a:spcBef>
                <a:spcPts val="1600"/>
              </a:spcBef>
              <a:spcAft>
                <a:spcPts val="0"/>
              </a:spcAft>
              <a:buSzPts val="900"/>
              <a:buChar char="■"/>
              <a:defRPr/>
            </a:lvl6pPr>
            <a:lvl7pPr marL="3200400" lvl="6" indent="-279400" algn="l">
              <a:lnSpc>
                <a:spcPct val="115000"/>
              </a:lnSpc>
              <a:spcBef>
                <a:spcPts val="1600"/>
              </a:spcBef>
              <a:spcAft>
                <a:spcPts val="0"/>
              </a:spcAft>
              <a:buSzPts val="800"/>
              <a:buChar char="●"/>
              <a:defRPr/>
            </a:lvl7pPr>
            <a:lvl8pPr marL="3657600" lvl="7" indent="-273050" algn="l">
              <a:lnSpc>
                <a:spcPct val="115000"/>
              </a:lnSpc>
              <a:spcBef>
                <a:spcPts val="1600"/>
              </a:spcBef>
              <a:spcAft>
                <a:spcPts val="0"/>
              </a:spcAft>
              <a:buSzPts val="700"/>
              <a:buChar char="○"/>
              <a:defRPr/>
            </a:lvl8pPr>
            <a:lvl9pPr marL="4114800" lvl="8" indent="-266700" algn="l">
              <a:lnSpc>
                <a:spcPct val="115000"/>
              </a:lnSpc>
              <a:spcBef>
                <a:spcPts val="1600"/>
              </a:spcBef>
              <a:spcAft>
                <a:spcPts val="1600"/>
              </a:spcAft>
              <a:buSzPts val="600"/>
              <a:buChar char="■"/>
              <a:defRPr/>
            </a:lvl9pPr>
          </a:lstStyle>
          <a:p>
            <a:endParaRPr/>
          </a:p>
        </p:txBody>
      </p:sp>
      <p:sp>
        <p:nvSpPr>
          <p:cNvPr id="44" name="Google Shape;44;p9"/>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5"/>
        <p:cNvGrpSpPr/>
        <p:nvPr/>
      </p:nvGrpSpPr>
      <p:grpSpPr>
        <a:xfrm>
          <a:off x="0" y="0"/>
          <a:ext cx="0" cy="0"/>
          <a:chOff x="0" y="0"/>
          <a:chExt cx="0" cy="0"/>
        </a:xfrm>
      </p:grpSpPr>
      <p:sp>
        <p:nvSpPr>
          <p:cNvPr id="46" name="Google Shape;46;p10"/>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1">
  <p:cSld name="BLANK_1">
    <p:spTree>
      <p:nvGrpSpPr>
        <p:cNvPr id="1" name="Shape 47"/>
        <p:cNvGrpSpPr/>
        <p:nvPr/>
      </p:nvGrpSpPr>
      <p:grpSpPr>
        <a:xfrm>
          <a:off x="0" y="0"/>
          <a:ext cx="0" cy="0"/>
          <a:chOff x="0" y="0"/>
          <a:chExt cx="0" cy="0"/>
        </a:xfrm>
      </p:grpSpPr>
      <p:sp>
        <p:nvSpPr>
          <p:cNvPr id="48" name="Google Shape;48;p11"/>
          <p:cNvSpPr/>
          <p:nvPr/>
        </p:nvSpPr>
        <p:spPr>
          <a:xfrm>
            <a:off x="1" y="-335"/>
            <a:ext cx="9144600" cy="5143800"/>
          </a:xfrm>
          <a:prstGeom prst="rect">
            <a:avLst/>
          </a:prstGeom>
          <a:solidFill>
            <a:srgbClr val="0E39A9"/>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pic>
        <p:nvPicPr>
          <p:cNvPr id="49" name="Google Shape;49;p11" descr="A close up of a logo&#10;&#10;Description automatically generated"/>
          <p:cNvPicPr preferRelativeResize="0"/>
          <p:nvPr/>
        </p:nvPicPr>
        <p:blipFill rotWithShape="1">
          <a:blip r:embed="rId2">
            <a:alphaModFix/>
          </a:blip>
          <a:srcRect l="42816" t="18358" r="37293" b="19149"/>
          <a:stretch/>
        </p:blipFill>
        <p:spPr>
          <a:xfrm>
            <a:off x="6052536" y="514443"/>
            <a:ext cx="2095112" cy="3703320"/>
          </a:xfrm>
          <a:prstGeom prst="rect">
            <a:avLst/>
          </a:prstGeom>
          <a:noFill/>
          <a:ln>
            <a:noFill/>
          </a:ln>
        </p:spPr>
      </p:pic>
      <p:sp>
        <p:nvSpPr>
          <p:cNvPr id="50" name="Google Shape;50;p11"/>
          <p:cNvSpPr txBox="1">
            <a:spLocks noGrp="1"/>
          </p:cNvSpPr>
          <p:nvPr>
            <p:ph type="title"/>
          </p:nvPr>
        </p:nvSpPr>
        <p:spPr>
          <a:xfrm>
            <a:off x="70129" y="6703219"/>
            <a:ext cx="15008700" cy="697800"/>
          </a:xfrm>
          <a:prstGeom prst="rect">
            <a:avLst/>
          </a:prstGeom>
          <a:noFill/>
          <a:ln>
            <a:noFill/>
          </a:ln>
        </p:spPr>
        <p:txBody>
          <a:bodyPr spcFirstLastPara="1" wrap="square" lIns="0" tIns="12850" rIns="0" bIns="0" anchor="t" anchorCtr="0">
            <a:noAutofit/>
          </a:bodyPr>
          <a:lstStyle>
            <a:lvl1pPr marR="0" lvl="0" algn="l">
              <a:lnSpc>
                <a:spcPct val="100000"/>
              </a:lnSpc>
              <a:spcBef>
                <a:spcPts val="0"/>
              </a:spcBef>
              <a:spcAft>
                <a:spcPts val="0"/>
              </a:spcAft>
              <a:buSzPts val="2200"/>
              <a:buNone/>
              <a:defRPr sz="2400" b="0" i="0" u="none" strike="noStrike" cap="none">
                <a:solidFill>
                  <a:srgbClr val="000000"/>
                </a:solidFill>
                <a:latin typeface="Arial"/>
                <a:ea typeface="Arial"/>
                <a:cs typeface="Arial"/>
                <a:sym typeface="Arial"/>
              </a:defRPr>
            </a:lvl1pPr>
            <a:lvl2pPr marR="0" lvl="1"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9pPr>
          </a:lstStyle>
          <a:p>
            <a:endParaRPr/>
          </a:p>
        </p:txBody>
      </p:sp>
      <p:sp>
        <p:nvSpPr>
          <p:cNvPr id="51" name="Google Shape;51;p11"/>
          <p:cNvSpPr txBox="1"/>
          <p:nvPr/>
        </p:nvSpPr>
        <p:spPr>
          <a:xfrm>
            <a:off x="334565" y="1676232"/>
            <a:ext cx="4372800" cy="1790700"/>
          </a:xfrm>
          <a:prstGeom prst="rect">
            <a:avLst/>
          </a:prstGeom>
          <a:noFill/>
          <a:ln>
            <a:noFill/>
          </a:ln>
        </p:spPr>
        <p:txBody>
          <a:bodyPr spcFirstLastPara="1" wrap="square" lIns="68575" tIns="34275" rIns="68575" bIns="34275" anchor="ctr" anchorCtr="0">
            <a:noAutofit/>
          </a:bodyPr>
          <a:lstStyle/>
          <a:p>
            <a:pPr marL="0" marR="0" lvl="0" indent="0" algn="l" rtl="0">
              <a:lnSpc>
                <a:spcPct val="90000"/>
              </a:lnSpc>
              <a:spcBef>
                <a:spcPts val="0"/>
              </a:spcBef>
              <a:spcAft>
                <a:spcPts val="0"/>
              </a:spcAft>
              <a:buClr>
                <a:schemeClr val="dk1"/>
              </a:buClr>
              <a:buSzPts val="4500"/>
              <a:buFont typeface="Calibri"/>
              <a:buNone/>
            </a:pPr>
            <a:r>
              <a:rPr lang="en-US" sz="3300" b="0" i="0" u="none" strike="noStrike" cap="none">
                <a:solidFill>
                  <a:schemeClr val="lt1"/>
                </a:solidFill>
                <a:latin typeface="Nunito ExtraBold"/>
                <a:ea typeface="Nunito ExtraBold"/>
                <a:cs typeface="Nunito ExtraBold"/>
                <a:sym typeface="Nunito ExtraBold"/>
              </a:rPr>
              <a:t>Happy Learning !</a:t>
            </a:r>
            <a:endParaRPr sz="3300" b="0" i="0" u="none" strike="noStrike" cap="none">
              <a:solidFill>
                <a:schemeClr val="lt1"/>
              </a:solidFill>
              <a:latin typeface="Nunito ExtraBold"/>
              <a:ea typeface="Nunito ExtraBold"/>
              <a:cs typeface="Nunito ExtraBold"/>
              <a:sym typeface="Nunito ExtraBold"/>
            </a:endParaRPr>
          </a:p>
        </p:txBody>
      </p:sp>
      <p:pic>
        <p:nvPicPr>
          <p:cNvPr id="52" name="Google Shape;52;p11"/>
          <p:cNvPicPr preferRelativeResize="0"/>
          <p:nvPr/>
        </p:nvPicPr>
        <p:blipFill rotWithShape="1">
          <a:blip r:embed="rId3">
            <a:alphaModFix/>
          </a:blip>
          <a:srcRect/>
          <a:stretch/>
        </p:blipFill>
        <p:spPr>
          <a:xfrm>
            <a:off x="295874" y="683275"/>
            <a:ext cx="3757725" cy="825875"/>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2"/>
        <p:cNvGrpSpPr/>
        <p:nvPr/>
      </p:nvGrpSpPr>
      <p:grpSpPr>
        <a:xfrm>
          <a:off x="0" y="0"/>
          <a:ext cx="0" cy="0"/>
          <a:chOff x="0" y="0"/>
          <a:chExt cx="0" cy="0"/>
        </a:xfrm>
      </p:grpSpPr>
      <p:sp>
        <p:nvSpPr>
          <p:cNvPr id="63" name="Google Shape;63;p13"/>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64" name="Google Shape;64;p13"/>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lvl1pPr marL="457200" lvl="0" indent="-323850" algn="l">
              <a:lnSpc>
                <a:spcPct val="115000"/>
              </a:lnSpc>
              <a:spcBef>
                <a:spcPts val="0"/>
              </a:spcBef>
              <a:spcAft>
                <a:spcPts val="0"/>
              </a:spcAft>
              <a:buSzPts val="1500"/>
              <a:buFont typeface="Nunito"/>
              <a:buChar char="●"/>
              <a:defRPr>
                <a:latin typeface="Nunito"/>
                <a:ea typeface="Nunito"/>
                <a:cs typeface="Nunito"/>
                <a:sym typeface="Nunito"/>
              </a:defRPr>
            </a:lvl1pPr>
            <a:lvl2pPr marL="914400" lvl="1" indent="-311150" algn="l">
              <a:lnSpc>
                <a:spcPct val="115000"/>
              </a:lnSpc>
              <a:spcBef>
                <a:spcPts val="1600"/>
              </a:spcBef>
              <a:spcAft>
                <a:spcPts val="0"/>
              </a:spcAft>
              <a:buSzPts val="1300"/>
              <a:buFont typeface="Nunito"/>
              <a:buChar char="○"/>
              <a:defRPr>
                <a:latin typeface="Nunito"/>
                <a:ea typeface="Nunito"/>
                <a:cs typeface="Nunito"/>
                <a:sym typeface="Nunito"/>
              </a:defRPr>
            </a:lvl2pPr>
            <a:lvl3pPr marL="1371600" lvl="2" indent="-304800" algn="l">
              <a:lnSpc>
                <a:spcPct val="115000"/>
              </a:lnSpc>
              <a:spcBef>
                <a:spcPts val="1600"/>
              </a:spcBef>
              <a:spcAft>
                <a:spcPts val="0"/>
              </a:spcAft>
              <a:buSzPts val="1200"/>
              <a:buFont typeface="Nunito"/>
              <a:buChar char="■"/>
              <a:defRPr>
                <a:latin typeface="Nunito"/>
                <a:ea typeface="Nunito"/>
                <a:cs typeface="Nunito"/>
                <a:sym typeface="Nunito"/>
              </a:defRPr>
            </a:lvl3pPr>
            <a:lvl4pPr marL="1828800" lvl="3" indent="-298450" algn="l">
              <a:lnSpc>
                <a:spcPct val="115000"/>
              </a:lnSpc>
              <a:spcBef>
                <a:spcPts val="1600"/>
              </a:spcBef>
              <a:spcAft>
                <a:spcPts val="0"/>
              </a:spcAft>
              <a:buSzPts val="1100"/>
              <a:buFont typeface="Nunito"/>
              <a:buChar char="●"/>
              <a:defRPr>
                <a:latin typeface="Nunito"/>
                <a:ea typeface="Nunito"/>
                <a:cs typeface="Nunito"/>
                <a:sym typeface="Nunito"/>
              </a:defRPr>
            </a:lvl4pPr>
            <a:lvl5pPr marL="2286000" lvl="4" indent="-292100" algn="l">
              <a:lnSpc>
                <a:spcPct val="115000"/>
              </a:lnSpc>
              <a:spcBef>
                <a:spcPts val="1600"/>
              </a:spcBef>
              <a:spcAft>
                <a:spcPts val="0"/>
              </a:spcAft>
              <a:buSzPts val="1000"/>
              <a:buFont typeface="Nunito"/>
              <a:buChar char="○"/>
              <a:defRPr>
                <a:latin typeface="Nunito"/>
                <a:ea typeface="Nunito"/>
                <a:cs typeface="Nunito"/>
                <a:sym typeface="Nunito"/>
              </a:defRPr>
            </a:lvl5pPr>
            <a:lvl6pPr marL="2743200" lvl="5" indent="-285750" algn="l">
              <a:lnSpc>
                <a:spcPct val="115000"/>
              </a:lnSpc>
              <a:spcBef>
                <a:spcPts val="1600"/>
              </a:spcBef>
              <a:spcAft>
                <a:spcPts val="0"/>
              </a:spcAft>
              <a:buSzPts val="900"/>
              <a:buFont typeface="Nunito"/>
              <a:buChar char="■"/>
              <a:defRPr>
                <a:latin typeface="Nunito"/>
                <a:ea typeface="Nunito"/>
                <a:cs typeface="Nunito"/>
                <a:sym typeface="Nunito"/>
              </a:defRPr>
            </a:lvl6pPr>
            <a:lvl7pPr marL="3200400" lvl="6" indent="-279400" algn="l">
              <a:lnSpc>
                <a:spcPct val="115000"/>
              </a:lnSpc>
              <a:spcBef>
                <a:spcPts val="1600"/>
              </a:spcBef>
              <a:spcAft>
                <a:spcPts val="0"/>
              </a:spcAft>
              <a:buSzPts val="800"/>
              <a:buFont typeface="Nunito"/>
              <a:buChar char="●"/>
              <a:defRPr>
                <a:latin typeface="Nunito"/>
                <a:ea typeface="Nunito"/>
                <a:cs typeface="Nunito"/>
                <a:sym typeface="Nunito"/>
              </a:defRPr>
            </a:lvl7pPr>
            <a:lvl8pPr marL="3657600" lvl="7" indent="-273050" algn="l">
              <a:lnSpc>
                <a:spcPct val="115000"/>
              </a:lnSpc>
              <a:spcBef>
                <a:spcPts val="1600"/>
              </a:spcBef>
              <a:spcAft>
                <a:spcPts val="0"/>
              </a:spcAft>
              <a:buSzPts val="700"/>
              <a:buFont typeface="Nunito"/>
              <a:buChar char="○"/>
              <a:defRPr>
                <a:latin typeface="Nunito"/>
                <a:ea typeface="Nunito"/>
                <a:cs typeface="Nunito"/>
                <a:sym typeface="Nunito"/>
              </a:defRPr>
            </a:lvl8pPr>
            <a:lvl9pPr marL="4114800" lvl="8" indent="-266700" algn="l">
              <a:lnSpc>
                <a:spcPct val="115000"/>
              </a:lnSpc>
              <a:spcBef>
                <a:spcPts val="1600"/>
              </a:spcBef>
              <a:spcAft>
                <a:spcPts val="1600"/>
              </a:spcAft>
              <a:buSzPts val="600"/>
              <a:buFont typeface="Nunito"/>
              <a:buChar char="■"/>
              <a:defRPr>
                <a:latin typeface="Nunito"/>
                <a:ea typeface="Nunito"/>
                <a:cs typeface="Nunito"/>
                <a:sym typeface="Nunito"/>
              </a:defRPr>
            </a:lvl9pPr>
          </a:lstStyle>
          <a:p>
            <a:endParaRPr/>
          </a:p>
        </p:txBody>
      </p:sp>
      <p:sp>
        <p:nvSpPr>
          <p:cNvPr id="65" name="Google Shape;65;p13"/>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66"/>
        <p:cNvGrpSpPr/>
        <p:nvPr/>
      </p:nvGrpSpPr>
      <p:grpSpPr>
        <a:xfrm>
          <a:off x="0" y="0"/>
          <a:ext cx="0" cy="0"/>
          <a:chOff x="0" y="0"/>
          <a:chExt cx="0" cy="0"/>
        </a:xfrm>
      </p:grpSpPr>
      <p:sp>
        <p:nvSpPr>
          <p:cNvPr id="67" name="Google Shape;67;p14"/>
          <p:cNvSpPr txBox="1">
            <a:spLocks noGrp="1"/>
          </p:cNvSpPr>
          <p:nvPr>
            <p:ph type="ctrTitle"/>
          </p:nvPr>
        </p:nvSpPr>
        <p:spPr>
          <a:xfrm>
            <a:off x="2210208" y="744575"/>
            <a:ext cx="6622200" cy="20526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1pPr>
            <a:lvl2pPr lvl="1"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2pPr>
            <a:lvl3pPr lvl="2"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3pPr>
            <a:lvl4pPr lvl="3"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4pPr>
            <a:lvl5pPr lvl="4"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5pPr>
            <a:lvl6pPr lvl="5"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6pPr>
            <a:lvl7pPr lvl="6"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7pPr>
            <a:lvl8pPr lvl="7"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8pPr>
            <a:lvl9pPr lvl="8"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9pPr>
          </a:lstStyle>
          <a:p>
            <a:endParaRPr/>
          </a:p>
        </p:txBody>
      </p:sp>
      <p:sp>
        <p:nvSpPr>
          <p:cNvPr id="68" name="Google Shape;68;p14"/>
          <p:cNvSpPr txBox="1">
            <a:spLocks noGrp="1"/>
          </p:cNvSpPr>
          <p:nvPr>
            <p:ph type="subTitle" idx="1"/>
          </p:nvPr>
        </p:nvSpPr>
        <p:spPr>
          <a:xfrm>
            <a:off x="2210202" y="2834125"/>
            <a:ext cx="6622200" cy="792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1pPr>
            <a:lvl2pPr lvl="1"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2pPr>
            <a:lvl3pPr lvl="2"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3pPr>
            <a:lvl4pPr lvl="3"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4pPr>
            <a:lvl5pPr lvl="4"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5pPr>
            <a:lvl6pPr lvl="5"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6pPr>
            <a:lvl7pPr lvl="6"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7pPr>
            <a:lvl8pPr lvl="7"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8pPr>
            <a:lvl9pPr lvl="8"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69"/>
        <p:cNvGrpSpPr/>
        <p:nvPr/>
      </p:nvGrpSpPr>
      <p:grpSpPr>
        <a:xfrm>
          <a:off x="0" y="0"/>
          <a:ext cx="0" cy="0"/>
          <a:chOff x="0" y="0"/>
          <a:chExt cx="0" cy="0"/>
        </a:xfrm>
      </p:grpSpPr>
      <p:sp>
        <p:nvSpPr>
          <p:cNvPr id="70" name="Google Shape;70;p15"/>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rgbClr val="0E39A9"/>
              </a:buClr>
              <a:buSzPts val="3600"/>
              <a:buNone/>
              <a:defRPr sz="3600">
                <a:solidFill>
                  <a:srgbClr val="0E39A9"/>
                </a:solidFill>
              </a:defRPr>
            </a:lvl1pPr>
            <a:lvl2pPr lvl="1" algn="l">
              <a:lnSpc>
                <a:spcPct val="100000"/>
              </a:lnSpc>
              <a:spcBef>
                <a:spcPts val="0"/>
              </a:spcBef>
              <a:spcAft>
                <a:spcPts val="0"/>
              </a:spcAft>
              <a:buClr>
                <a:srgbClr val="0E39A9"/>
              </a:buClr>
              <a:buSzPts val="3600"/>
              <a:buNone/>
              <a:defRPr sz="3600">
                <a:solidFill>
                  <a:srgbClr val="0E39A9"/>
                </a:solidFill>
              </a:defRPr>
            </a:lvl2pPr>
            <a:lvl3pPr lvl="2" algn="l">
              <a:lnSpc>
                <a:spcPct val="100000"/>
              </a:lnSpc>
              <a:spcBef>
                <a:spcPts val="0"/>
              </a:spcBef>
              <a:spcAft>
                <a:spcPts val="0"/>
              </a:spcAft>
              <a:buClr>
                <a:srgbClr val="0E39A9"/>
              </a:buClr>
              <a:buSzPts val="3600"/>
              <a:buNone/>
              <a:defRPr sz="3600">
                <a:solidFill>
                  <a:srgbClr val="0E39A9"/>
                </a:solidFill>
              </a:defRPr>
            </a:lvl3pPr>
            <a:lvl4pPr lvl="3" algn="l">
              <a:lnSpc>
                <a:spcPct val="100000"/>
              </a:lnSpc>
              <a:spcBef>
                <a:spcPts val="0"/>
              </a:spcBef>
              <a:spcAft>
                <a:spcPts val="0"/>
              </a:spcAft>
              <a:buClr>
                <a:srgbClr val="0E39A9"/>
              </a:buClr>
              <a:buSzPts val="3600"/>
              <a:buNone/>
              <a:defRPr sz="3600">
                <a:solidFill>
                  <a:srgbClr val="0E39A9"/>
                </a:solidFill>
              </a:defRPr>
            </a:lvl4pPr>
            <a:lvl5pPr lvl="4" algn="l">
              <a:lnSpc>
                <a:spcPct val="100000"/>
              </a:lnSpc>
              <a:spcBef>
                <a:spcPts val="0"/>
              </a:spcBef>
              <a:spcAft>
                <a:spcPts val="0"/>
              </a:spcAft>
              <a:buClr>
                <a:srgbClr val="0E39A9"/>
              </a:buClr>
              <a:buSzPts val="3600"/>
              <a:buNone/>
              <a:defRPr sz="3600">
                <a:solidFill>
                  <a:srgbClr val="0E39A9"/>
                </a:solidFill>
              </a:defRPr>
            </a:lvl5pPr>
            <a:lvl6pPr lvl="5" algn="l">
              <a:lnSpc>
                <a:spcPct val="100000"/>
              </a:lnSpc>
              <a:spcBef>
                <a:spcPts val="0"/>
              </a:spcBef>
              <a:spcAft>
                <a:spcPts val="0"/>
              </a:spcAft>
              <a:buClr>
                <a:srgbClr val="0E39A9"/>
              </a:buClr>
              <a:buSzPts val="3600"/>
              <a:buNone/>
              <a:defRPr sz="3600">
                <a:solidFill>
                  <a:srgbClr val="0E39A9"/>
                </a:solidFill>
              </a:defRPr>
            </a:lvl6pPr>
            <a:lvl7pPr lvl="6" algn="l">
              <a:lnSpc>
                <a:spcPct val="100000"/>
              </a:lnSpc>
              <a:spcBef>
                <a:spcPts val="0"/>
              </a:spcBef>
              <a:spcAft>
                <a:spcPts val="0"/>
              </a:spcAft>
              <a:buClr>
                <a:srgbClr val="0E39A9"/>
              </a:buClr>
              <a:buSzPts val="3600"/>
              <a:buNone/>
              <a:defRPr sz="3600">
                <a:solidFill>
                  <a:srgbClr val="0E39A9"/>
                </a:solidFill>
              </a:defRPr>
            </a:lvl7pPr>
            <a:lvl8pPr lvl="7" algn="l">
              <a:lnSpc>
                <a:spcPct val="100000"/>
              </a:lnSpc>
              <a:spcBef>
                <a:spcPts val="0"/>
              </a:spcBef>
              <a:spcAft>
                <a:spcPts val="0"/>
              </a:spcAft>
              <a:buClr>
                <a:srgbClr val="0E39A9"/>
              </a:buClr>
              <a:buSzPts val="3600"/>
              <a:buNone/>
              <a:defRPr sz="3600">
                <a:solidFill>
                  <a:srgbClr val="0E39A9"/>
                </a:solidFill>
              </a:defRPr>
            </a:lvl8pPr>
            <a:lvl9pPr lvl="8" algn="l">
              <a:lnSpc>
                <a:spcPct val="100000"/>
              </a:lnSpc>
              <a:spcBef>
                <a:spcPts val="0"/>
              </a:spcBef>
              <a:spcAft>
                <a:spcPts val="0"/>
              </a:spcAft>
              <a:buClr>
                <a:srgbClr val="0E39A9"/>
              </a:buClr>
              <a:buSzPts val="3600"/>
              <a:buNone/>
              <a:defRPr sz="3600">
                <a:solidFill>
                  <a:srgbClr val="0E39A9"/>
                </a:solidFill>
              </a:defRPr>
            </a:lvl9pPr>
          </a:lstStyle>
          <a:p>
            <a:endParaRPr/>
          </a:p>
        </p:txBody>
      </p:sp>
      <p:sp>
        <p:nvSpPr>
          <p:cNvPr id="71" name="Google Shape;71;p15"/>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able">
  <p:cSld name="CUSTOM">
    <p:spTree>
      <p:nvGrpSpPr>
        <p:cNvPr id="1" name="Shape 72"/>
        <p:cNvGrpSpPr/>
        <p:nvPr/>
      </p:nvGrpSpPr>
      <p:grpSpPr>
        <a:xfrm>
          <a:off x="0" y="0"/>
          <a:ext cx="0" cy="0"/>
          <a:chOff x="0" y="0"/>
          <a:chExt cx="0" cy="0"/>
        </a:xfrm>
      </p:grpSpPr>
      <p:sp>
        <p:nvSpPr>
          <p:cNvPr id="73" name="Google Shape;73;p16"/>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graphicFrame>
        <p:nvGraphicFramePr>
          <p:cNvPr id="74" name="Google Shape;74;p16"/>
          <p:cNvGraphicFramePr/>
          <p:nvPr/>
        </p:nvGraphicFramePr>
        <p:xfrm>
          <a:off x="201942" y="833662"/>
          <a:ext cx="3000000" cy="3000000"/>
        </p:xfrm>
        <a:graphic>
          <a:graphicData uri="http://schemas.openxmlformats.org/drawingml/2006/table">
            <a:tbl>
              <a:tblPr firstRow="1" bandRow="1">
                <a:noFill/>
                <a:tableStyleId>{4CFC87C6-1A0B-40AD-94C4-E44D0AB50E7B}</a:tableStyleId>
              </a:tblPr>
              <a:tblGrid>
                <a:gridCol w="883125">
                  <a:extLst>
                    <a:ext uri="{9D8B030D-6E8A-4147-A177-3AD203B41FA5}">
                      <a16:colId xmlns:a16="http://schemas.microsoft.com/office/drawing/2014/main" val="20000"/>
                    </a:ext>
                  </a:extLst>
                </a:gridCol>
                <a:gridCol w="3886050">
                  <a:extLst>
                    <a:ext uri="{9D8B030D-6E8A-4147-A177-3AD203B41FA5}">
                      <a16:colId xmlns:a16="http://schemas.microsoft.com/office/drawing/2014/main" val="20001"/>
                    </a:ext>
                  </a:extLst>
                </a:gridCol>
                <a:gridCol w="3886050">
                  <a:extLst>
                    <a:ext uri="{9D8B030D-6E8A-4147-A177-3AD203B41FA5}">
                      <a16:colId xmlns:a16="http://schemas.microsoft.com/office/drawing/2014/main" val="20002"/>
                    </a:ext>
                  </a:extLst>
                </a:gridCol>
              </a:tblGrid>
              <a:tr h="673575">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Nunito"/>
                          <a:ea typeface="Nunito"/>
                          <a:cs typeface="Nunito"/>
                          <a:sym typeface="Nunito"/>
                        </a:rPr>
                        <a:t>Cluster</a:t>
                      </a:r>
                      <a:endParaRPr sz="14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Nunito"/>
                          <a:ea typeface="Nunito"/>
                          <a:cs typeface="Nunito"/>
                          <a:sym typeface="Nunito"/>
                        </a:rPr>
                        <a:t>Cluster Profile </a:t>
                      </a:r>
                      <a:endParaRPr sz="14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Nunito"/>
                          <a:ea typeface="Nunito"/>
                          <a:cs typeface="Nunito"/>
                          <a:sym typeface="Nunito"/>
                        </a:rPr>
                        <a:t>Business Insights for Marketing Team</a:t>
                      </a:r>
                      <a:endParaRPr sz="14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0"/>
                  </a:ext>
                </a:extLst>
              </a:tr>
              <a:tr h="753325">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Nunito"/>
                          <a:ea typeface="Nunito"/>
                          <a:cs typeface="Nunito"/>
                          <a:sym typeface="Nunito"/>
                        </a:rPr>
                        <a:t>1</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Nunito"/>
                          <a:ea typeface="Nunito"/>
                          <a:cs typeface="Nunito"/>
                          <a:sym typeface="Nunito"/>
                        </a:rPr>
                        <a:t>High value customers who have many credit cards and prefer to engage online</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Nunito"/>
                          <a:ea typeface="Nunito"/>
                          <a:cs typeface="Nunito"/>
                          <a:sym typeface="Nunito"/>
                        </a:rPr>
                        <a:t>Engage Online – Set up priority calling in lines – Upsell and Cross sell premium products</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1"/>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Nunito"/>
                          <a:ea typeface="Nunito"/>
                          <a:cs typeface="Nunito"/>
                          <a:sym typeface="Nunito"/>
                        </a:rPr>
                        <a:t>2</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baseline="30000">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2"/>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Nunito"/>
                          <a:ea typeface="Nunito"/>
                          <a:cs typeface="Nunito"/>
                          <a:sym typeface="Nunito"/>
                        </a:rPr>
                        <a:t>3</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3"/>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4"/>
                  </a:ext>
                </a:extLst>
              </a:tr>
            </a:tbl>
          </a:graphicData>
        </a:graphic>
      </p:graphicFrame>
      <p:sp>
        <p:nvSpPr>
          <p:cNvPr id="75" name="Google Shape;75;p16"/>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76"/>
        <p:cNvGrpSpPr/>
        <p:nvPr/>
      </p:nvGrpSpPr>
      <p:grpSpPr>
        <a:xfrm>
          <a:off x="0" y="0"/>
          <a:ext cx="0" cy="0"/>
          <a:chOff x="0" y="0"/>
          <a:chExt cx="0" cy="0"/>
        </a:xfrm>
      </p:grpSpPr>
      <p:sp>
        <p:nvSpPr>
          <p:cNvPr id="77" name="Google Shape;77;p17"/>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78" name="Google Shape;78;p17"/>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79" name="Google Shape;79;p17"/>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80" name="Google Shape;80;p17"/>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81"/>
        <p:cNvGrpSpPr/>
        <p:nvPr/>
      </p:nvGrpSpPr>
      <p:grpSpPr>
        <a:xfrm>
          <a:off x="0" y="0"/>
          <a:ext cx="0" cy="0"/>
          <a:chOff x="0" y="0"/>
          <a:chExt cx="0" cy="0"/>
        </a:xfrm>
      </p:grpSpPr>
      <p:sp>
        <p:nvSpPr>
          <p:cNvPr id="82" name="Google Shape;82;p18"/>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83" name="Google Shape;83;p18"/>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84"/>
        <p:cNvGrpSpPr/>
        <p:nvPr/>
      </p:nvGrpSpPr>
      <p:grpSpPr>
        <a:xfrm>
          <a:off x="0" y="0"/>
          <a:ext cx="0" cy="0"/>
          <a:chOff x="0" y="0"/>
          <a:chExt cx="0" cy="0"/>
        </a:xfrm>
      </p:grpSpPr>
      <p:sp>
        <p:nvSpPr>
          <p:cNvPr id="85" name="Google Shape;85;p19"/>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86" name="Google Shape;86;p19"/>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87"/>
        <p:cNvGrpSpPr/>
        <p:nvPr/>
      </p:nvGrpSpPr>
      <p:grpSpPr>
        <a:xfrm>
          <a:off x="0" y="0"/>
          <a:ext cx="0" cy="0"/>
          <a:chOff x="0" y="0"/>
          <a:chExt cx="0" cy="0"/>
        </a:xfrm>
      </p:grpSpPr>
      <p:sp>
        <p:nvSpPr>
          <p:cNvPr id="88" name="Google Shape;88;p20"/>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 name="Google Shape;89;p20"/>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90" name="Google Shape;90;p20"/>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91" name="Google Shape;91;p20"/>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200" lvl="0" indent="-323850" algn="l">
              <a:lnSpc>
                <a:spcPct val="115000"/>
              </a:lnSpc>
              <a:spcBef>
                <a:spcPts val="0"/>
              </a:spcBef>
              <a:spcAft>
                <a:spcPts val="0"/>
              </a:spcAft>
              <a:buSzPts val="1500"/>
              <a:buChar char="●"/>
              <a:defRPr/>
            </a:lvl1pPr>
            <a:lvl2pPr marL="914400" lvl="1" indent="-311150" algn="l">
              <a:lnSpc>
                <a:spcPct val="115000"/>
              </a:lnSpc>
              <a:spcBef>
                <a:spcPts val="1600"/>
              </a:spcBef>
              <a:spcAft>
                <a:spcPts val="0"/>
              </a:spcAft>
              <a:buSzPts val="1300"/>
              <a:buChar char="○"/>
              <a:defRPr/>
            </a:lvl2pPr>
            <a:lvl3pPr marL="1371600" lvl="2" indent="-304800" algn="l">
              <a:lnSpc>
                <a:spcPct val="115000"/>
              </a:lnSpc>
              <a:spcBef>
                <a:spcPts val="1600"/>
              </a:spcBef>
              <a:spcAft>
                <a:spcPts val="0"/>
              </a:spcAft>
              <a:buSzPts val="1200"/>
              <a:buChar char="■"/>
              <a:defRPr/>
            </a:lvl3pPr>
            <a:lvl4pPr marL="1828800" lvl="3" indent="-298450" algn="l">
              <a:lnSpc>
                <a:spcPct val="115000"/>
              </a:lnSpc>
              <a:spcBef>
                <a:spcPts val="1600"/>
              </a:spcBef>
              <a:spcAft>
                <a:spcPts val="0"/>
              </a:spcAft>
              <a:buSzPts val="1100"/>
              <a:buChar char="●"/>
              <a:defRPr/>
            </a:lvl4pPr>
            <a:lvl5pPr marL="2286000" lvl="4" indent="-292100" algn="l">
              <a:lnSpc>
                <a:spcPct val="115000"/>
              </a:lnSpc>
              <a:spcBef>
                <a:spcPts val="1600"/>
              </a:spcBef>
              <a:spcAft>
                <a:spcPts val="0"/>
              </a:spcAft>
              <a:buSzPts val="1000"/>
              <a:buChar char="○"/>
              <a:defRPr/>
            </a:lvl5pPr>
            <a:lvl6pPr marL="2743200" lvl="5" indent="-285750" algn="l">
              <a:lnSpc>
                <a:spcPct val="115000"/>
              </a:lnSpc>
              <a:spcBef>
                <a:spcPts val="1600"/>
              </a:spcBef>
              <a:spcAft>
                <a:spcPts val="0"/>
              </a:spcAft>
              <a:buSzPts val="900"/>
              <a:buChar char="■"/>
              <a:defRPr/>
            </a:lvl6pPr>
            <a:lvl7pPr marL="3200400" lvl="6" indent="-279400" algn="l">
              <a:lnSpc>
                <a:spcPct val="115000"/>
              </a:lnSpc>
              <a:spcBef>
                <a:spcPts val="1600"/>
              </a:spcBef>
              <a:spcAft>
                <a:spcPts val="0"/>
              </a:spcAft>
              <a:buSzPts val="800"/>
              <a:buChar char="●"/>
              <a:defRPr/>
            </a:lvl7pPr>
            <a:lvl8pPr marL="3657600" lvl="7" indent="-273050" algn="l">
              <a:lnSpc>
                <a:spcPct val="115000"/>
              </a:lnSpc>
              <a:spcBef>
                <a:spcPts val="1600"/>
              </a:spcBef>
              <a:spcAft>
                <a:spcPts val="0"/>
              </a:spcAft>
              <a:buSzPts val="700"/>
              <a:buChar char="○"/>
              <a:defRPr/>
            </a:lvl8pPr>
            <a:lvl9pPr marL="4114800" lvl="8" indent="-266700" algn="l">
              <a:lnSpc>
                <a:spcPct val="115000"/>
              </a:lnSpc>
              <a:spcBef>
                <a:spcPts val="1600"/>
              </a:spcBef>
              <a:spcAft>
                <a:spcPts val="1600"/>
              </a:spcAft>
              <a:buSzPts val="600"/>
              <a:buChar char="■"/>
              <a:defRPr/>
            </a:lvl9pPr>
          </a:lstStyle>
          <a:p>
            <a:endParaRPr/>
          </a:p>
        </p:txBody>
      </p:sp>
      <p:sp>
        <p:nvSpPr>
          <p:cNvPr id="92" name="Google Shape;92;p20"/>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3"/>
        <p:cNvGrpSpPr/>
        <p:nvPr/>
      </p:nvGrpSpPr>
      <p:grpSpPr>
        <a:xfrm>
          <a:off x="0" y="0"/>
          <a:ext cx="0" cy="0"/>
          <a:chOff x="0" y="0"/>
          <a:chExt cx="0" cy="0"/>
        </a:xfrm>
      </p:grpSpPr>
      <p:sp>
        <p:nvSpPr>
          <p:cNvPr id="94" name="Google Shape;94;p21"/>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lank 1">
  <p:cSld name="BLANK_1">
    <p:spTree>
      <p:nvGrpSpPr>
        <p:cNvPr id="1" name="Shape 95"/>
        <p:cNvGrpSpPr/>
        <p:nvPr/>
      </p:nvGrpSpPr>
      <p:grpSpPr>
        <a:xfrm>
          <a:off x="0" y="0"/>
          <a:ext cx="0" cy="0"/>
          <a:chOff x="0" y="0"/>
          <a:chExt cx="0" cy="0"/>
        </a:xfrm>
      </p:grpSpPr>
      <p:sp>
        <p:nvSpPr>
          <p:cNvPr id="96" name="Google Shape;96;p22"/>
          <p:cNvSpPr/>
          <p:nvPr/>
        </p:nvSpPr>
        <p:spPr>
          <a:xfrm>
            <a:off x="1" y="-335"/>
            <a:ext cx="9144600" cy="5143800"/>
          </a:xfrm>
          <a:prstGeom prst="rect">
            <a:avLst/>
          </a:prstGeom>
          <a:solidFill>
            <a:srgbClr val="0E39A9"/>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pic>
        <p:nvPicPr>
          <p:cNvPr id="97" name="Google Shape;97;p22" descr="A close up of a logo&#10;&#10;Description automatically generated"/>
          <p:cNvPicPr preferRelativeResize="0"/>
          <p:nvPr/>
        </p:nvPicPr>
        <p:blipFill rotWithShape="1">
          <a:blip r:embed="rId2">
            <a:alphaModFix/>
          </a:blip>
          <a:srcRect l="42816" t="18360" r="37293" b="19147"/>
          <a:stretch/>
        </p:blipFill>
        <p:spPr>
          <a:xfrm>
            <a:off x="6052536" y="514443"/>
            <a:ext cx="2095112" cy="3703320"/>
          </a:xfrm>
          <a:prstGeom prst="rect">
            <a:avLst/>
          </a:prstGeom>
          <a:noFill/>
          <a:ln>
            <a:noFill/>
          </a:ln>
        </p:spPr>
      </p:pic>
      <p:sp>
        <p:nvSpPr>
          <p:cNvPr id="98" name="Google Shape;98;p22"/>
          <p:cNvSpPr txBox="1">
            <a:spLocks noGrp="1"/>
          </p:cNvSpPr>
          <p:nvPr>
            <p:ph type="title"/>
          </p:nvPr>
        </p:nvSpPr>
        <p:spPr>
          <a:xfrm>
            <a:off x="70129" y="6703219"/>
            <a:ext cx="15008700" cy="697800"/>
          </a:xfrm>
          <a:prstGeom prst="rect">
            <a:avLst/>
          </a:prstGeom>
          <a:noFill/>
          <a:ln>
            <a:noFill/>
          </a:ln>
        </p:spPr>
        <p:txBody>
          <a:bodyPr spcFirstLastPara="1" wrap="square" lIns="0" tIns="12850" rIns="0" bIns="0" anchor="t" anchorCtr="0">
            <a:noAutofit/>
          </a:bodyPr>
          <a:lstStyle>
            <a:lvl1pPr marR="0" lvl="0" algn="l">
              <a:lnSpc>
                <a:spcPct val="100000"/>
              </a:lnSpc>
              <a:spcBef>
                <a:spcPts val="0"/>
              </a:spcBef>
              <a:spcAft>
                <a:spcPts val="0"/>
              </a:spcAft>
              <a:buSzPts val="2200"/>
              <a:buNone/>
              <a:defRPr sz="2400" b="0" i="0" u="none" strike="noStrike" cap="none">
                <a:solidFill>
                  <a:srgbClr val="000000"/>
                </a:solidFill>
                <a:latin typeface="Arial"/>
                <a:ea typeface="Arial"/>
                <a:cs typeface="Arial"/>
                <a:sym typeface="Arial"/>
              </a:defRPr>
            </a:lvl1pPr>
            <a:lvl2pPr marR="0" lvl="1"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9pPr>
          </a:lstStyle>
          <a:p>
            <a:endParaRPr/>
          </a:p>
        </p:txBody>
      </p:sp>
      <p:sp>
        <p:nvSpPr>
          <p:cNvPr id="99" name="Google Shape;99;p22"/>
          <p:cNvSpPr txBox="1"/>
          <p:nvPr/>
        </p:nvSpPr>
        <p:spPr>
          <a:xfrm>
            <a:off x="334565" y="1676232"/>
            <a:ext cx="4372800" cy="1790700"/>
          </a:xfrm>
          <a:prstGeom prst="rect">
            <a:avLst/>
          </a:prstGeom>
          <a:noFill/>
          <a:ln>
            <a:noFill/>
          </a:ln>
        </p:spPr>
        <p:txBody>
          <a:bodyPr spcFirstLastPara="1" wrap="square" lIns="68575" tIns="34275" rIns="68575" bIns="34275" anchor="ctr" anchorCtr="0">
            <a:noAutofit/>
          </a:bodyPr>
          <a:lstStyle/>
          <a:p>
            <a:pPr marL="0" marR="0" lvl="0" indent="0" algn="l" rtl="0">
              <a:lnSpc>
                <a:spcPct val="90000"/>
              </a:lnSpc>
              <a:spcBef>
                <a:spcPts val="0"/>
              </a:spcBef>
              <a:spcAft>
                <a:spcPts val="0"/>
              </a:spcAft>
              <a:buClr>
                <a:schemeClr val="dk1"/>
              </a:buClr>
              <a:buSzPts val="4500"/>
              <a:buFont typeface="Calibri"/>
              <a:buNone/>
            </a:pPr>
            <a:r>
              <a:rPr lang="en-US" sz="3300" b="0" i="0" u="none" strike="noStrike" cap="none">
                <a:solidFill>
                  <a:schemeClr val="lt1"/>
                </a:solidFill>
                <a:latin typeface="Nunito ExtraBold"/>
                <a:ea typeface="Nunito ExtraBold"/>
                <a:cs typeface="Nunito ExtraBold"/>
                <a:sym typeface="Nunito ExtraBold"/>
              </a:rPr>
              <a:t>Happy Learning !</a:t>
            </a:r>
            <a:endParaRPr sz="3300" b="0" i="0" u="none" strike="noStrike" cap="none">
              <a:solidFill>
                <a:schemeClr val="lt1"/>
              </a:solidFill>
              <a:latin typeface="Nunito ExtraBold"/>
              <a:ea typeface="Nunito ExtraBold"/>
              <a:cs typeface="Nunito ExtraBold"/>
              <a:sym typeface="Nunito ExtraBold"/>
            </a:endParaRPr>
          </a:p>
        </p:txBody>
      </p:sp>
      <p:pic>
        <p:nvPicPr>
          <p:cNvPr id="100" name="Google Shape;100;p22"/>
          <p:cNvPicPr preferRelativeResize="0"/>
          <p:nvPr/>
        </p:nvPicPr>
        <p:blipFill rotWithShape="1">
          <a:blip r:embed="rId3">
            <a:alphaModFix/>
          </a:blip>
          <a:srcRect/>
          <a:stretch/>
        </p:blipFill>
        <p:spPr>
          <a:xfrm>
            <a:off x="295874" y="683275"/>
            <a:ext cx="3757725" cy="825875"/>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image" Target="../media/image1.png"/><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theme" Target="../theme/theme2.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434343"/>
              </a:buClr>
              <a:buSzPts val="2200"/>
              <a:buFont typeface="Nunito"/>
              <a:buNone/>
              <a:defRPr sz="2200" b="1" i="0" u="none" strike="noStrike" cap="none">
                <a:solidFill>
                  <a:srgbClr val="434343"/>
                </a:solidFill>
                <a:latin typeface="Nunito"/>
                <a:ea typeface="Nunito"/>
                <a:cs typeface="Nunito"/>
                <a:sym typeface="Nunito"/>
              </a:defRPr>
            </a:lvl1pPr>
            <a:lvl2pPr marR="0" lvl="1"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2pPr>
            <a:lvl3pPr marR="0" lvl="2"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3pPr>
            <a:lvl4pPr marR="0" lvl="3"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4pPr>
            <a:lvl5pPr marR="0" lvl="4"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5pPr>
            <a:lvl6pPr marR="0" lvl="5"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6pPr>
            <a:lvl7pPr marR="0" lvl="6"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7pPr>
            <a:lvl8pPr marR="0" lvl="7"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8pPr>
            <a:lvl9pPr marR="0" lvl="8"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9pPr>
          </a:lstStyle>
          <a:p>
            <a:endParaRPr/>
          </a:p>
        </p:txBody>
      </p:sp>
      <p:sp>
        <p:nvSpPr>
          <p:cNvPr id="7" name="Google Shape;7;p1"/>
          <p:cNvSpPr txBox="1">
            <a:spLocks noGrp="1"/>
          </p:cNvSpPr>
          <p:nvPr>
            <p:ph type="body" idx="1"/>
          </p:nvPr>
        </p:nvSpPr>
        <p:spPr>
          <a:xfrm>
            <a:off x="311700" y="861075"/>
            <a:ext cx="8520600" cy="3416400"/>
          </a:xfrm>
          <a:prstGeom prst="rect">
            <a:avLst/>
          </a:prstGeom>
          <a:noFill/>
          <a:ln>
            <a:noFill/>
          </a:ln>
        </p:spPr>
        <p:txBody>
          <a:bodyPr spcFirstLastPara="1" wrap="square" lIns="91425" tIns="91425" rIns="91425" bIns="91425" anchor="t" anchorCtr="0">
            <a:noAutofit/>
          </a:bodyPr>
          <a:lstStyle>
            <a:lvl1pPr marL="457200" marR="0" lvl="0" indent="-323850" algn="l" rtl="0">
              <a:lnSpc>
                <a:spcPct val="115000"/>
              </a:lnSpc>
              <a:spcBef>
                <a:spcPts val="0"/>
              </a:spcBef>
              <a:spcAft>
                <a:spcPts val="0"/>
              </a:spcAft>
              <a:buClr>
                <a:schemeClr val="dk2"/>
              </a:buClr>
              <a:buSzPts val="1500"/>
              <a:buFont typeface="Nunito"/>
              <a:buChar char="●"/>
              <a:defRPr sz="1500" b="0" i="0" u="none" strike="noStrike" cap="none">
                <a:solidFill>
                  <a:schemeClr val="dk2"/>
                </a:solidFill>
                <a:latin typeface="Nunito"/>
                <a:ea typeface="Nunito"/>
                <a:cs typeface="Nunito"/>
                <a:sym typeface="Nunito"/>
              </a:defRPr>
            </a:lvl1pPr>
            <a:lvl2pPr marL="914400" marR="0" lvl="1" indent="-311150" algn="l" rtl="0">
              <a:lnSpc>
                <a:spcPct val="115000"/>
              </a:lnSpc>
              <a:spcBef>
                <a:spcPts val="1600"/>
              </a:spcBef>
              <a:spcAft>
                <a:spcPts val="0"/>
              </a:spcAft>
              <a:buClr>
                <a:schemeClr val="dk2"/>
              </a:buClr>
              <a:buSzPts val="1300"/>
              <a:buFont typeface="Nunito"/>
              <a:buChar char="○"/>
              <a:defRPr sz="1300" b="0" i="0" u="none" strike="noStrike" cap="none">
                <a:solidFill>
                  <a:schemeClr val="dk2"/>
                </a:solidFill>
                <a:latin typeface="Nunito"/>
                <a:ea typeface="Nunito"/>
                <a:cs typeface="Nunito"/>
                <a:sym typeface="Nunito"/>
              </a:defRPr>
            </a:lvl2pPr>
            <a:lvl3pPr marL="1371600" marR="0" lvl="2" indent="-304800" algn="l" rtl="0">
              <a:lnSpc>
                <a:spcPct val="115000"/>
              </a:lnSpc>
              <a:spcBef>
                <a:spcPts val="1600"/>
              </a:spcBef>
              <a:spcAft>
                <a:spcPts val="0"/>
              </a:spcAft>
              <a:buClr>
                <a:schemeClr val="dk2"/>
              </a:buClr>
              <a:buSzPts val="1200"/>
              <a:buFont typeface="Nunito"/>
              <a:buChar char="■"/>
              <a:defRPr sz="1200" b="0" i="0" u="none" strike="noStrike" cap="none">
                <a:solidFill>
                  <a:schemeClr val="dk2"/>
                </a:solidFill>
                <a:latin typeface="Nunito"/>
                <a:ea typeface="Nunito"/>
                <a:cs typeface="Nunito"/>
                <a:sym typeface="Nunito"/>
              </a:defRPr>
            </a:lvl3pPr>
            <a:lvl4pPr marL="1828800" marR="0" lvl="3" indent="-298450" algn="l" rtl="0">
              <a:lnSpc>
                <a:spcPct val="115000"/>
              </a:lnSpc>
              <a:spcBef>
                <a:spcPts val="1600"/>
              </a:spcBef>
              <a:spcAft>
                <a:spcPts val="0"/>
              </a:spcAft>
              <a:buClr>
                <a:schemeClr val="dk2"/>
              </a:buClr>
              <a:buSzPts val="1100"/>
              <a:buFont typeface="Nunito"/>
              <a:buChar char="●"/>
              <a:defRPr sz="1100" b="0" i="0" u="none" strike="noStrike" cap="none">
                <a:solidFill>
                  <a:schemeClr val="dk2"/>
                </a:solidFill>
                <a:latin typeface="Nunito"/>
                <a:ea typeface="Nunito"/>
                <a:cs typeface="Nunito"/>
                <a:sym typeface="Nunito"/>
              </a:defRPr>
            </a:lvl4pPr>
            <a:lvl5pPr marL="2286000" marR="0" lvl="4" indent="-292100" algn="l" rtl="0">
              <a:lnSpc>
                <a:spcPct val="115000"/>
              </a:lnSpc>
              <a:spcBef>
                <a:spcPts val="1600"/>
              </a:spcBef>
              <a:spcAft>
                <a:spcPts val="0"/>
              </a:spcAft>
              <a:buClr>
                <a:schemeClr val="dk2"/>
              </a:buClr>
              <a:buSzPts val="1000"/>
              <a:buFont typeface="Nunito"/>
              <a:buChar char="○"/>
              <a:defRPr sz="1000" b="0" i="0" u="none" strike="noStrike" cap="none">
                <a:solidFill>
                  <a:schemeClr val="dk2"/>
                </a:solidFill>
                <a:latin typeface="Nunito"/>
                <a:ea typeface="Nunito"/>
                <a:cs typeface="Nunito"/>
                <a:sym typeface="Nunito"/>
              </a:defRPr>
            </a:lvl5pPr>
            <a:lvl6pPr marL="2743200" marR="0" lvl="5" indent="-285750" algn="l" rtl="0">
              <a:lnSpc>
                <a:spcPct val="115000"/>
              </a:lnSpc>
              <a:spcBef>
                <a:spcPts val="1600"/>
              </a:spcBef>
              <a:spcAft>
                <a:spcPts val="0"/>
              </a:spcAft>
              <a:buClr>
                <a:schemeClr val="dk2"/>
              </a:buClr>
              <a:buSzPts val="900"/>
              <a:buFont typeface="Nunito"/>
              <a:buChar char="■"/>
              <a:defRPr sz="900" b="0" i="0" u="none" strike="noStrike" cap="none">
                <a:solidFill>
                  <a:schemeClr val="dk2"/>
                </a:solidFill>
                <a:latin typeface="Nunito"/>
                <a:ea typeface="Nunito"/>
                <a:cs typeface="Nunito"/>
                <a:sym typeface="Nunito"/>
              </a:defRPr>
            </a:lvl6pPr>
            <a:lvl7pPr marL="3200400" marR="0" lvl="6" indent="-279400" algn="l" rtl="0">
              <a:lnSpc>
                <a:spcPct val="115000"/>
              </a:lnSpc>
              <a:spcBef>
                <a:spcPts val="1600"/>
              </a:spcBef>
              <a:spcAft>
                <a:spcPts val="0"/>
              </a:spcAft>
              <a:buClr>
                <a:schemeClr val="dk2"/>
              </a:buClr>
              <a:buSzPts val="800"/>
              <a:buFont typeface="Nunito"/>
              <a:buChar char="●"/>
              <a:defRPr sz="800" b="0" i="0" u="none" strike="noStrike" cap="none">
                <a:solidFill>
                  <a:schemeClr val="dk2"/>
                </a:solidFill>
                <a:latin typeface="Nunito"/>
                <a:ea typeface="Nunito"/>
                <a:cs typeface="Nunito"/>
                <a:sym typeface="Nunito"/>
              </a:defRPr>
            </a:lvl7pPr>
            <a:lvl8pPr marL="3657600" marR="0" lvl="7" indent="-273050" algn="l" rtl="0">
              <a:lnSpc>
                <a:spcPct val="115000"/>
              </a:lnSpc>
              <a:spcBef>
                <a:spcPts val="1600"/>
              </a:spcBef>
              <a:spcAft>
                <a:spcPts val="0"/>
              </a:spcAft>
              <a:buClr>
                <a:schemeClr val="dk2"/>
              </a:buClr>
              <a:buSzPts val="700"/>
              <a:buFont typeface="Nunito"/>
              <a:buChar char="○"/>
              <a:defRPr sz="700" b="0" i="0" u="none" strike="noStrike" cap="none">
                <a:solidFill>
                  <a:schemeClr val="dk2"/>
                </a:solidFill>
                <a:latin typeface="Nunito"/>
                <a:ea typeface="Nunito"/>
                <a:cs typeface="Nunito"/>
                <a:sym typeface="Nunito"/>
              </a:defRPr>
            </a:lvl8pPr>
            <a:lvl9pPr marL="4114800" marR="0" lvl="8" indent="-266700" algn="l" rtl="0">
              <a:lnSpc>
                <a:spcPct val="115000"/>
              </a:lnSpc>
              <a:spcBef>
                <a:spcPts val="1600"/>
              </a:spcBef>
              <a:spcAft>
                <a:spcPts val="1600"/>
              </a:spcAft>
              <a:buClr>
                <a:schemeClr val="dk2"/>
              </a:buClr>
              <a:buSzPts val="600"/>
              <a:buFont typeface="Nunito"/>
              <a:buChar char="■"/>
              <a:defRPr sz="600" b="0" i="0" u="none" strike="noStrike" cap="none">
                <a:solidFill>
                  <a:schemeClr val="dk2"/>
                </a:solidFill>
                <a:latin typeface="Nunito"/>
                <a:ea typeface="Nunito"/>
                <a:cs typeface="Nunito"/>
                <a:sym typeface="Nunito"/>
              </a:defRPr>
            </a:lvl9pPr>
          </a:lstStyle>
          <a:p>
            <a:endParaRPr/>
          </a:p>
        </p:txBody>
      </p:sp>
      <p:sp>
        <p:nvSpPr>
          <p:cNvPr id="8" name="Google Shape;8;p1"/>
          <p:cNvSpPr txBox="1"/>
          <p:nvPr/>
        </p:nvSpPr>
        <p:spPr>
          <a:xfrm>
            <a:off x="2234400" y="4917657"/>
            <a:ext cx="4675200" cy="275700"/>
          </a:xfrm>
          <a:prstGeom prst="rect">
            <a:avLst/>
          </a:prstGeom>
          <a:noFill/>
          <a:ln>
            <a:noFill/>
          </a:ln>
        </p:spPr>
        <p:txBody>
          <a:bodyPr spcFirstLastPara="1" wrap="square" lIns="91425" tIns="91425" rIns="91425" bIns="91425" anchor="t" anchorCtr="0">
            <a:noAutofit/>
          </a:bodyPr>
          <a:lstStyle/>
          <a:p>
            <a:pPr marL="12700" marR="0" lvl="0" indent="0" algn="ctr" rtl="0">
              <a:lnSpc>
                <a:spcPct val="102500"/>
              </a:lnSpc>
              <a:spcBef>
                <a:spcPts val="0"/>
              </a:spcBef>
              <a:spcAft>
                <a:spcPts val="0"/>
              </a:spcAft>
              <a:buClr>
                <a:srgbClr val="000000"/>
              </a:buClr>
              <a:buSzPts val="700"/>
              <a:buFont typeface="Arial"/>
              <a:buNone/>
            </a:pPr>
            <a:r>
              <a:rPr lang="en-US" sz="700" b="1" i="0" u="none" strike="noStrike" cap="none">
                <a:solidFill>
                  <a:srgbClr val="434343"/>
                </a:solidFill>
                <a:latin typeface="Nunito"/>
                <a:ea typeface="Nunito"/>
                <a:cs typeface="Nunito"/>
                <a:sym typeface="Nunito"/>
              </a:rPr>
              <a:t>Proprietary content. © Great Learning. All Rights Reserved. Unauthorized use or distribution prohibited.</a:t>
            </a:r>
            <a:endParaRPr sz="700" b="1" i="0" u="none" strike="noStrike" cap="none">
              <a:solidFill>
                <a:srgbClr val="434343"/>
              </a:solidFill>
              <a:latin typeface="Nunito"/>
              <a:ea typeface="Nunito"/>
              <a:cs typeface="Nunito"/>
              <a:sym typeface="Nunito"/>
            </a:endParaRPr>
          </a:p>
        </p:txBody>
      </p:sp>
      <p:sp>
        <p:nvSpPr>
          <p:cNvPr id="9" name="Google Shape;9;p1"/>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US"/>
              <a:t>‹Nº›</a:t>
            </a:fld>
            <a:endParaRPr/>
          </a:p>
        </p:txBody>
      </p:sp>
      <p:pic>
        <p:nvPicPr>
          <p:cNvPr id="10" name="Google Shape;10;p1"/>
          <p:cNvPicPr preferRelativeResize="0"/>
          <p:nvPr/>
        </p:nvPicPr>
        <p:blipFill rotWithShape="1">
          <a:blip r:embed="rId12">
            <a:alphaModFix/>
          </a:blip>
          <a:srcRect/>
          <a:stretch/>
        </p:blipFill>
        <p:spPr>
          <a:xfrm>
            <a:off x="7669500" y="68264"/>
            <a:ext cx="1395476" cy="572701"/>
          </a:xfrm>
          <a:prstGeom prst="rect">
            <a:avLst/>
          </a:prstGeom>
          <a:noFill/>
          <a:ln>
            <a:noFill/>
          </a:ln>
        </p:spPr>
      </p:pic>
      <p:grpSp>
        <p:nvGrpSpPr>
          <p:cNvPr id="11" name="Google Shape;11;p1"/>
          <p:cNvGrpSpPr/>
          <p:nvPr/>
        </p:nvGrpSpPr>
        <p:grpSpPr>
          <a:xfrm>
            <a:off x="6593" y="10"/>
            <a:ext cx="175500" cy="709221"/>
            <a:chOff x="6593" y="10"/>
            <a:chExt cx="175500" cy="709221"/>
          </a:xfrm>
        </p:grpSpPr>
        <p:sp>
          <p:nvSpPr>
            <p:cNvPr id="12" name="Google Shape;12;p1"/>
            <p:cNvSpPr/>
            <p:nvPr/>
          </p:nvSpPr>
          <p:spPr>
            <a:xfrm>
              <a:off x="6593" y="10"/>
              <a:ext cx="175500" cy="355500"/>
            </a:xfrm>
            <a:prstGeom prst="rect">
              <a:avLst/>
            </a:prstGeom>
            <a:solidFill>
              <a:srgbClr val="0E39A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 name="Google Shape;13;p1"/>
            <p:cNvSpPr/>
            <p:nvPr/>
          </p:nvSpPr>
          <p:spPr>
            <a:xfrm>
              <a:off x="6593" y="353731"/>
              <a:ext cx="175500" cy="355500"/>
            </a:xfrm>
            <a:prstGeom prst="rect">
              <a:avLst/>
            </a:prstGeom>
            <a:solidFill>
              <a:srgbClr val="1974D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3"/>
        <p:cNvGrpSpPr/>
        <p:nvPr/>
      </p:nvGrpSpPr>
      <p:grpSpPr>
        <a:xfrm>
          <a:off x="0" y="0"/>
          <a:ext cx="0" cy="0"/>
          <a:chOff x="0" y="0"/>
          <a:chExt cx="0" cy="0"/>
        </a:xfrm>
      </p:grpSpPr>
      <p:sp>
        <p:nvSpPr>
          <p:cNvPr id="54" name="Google Shape;54;p12"/>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434343"/>
              </a:buClr>
              <a:buSzPts val="2200"/>
              <a:buFont typeface="Nunito"/>
              <a:buNone/>
              <a:defRPr sz="2200" b="1" i="0" u="none" strike="noStrike" cap="none">
                <a:solidFill>
                  <a:srgbClr val="434343"/>
                </a:solidFill>
                <a:latin typeface="Nunito"/>
                <a:ea typeface="Nunito"/>
                <a:cs typeface="Nunito"/>
                <a:sym typeface="Nunito"/>
              </a:defRPr>
            </a:lvl1pPr>
            <a:lvl2pPr marR="0" lvl="1"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2pPr>
            <a:lvl3pPr marR="0" lvl="2"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3pPr>
            <a:lvl4pPr marR="0" lvl="3"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4pPr>
            <a:lvl5pPr marR="0" lvl="4"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5pPr>
            <a:lvl6pPr marR="0" lvl="5"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6pPr>
            <a:lvl7pPr marR="0" lvl="6"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7pPr>
            <a:lvl8pPr marR="0" lvl="7"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8pPr>
            <a:lvl9pPr marR="0" lvl="8"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9pPr>
          </a:lstStyle>
          <a:p>
            <a:endParaRPr/>
          </a:p>
        </p:txBody>
      </p:sp>
      <p:sp>
        <p:nvSpPr>
          <p:cNvPr id="55" name="Google Shape;55;p12"/>
          <p:cNvSpPr txBox="1">
            <a:spLocks noGrp="1"/>
          </p:cNvSpPr>
          <p:nvPr>
            <p:ph type="body" idx="1"/>
          </p:nvPr>
        </p:nvSpPr>
        <p:spPr>
          <a:xfrm>
            <a:off x="311700" y="861075"/>
            <a:ext cx="8520600" cy="3416400"/>
          </a:xfrm>
          <a:prstGeom prst="rect">
            <a:avLst/>
          </a:prstGeom>
          <a:noFill/>
          <a:ln>
            <a:noFill/>
          </a:ln>
        </p:spPr>
        <p:txBody>
          <a:bodyPr spcFirstLastPara="1" wrap="square" lIns="91425" tIns="91425" rIns="91425" bIns="91425" anchor="t" anchorCtr="0">
            <a:noAutofit/>
          </a:bodyPr>
          <a:lstStyle>
            <a:lvl1pPr marL="457200" marR="0" lvl="0" indent="-323850" algn="l" rtl="0">
              <a:lnSpc>
                <a:spcPct val="115000"/>
              </a:lnSpc>
              <a:spcBef>
                <a:spcPts val="0"/>
              </a:spcBef>
              <a:spcAft>
                <a:spcPts val="0"/>
              </a:spcAft>
              <a:buClr>
                <a:schemeClr val="dk2"/>
              </a:buClr>
              <a:buSzPts val="1500"/>
              <a:buFont typeface="Nunito"/>
              <a:buChar char="●"/>
              <a:defRPr sz="1500" b="0" i="0" u="none" strike="noStrike" cap="none">
                <a:solidFill>
                  <a:schemeClr val="dk2"/>
                </a:solidFill>
                <a:latin typeface="Nunito"/>
                <a:ea typeface="Nunito"/>
                <a:cs typeface="Nunito"/>
                <a:sym typeface="Nunito"/>
              </a:defRPr>
            </a:lvl1pPr>
            <a:lvl2pPr marL="914400" marR="0" lvl="1" indent="-311150" algn="l" rtl="0">
              <a:lnSpc>
                <a:spcPct val="115000"/>
              </a:lnSpc>
              <a:spcBef>
                <a:spcPts val="1600"/>
              </a:spcBef>
              <a:spcAft>
                <a:spcPts val="0"/>
              </a:spcAft>
              <a:buClr>
                <a:schemeClr val="dk2"/>
              </a:buClr>
              <a:buSzPts val="1300"/>
              <a:buFont typeface="Nunito"/>
              <a:buChar char="○"/>
              <a:defRPr sz="1300" b="0" i="0" u="none" strike="noStrike" cap="none">
                <a:solidFill>
                  <a:schemeClr val="dk2"/>
                </a:solidFill>
                <a:latin typeface="Nunito"/>
                <a:ea typeface="Nunito"/>
                <a:cs typeface="Nunito"/>
                <a:sym typeface="Nunito"/>
              </a:defRPr>
            </a:lvl2pPr>
            <a:lvl3pPr marL="1371600" marR="0" lvl="2" indent="-304800" algn="l" rtl="0">
              <a:lnSpc>
                <a:spcPct val="115000"/>
              </a:lnSpc>
              <a:spcBef>
                <a:spcPts val="1600"/>
              </a:spcBef>
              <a:spcAft>
                <a:spcPts val="0"/>
              </a:spcAft>
              <a:buClr>
                <a:schemeClr val="dk2"/>
              </a:buClr>
              <a:buSzPts val="1200"/>
              <a:buFont typeface="Nunito"/>
              <a:buChar char="■"/>
              <a:defRPr sz="1200" b="0" i="0" u="none" strike="noStrike" cap="none">
                <a:solidFill>
                  <a:schemeClr val="dk2"/>
                </a:solidFill>
                <a:latin typeface="Nunito"/>
                <a:ea typeface="Nunito"/>
                <a:cs typeface="Nunito"/>
                <a:sym typeface="Nunito"/>
              </a:defRPr>
            </a:lvl3pPr>
            <a:lvl4pPr marL="1828800" marR="0" lvl="3" indent="-298450" algn="l" rtl="0">
              <a:lnSpc>
                <a:spcPct val="115000"/>
              </a:lnSpc>
              <a:spcBef>
                <a:spcPts val="1600"/>
              </a:spcBef>
              <a:spcAft>
                <a:spcPts val="0"/>
              </a:spcAft>
              <a:buClr>
                <a:schemeClr val="dk2"/>
              </a:buClr>
              <a:buSzPts val="1100"/>
              <a:buFont typeface="Nunito"/>
              <a:buChar char="●"/>
              <a:defRPr sz="1100" b="0" i="0" u="none" strike="noStrike" cap="none">
                <a:solidFill>
                  <a:schemeClr val="dk2"/>
                </a:solidFill>
                <a:latin typeface="Nunito"/>
                <a:ea typeface="Nunito"/>
                <a:cs typeface="Nunito"/>
                <a:sym typeface="Nunito"/>
              </a:defRPr>
            </a:lvl4pPr>
            <a:lvl5pPr marL="2286000" marR="0" lvl="4" indent="-292100" algn="l" rtl="0">
              <a:lnSpc>
                <a:spcPct val="115000"/>
              </a:lnSpc>
              <a:spcBef>
                <a:spcPts val="1600"/>
              </a:spcBef>
              <a:spcAft>
                <a:spcPts val="0"/>
              </a:spcAft>
              <a:buClr>
                <a:schemeClr val="dk2"/>
              </a:buClr>
              <a:buSzPts val="1000"/>
              <a:buFont typeface="Nunito"/>
              <a:buChar char="○"/>
              <a:defRPr sz="1000" b="0" i="0" u="none" strike="noStrike" cap="none">
                <a:solidFill>
                  <a:schemeClr val="dk2"/>
                </a:solidFill>
                <a:latin typeface="Nunito"/>
                <a:ea typeface="Nunito"/>
                <a:cs typeface="Nunito"/>
                <a:sym typeface="Nunito"/>
              </a:defRPr>
            </a:lvl5pPr>
            <a:lvl6pPr marL="2743200" marR="0" lvl="5" indent="-285750" algn="l" rtl="0">
              <a:lnSpc>
                <a:spcPct val="115000"/>
              </a:lnSpc>
              <a:spcBef>
                <a:spcPts val="1600"/>
              </a:spcBef>
              <a:spcAft>
                <a:spcPts val="0"/>
              </a:spcAft>
              <a:buClr>
                <a:schemeClr val="dk2"/>
              </a:buClr>
              <a:buSzPts val="900"/>
              <a:buFont typeface="Nunito"/>
              <a:buChar char="■"/>
              <a:defRPr sz="900" b="0" i="0" u="none" strike="noStrike" cap="none">
                <a:solidFill>
                  <a:schemeClr val="dk2"/>
                </a:solidFill>
                <a:latin typeface="Nunito"/>
                <a:ea typeface="Nunito"/>
                <a:cs typeface="Nunito"/>
                <a:sym typeface="Nunito"/>
              </a:defRPr>
            </a:lvl6pPr>
            <a:lvl7pPr marL="3200400" marR="0" lvl="6" indent="-279400" algn="l" rtl="0">
              <a:lnSpc>
                <a:spcPct val="115000"/>
              </a:lnSpc>
              <a:spcBef>
                <a:spcPts val="1600"/>
              </a:spcBef>
              <a:spcAft>
                <a:spcPts val="0"/>
              </a:spcAft>
              <a:buClr>
                <a:schemeClr val="dk2"/>
              </a:buClr>
              <a:buSzPts val="800"/>
              <a:buFont typeface="Nunito"/>
              <a:buChar char="●"/>
              <a:defRPr sz="800" b="0" i="0" u="none" strike="noStrike" cap="none">
                <a:solidFill>
                  <a:schemeClr val="dk2"/>
                </a:solidFill>
                <a:latin typeface="Nunito"/>
                <a:ea typeface="Nunito"/>
                <a:cs typeface="Nunito"/>
                <a:sym typeface="Nunito"/>
              </a:defRPr>
            </a:lvl7pPr>
            <a:lvl8pPr marL="3657600" marR="0" lvl="7" indent="-273050" algn="l" rtl="0">
              <a:lnSpc>
                <a:spcPct val="115000"/>
              </a:lnSpc>
              <a:spcBef>
                <a:spcPts val="1600"/>
              </a:spcBef>
              <a:spcAft>
                <a:spcPts val="0"/>
              </a:spcAft>
              <a:buClr>
                <a:schemeClr val="dk2"/>
              </a:buClr>
              <a:buSzPts val="700"/>
              <a:buFont typeface="Nunito"/>
              <a:buChar char="○"/>
              <a:defRPr sz="700" b="0" i="0" u="none" strike="noStrike" cap="none">
                <a:solidFill>
                  <a:schemeClr val="dk2"/>
                </a:solidFill>
                <a:latin typeface="Nunito"/>
                <a:ea typeface="Nunito"/>
                <a:cs typeface="Nunito"/>
                <a:sym typeface="Nunito"/>
              </a:defRPr>
            </a:lvl8pPr>
            <a:lvl9pPr marL="4114800" marR="0" lvl="8" indent="-266700" algn="l" rtl="0">
              <a:lnSpc>
                <a:spcPct val="115000"/>
              </a:lnSpc>
              <a:spcBef>
                <a:spcPts val="1600"/>
              </a:spcBef>
              <a:spcAft>
                <a:spcPts val="1600"/>
              </a:spcAft>
              <a:buClr>
                <a:schemeClr val="dk2"/>
              </a:buClr>
              <a:buSzPts val="600"/>
              <a:buFont typeface="Nunito"/>
              <a:buChar char="■"/>
              <a:defRPr sz="600" b="0" i="0" u="none" strike="noStrike" cap="none">
                <a:solidFill>
                  <a:schemeClr val="dk2"/>
                </a:solidFill>
                <a:latin typeface="Nunito"/>
                <a:ea typeface="Nunito"/>
                <a:cs typeface="Nunito"/>
                <a:sym typeface="Nunito"/>
              </a:defRPr>
            </a:lvl9pPr>
          </a:lstStyle>
          <a:p>
            <a:endParaRPr/>
          </a:p>
        </p:txBody>
      </p:sp>
      <p:sp>
        <p:nvSpPr>
          <p:cNvPr id="56" name="Google Shape;56;p12"/>
          <p:cNvSpPr txBox="1"/>
          <p:nvPr/>
        </p:nvSpPr>
        <p:spPr>
          <a:xfrm>
            <a:off x="2234400" y="4917657"/>
            <a:ext cx="4675200" cy="275700"/>
          </a:xfrm>
          <a:prstGeom prst="rect">
            <a:avLst/>
          </a:prstGeom>
          <a:noFill/>
          <a:ln>
            <a:noFill/>
          </a:ln>
        </p:spPr>
        <p:txBody>
          <a:bodyPr spcFirstLastPara="1" wrap="square" lIns="91425" tIns="91425" rIns="91425" bIns="91425" anchor="t" anchorCtr="0">
            <a:noAutofit/>
          </a:bodyPr>
          <a:lstStyle/>
          <a:p>
            <a:pPr marL="12700" marR="0" lvl="0" indent="0" algn="ctr" rtl="0">
              <a:lnSpc>
                <a:spcPct val="102500"/>
              </a:lnSpc>
              <a:spcBef>
                <a:spcPts val="0"/>
              </a:spcBef>
              <a:spcAft>
                <a:spcPts val="0"/>
              </a:spcAft>
              <a:buClr>
                <a:srgbClr val="000000"/>
              </a:buClr>
              <a:buSzPts val="700"/>
              <a:buFont typeface="Arial"/>
              <a:buNone/>
            </a:pPr>
            <a:r>
              <a:rPr lang="en-US" sz="700" b="1" i="0" u="none" strike="noStrike" cap="none">
                <a:solidFill>
                  <a:srgbClr val="434343"/>
                </a:solidFill>
                <a:latin typeface="Nunito"/>
                <a:ea typeface="Nunito"/>
                <a:cs typeface="Nunito"/>
                <a:sym typeface="Nunito"/>
              </a:rPr>
              <a:t>Proprietary content. © Great Learning. All Rights Reserved. Unauthorized use or distribution prohibited.</a:t>
            </a:r>
            <a:endParaRPr sz="700" b="1" i="0" u="none" strike="noStrike" cap="none">
              <a:solidFill>
                <a:srgbClr val="434343"/>
              </a:solidFill>
              <a:latin typeface="Nunito"/>
              <a:ea typeface="Nunito"/>
              <a:cs typeface="Nunito"/>
              <a:sym typeface="Nunito"/>
            </a:endParaRPr>
          </a:p>
        </p:txBody>
      </p:sp>
      <p:sp>
        <p:nvSpPr>
          <p:cNvPr id="57" name="Google Shape;57;p12"/>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US"/>
              <a:t>‹Nº›</a:t>
            </a:fld>
            <a:endParaRPr/>
          </a:p>
        </p:txBody>
      </p:sp>
      <p:pic>
        <p:nvPicPr>
          <p:cNvPr id="58" name="Google Shape;58;p12"/>
          <p:cNvPicPr preferRelativeResize="0"/>
          <p:nvPr/>
        </p:nvPicPr>
        <p:blipFill rotWithShape="1">
          <a:blip r:embed="rId12">
            <a:alphaModFix/>
          </a:blip>
          <a:srcRect/>
          <a:stretch/>
        </p:blipFill>
        <p:spPr>
          <a:xfrm>
            <a:off x="7669500" y="68264"/>
            <a:ext cx="1395475" cy="572700"/>
          </a:xfrm>
          <a:prstGeom prst="rect">
            <a:avLst/>
          </a:prstGeom>
          <a:noFill/>
          <a:ln>
            <a:noFill/>
          </a:ln>
        </p:spPr>
      </p:pic>
      <p:grpSp>
        <p:nvGrpSpPr>
          <p:cNvPr id="59" name="Google Shape;59;p12"/>
          <p:cNvGrpSpPr/>
          <p:nvPr/>
        </p:nvGrpSpPr>
        <p:grpSpPr>
          <a:xfrm>
            <a:off x="6593" y="10"/>
            <a:ext cx="175500" cy="709221"/>
            <a:chOff x="6593" y="10"/>
            <a:chExt cx="175500" cy="709221"/>
          </a:xfrm>
        </p:grpSpPr>
        <p:sp>
          <p:nvSpPr>
            <p:cNvPr id="60" name="Google Shape;60;p12"/>
            <p:cNvSpPr/>
            <p:nvPr/>
          </p:nvSpPr>
          <p:spPr>
            <a:xfrm>
              <a:off x="6593" y="10"/>
              <a:ext cx="175500" cy="355500"/>
            </a:xfrm>
            <a:prstGeom prst="rect">
              <a:avLst/>
            </a:prstGeom>
            <a:solidFill>
              <a:srgbClr val="0E39A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 name="Google Shape;61;p12"/>
            <p:cNvSpPr/>
            <p:nvPr/>
          </p:nvSpPr>
          <p:spPr>
            <a:xfrm>
              <a:off x="6593" y="353731"/>
              <a:ext cx="175500" cy="355500"/>
            </a:xfrm>
            <a:prstGeom prst="rect">
              <a:avLst/>
            </a:prstGeom>
            <a:solidFill>
              <a:srgbClr val="1974D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 bg1="lt1" tx1="dk1" bg2="dk2" tx2="lt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7.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34"/>
          <p:cNvSpPr txBox="1">
            <a:spLocks noGrp="1"/>
          </p:cNvSpPr>
          <p:nvPr>
            <p:ph type="ctrTitle"/>
          </p:nvPr>
        </p:nvSpPr>
        <p:spPr>
          <a:xfrm>
            <a:off x="650400" y="1902900"/>
            <a:ext cx="7843200" cy="13377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800"/>
              <a:buNone/>
            </a:pPr>
            <a:r>
              <a:rPr lang="en-US" sz="3300">
                <a:latin typeface="Century Gothic"/>
                <a:ea typeface="Century Gothic"/>
                <a:cs typeface="Century Gothic"/>
                <a:sym typeface="Century Gothic"/>
              </a:rPr>
              <a:t>Loan Default Prediction</a:t>
            </a:r>
            <a:endParaRPr sz="3300">
              <a:latin typeface="Century Gothic"/>
              <a:ea typeface="Century Gothic"/>
              <a:cs typeface="Century Gothic"/>
              <a:sym typeface="Century Gothic"/>
            </a:endParaRPr>
          </a:p>
          <a:p>
            <a:pPr marL="0" lvl="0" indent="0" algn="l" rtl="0">
              <a:lnSpc>
                <a:spcPct val="100000"/>
              </a:lnSpc>
              <a:spcBef>
                <a:spcPts val="0"/>
              </a:spcBef>
              <a:spcAft>
                <a:spcPts val="0"/>
              </a:spcAft>
              <a:buSzPts val="4800"/>
              <a:buNone/>
            </a:pPr>
            <a:r>
              <a:rPr lang="en-US" sz="3300" b="0">
                <a:latin typeface="Century Gothic"/>
                <a:ea typeface="Century Gothic"/>
                <a:cs typeface="Century Gothic"/>
                <a:sym typeface="Century Gothic"/>
              </a:rPr>
              <a:t>Prediction Methods - Neural Networks</a:t>
            </a:r>
            <a:endParaRPr sz="3300" b="0">
              <a:latin typeface="Century Gothic"/>
              <a:ea typeface="Century Gothic"/>
              <a:cs typeface="Century Gothic"/>
              <a:sym typeface="Century Gothic"/>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35"/>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US">
                <a:solidFill>
                  <a:schemeClr val="lt2"/>
                </a:solidFill>
                <a:latin typeface="Century Gothic"/>
                <a:ea typeface="Century Gothic"/>
                <a:cs typeface="Century Gothic"/>
                <a:sym typeface="Century Gothic"/>
              </a:rPr>
              <a:t>Contents / Agenda</a:t>
            </a:r>
            <a:endParaRPr>
              <a:solidFill>
                <a:schemeClr val="lt2"/>
              </a:solidFill>
              <a:latin typeface="Century Gothic"/>
              <a:ea typeface="Century Gothic"/>
              <a:cs typeface="Century Gothic"/>
              <a:sym typeface="Century Gothic"/>
            </a:endParaRPr>
          </a:p>
        </p:txBody>
      </p:sp>
      <p:sp>
        <p:nvSpPr>
          <p:cNvPr id="159" name="Google Shape;159;p35"/>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1000"/>
              </a:spcBef>
              <a:spcAft>
                <a:spcPts val="0"/>
              </a:spcAft>
              <a:buClr>
                <a:schemeClr val="dk1"/>
              </a:buClr>
              <a:buSzPts val="1400"/>
              <a:buFont typeface="Century Gothic"/>
              <a:buChar char="●"/>
            </a:pPr>
            <a:r>
              <a:rPr lang="en-US" sz="1400" dirty="0">
                <a:solidFill>
                  <a:schemeClr val="dk1"/>
                </a:solidFill>
                <a:latin typeface="Century Gothic"/>
                <a:ea typeface="Century Gothic"/>
                <a:cs typeface="Century Gothic"/>
                <a:sym typeface="Century Gothic"/>
              </a:rPr>
              <a:t>Business Problem Overview &amp; Solution Approach</a:t>
            </a:r>
            <a:endParaRPr dirty="0"/>
          </a:p>
          <a:p>
            <a:pPr marL="457200" lvl="0" indent="-317500" algn="l" rtl="0">
              <a:lnSpc>
                <a:spcPct val="115000"/>
              </a:lnSpc>
              <a:spcBef>
                <a:spcPts val="1000"/>
              </a:spcBef>
              <a:spcAft>
                <a:spcPts val="0"/>
              </a:spcAft>
              <a:buClr>
                <a:schemeClr val="dk1"/>
              </a:buClr>
              <a:buSzPts val="1400"/>
              <a:buFont typeface="Century Gothic"/>
              <a:buChar char="●"/>
            </a:pPr>
            <a:r>
              <a:rPr lang="en-US" sz="1400" dirty="0">
                <a:solidFill>
                  <a:schemeClr val="dk1"/>
                </a:solidFill>
                <a:latin typeface="Century Gothic"/>
                <a:ea typeface="Century Gothic"/>
                <a:cs typeface="Century Gothic"/>
                <a:sym typeface="Century Gothic"/>
              </a:rPr>
              <a:t>Data Dictionary</a:t>
            </a:r>
            <a:endParaRPr dirty="0"/>
          </a:p>
          <a:p>
            <a:pPr marL="457200" lvl="0" indent="-317500" algn="l" rtl="0">
              <a:lnSpc>
                <a:spcPct val="115000"/>
              </a:lnSpc>
              <a:spcBef>
                <a:spcPts val="1000"/>
              </a:spcBef>
              <a:spcAft>
                <a:spcPts val="0"/>
              </a:spcAft>
              <a:buClr>
                <a:schemeClr val="dk1"/>
              </a:buClr>
              <a:buSzPts val="1400"/>
              <a:buFont typeface="Century Gothic"/>
              <a:buChar char="●"/>
            </a:pPr>
            <a:r>
              <a:rPr lang="en-US" sz="1400" dirty="0">
                <a:solidFill>
                  <a:schemeClr val="dk1"/>
                </a:solidFill>
                <a:latin typeface="Century Gothic"/>
                <a:ea typeface="Century Gothic"/>
                <a:cs typeface="Century Gothic"/>
                <a:sym typeface="Century Gothic"/>
              </a:rPr>
              <a:t>Exploratory Data Analysis (EDA) Results</a:t>
            </a:r>
            <a:endParaRPr dirty="0"/>
          </a:p>
          <a:p>
            <a:pPr marL="457200" lvl="0" indent="-317500" algn="l" rtl="0">
              <a:lnSpc>
                <a:spcPct val="115000"/>
              </a:lnSpc>
              <a:spcBef>
                <a:spcPts val="1000"/>
              </a:spcBef>
              <a:spcAft>
                <a:spcPts val="0"/>
              </a:spcAft>
              <a:buClr>
                <a:schemeClr val="dk1"/>
              </a:buClr>
              <a:buSzPts val="1400"/>
              <a:buFont typeface="Century Gothic"/>
              <a:buChar char="●"/>
            </a:pPr>
            <a:r>
              <a:rPr lang="en-US" sz="1400" dirty="0">
                <a:solidFill>
                  <a:schemeClr val="dk1"/>
                </a:solidFill>
                <a:latin typeface="Century Gothic"/>
                <a:ea typeface="Century Gothic"/>
                <a:cs typeface="Century Gothic"/>
                <a:sym typeface="Century Gothic"/>
              </a:rPr>
              <a:t>Data Preprocessing</a:t>
            </a:r>
            <a:endParaRPr dirty="0"/>
          </a:p>
          <a:p>
            <a:pPr marL="457200" lvl="0" indent="-317500" algn="l" rtl="0">
              <a:lnSpc>
                <a:spcPct val="115000"/>
              </a:lnSpc>
              <a:spcBef>
                <a:spcPts val="1000"/>
              </a:spcBef>
              <a:spcAft>
                <a:spcPts val="0"/>
              </a:spcAft>
              <a:buClr>
                <a:schemeClr val="dk1"/>
              </a:buClr>
              <a:buSzPts val="1400"/>
              <a:buFont typeface="Century Gothic"/>
              <a:buChar char="●"/>
            </a:pPr>
            <a:r>
              <a:rPr lang="en-US" sz="1400" dirty="0">
                <a:solidFill>
                  <a:schemeClr val="dk1"/>
                </a:solidFill>
                <a:latin typeface="Century Gothic"/>
                <a:ea typeface="Century Gothic"/>
                <a:cs typeface="Century Gothic"/>
                <a:sym typeface="Century Gothic"/>
              </a:rPr>
              <a:t>Model Performance Summary</a:t>
            </a:r>
            <a:endParaRPr dirty="0"/>
          </a:p>
          <a:p>
            <a:pPr marL="457200" lvl="0" indent="-317500" algn="l" rtl="0">
              <a:lnSpc>
                <a:spcPct val="115000"/>
              </a:lnSpc>
              <a:spcBef>
                <a:spcPts val="1000"/>
              </a:spcBef>
              <a:spcAft>
                <a:spcPts val="0"/>
              </a:spcAft>
              <a:buClr>
                <a:schemeClr val="dk1"/>
              </a:buClr>
              <a:buSzPts val="1400"/>
              <a:buFont typeface="Century Gothic"/>
              <a:buChar char="●"/>
            </a:pPr>
            <a:r>
              <a:rPr lang="en-US" sz="1400" dirty="0">
                <a:solidFill>
                  <a:schemeClr val="dk1"/>
                </a:solidFill>
                <a:latin typeface="Century Gothic"/>
                <a:ea typeface="Century Gothic"/>
                <a:cs typeface="Century Gothic"/>
                <a:sym typeface="Century Gothic"/>
              </a:rPr>
              <a:t>Best Model Selection</a:t>
            </a:r>
            <a:endParaRPr dirty="0"/>
          </a:p>
          <a:p>
            <a:pPr marL="457200" lvl="0" indent="-317500" algn="l" rtl="0">
              <a:lnSpc>
                <a:spcPct val="115000"/>
              </a:lnSpc>
              <a:spcBef>
                <a:spcPts val="1000"/>
              </a:spcBef>
              <a:spcAft>
                <a:spcPts val="0"/>
              </a:spcAft>
              <a:buClr>
                <a:schemeClr val="dk1"/>
              </a:buClr>
              <a:buSzPts val="1400"/>
              <a:buFont typeface="Century Gothic"/>
              <a:buChar char="●"/>
            </a:pPr>
            <a:r>
              <a:rPr lang="en-US" sz="1400" dirty="0">
                <a:solidFill>
                  <a:schemeClr val="dk1"/>
                </a:solidFill>
                <a:latin typeface="Century Gothic"/>
                <a:ea typeface="Century Gothic"/>
                <a:cs typeface="Century Gothic"/>
                <a:sym typeface="Century Gothic"/>
              </a:rPr>
              <a:t>Conclusions &amp; Recommendations</a:t>
            </a:r>
            <a:endParaRPr dirty="0"/>
          </a:p>
          <a:p>
            <a:pPr marL="457200" lvl="0" indent="-317500" algn="l" rtl="0">
              <a:lnSpc>
                <a:spcPct val="115000"/>
              </a:lnSpc>
              <a:spcBef>
                <a:spcPts val="1000"/>
              </a:spcBef>
              <a:spcAft>
                <a:spcPts val="0"/>
              </a:spcAft>
              <a:buClr>
                <a:schemeClr val="dk1"/>
              </a:buClr>
              <a:buSzPts val="1400"/>
              <a:buFont typeface="Century Gothic"/>
              <a:buChar char="●"/>
            </a:pPr>
            <a:r>
              <a:rPr lang="en-US" sz="1400" dirty="0">
                <a:solidFill>
                  <a:schemeClr val="dk1"/>
                </a:solidFill>
                <a:latin typeface="Century Gothic"/>
                <a:ea typeface="Century Gothic"/>
                <a:cs typeface="Century Gothic"/>
                <a:sym typeface="Century Gothic"/>
              </a:rPr>
              <a:t>Appendix / Screenshots</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36"/>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US">
                <a:solidFill>
                  <a:schemeClr val="lt2"/>
                </a:solidFill>
                <a:latin typeface="Century Gothic"/>
                <a:ea typeface="Century Gothic"/>
                <a:cs typeface="Century Gothic"/>
                <a:sym typeface="Century Gothic"/>
              </a:rPr>
              <a:t>Data Dictionary</a:t>
            </a:r>
            <a:endParaRPr>
              <a:solidFill>
                <a:schemeClr val="lt2"/>
              </a:solidFill>
              <a:latin typeface="Century Gothic"/>
              <a:ea typeface="Century Gothic"/>
              <a:cs typeface="Century Gothic"/>
              <a:sym typeface="Century Gothic"/>
            </a:endParaRPr>
          </a:p>
        </p:txBody>
      </p:sp>
      <p:sp>
        <p:nvSpPr>
          <p:cNvPr id="165" name="Google Shape;165;p36"/>
          <p:cNvSpPr txBox="1">
            <a:spLocks noGrp="1"/>
          </p:cNvSpPr>
          <p:nvPr>
            <p:ph type="body" idx="1"/>
          </p:nvPr>
        </p:nvSpPr>
        <p:spPr>
          <a:xfrm>
            <a:off x="311750" y="861975"/>
            <a:ext cx="8520600" cy="37068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1000"/>
              </a:spcBef>
              <a:spcAft>
                <a:spcPts val="0"/>
              </a:spcAft>
              <a:buSzPts val="1500"/>
              <a:buNone/>
            </a:pPr>
            <a:r>
              <a:rPr lang="en-US" sz="1200">
                <a:solidFill>
                  <a:schemeClr val="dk1"/>
                </a:solidFill>
                <a:latin typeface="Century Gothic"/>
                <a:ea typeface="Century Gothic"/>
                <a:cs typeface="Century Gothic"/>
                <a:sym typeface="Century Gothic"/>
              </a:rPr>
              <a:t>The data contains different attributes of customers’ loan and credit details. The detailed data dictionary is given below:</a:t>
            </a:r>
            <a:endParaRPr/>
          </a:p>
          <a:p>
            <a:pPr marL="457200" lvl="0" indent="-304800" algn="l" rtl="0">
              <a:lnSpc>
                <a:spcPct val="150000"/>
              </a:lnSpc>
              <a:spcBef>
                <a:spcPts val="1000"/>
              </a:spcBef>
              <a:spcAft>
                <a:spcPts val="0"/>
              </a:spcAft>
              <a:buClr>
                <a:schemeClr val="dk1"/>
              </a:buClr>
              <a:buSzPts val="1200"/>
              <a:buFont typeface="Century Gothic"/>
              <a:buChar char="●"/>
            </a:pPr>
            <a:r>
              <a:rPr lang="en-US" sz="1200">
                <a:solidFill>
                  <a:schemeClr val="dk1"/>
                </a:solidFill>
                <a:latin typeface="Century Gothic"/>
                <a:ea typeface="Century Gothic"/>
                <a:cs typeface="Century Gothic"/>
                <a:sym typeface="Century Gothic"/>
              </a:rPr>
              <a:t>BAD: Whether the client defaulted on the loan (0 = No, 1 = Yes)</a:t>
            </a:r>
            <a:endParaRPr/>
          </a:p>
          <a:p>
            <a:pPr marL="457200" lvl="0" indent="-304800" algn="l" rtl="0">
              <a:lnSpc>
                <a:spcPct val="150000"/>
              </a:lnSpc>
              <a:spcBef>
                <a:spcPts val="1000"/>
              </a:spcBef>
              <a:spcAft>
                <a:spcPts val="0"/>
              </a:spcAft>
              <a:buClr>
                <a:schemeClr val="dk1"/>
              </a:buClr>
              <a:buSzPts val="1200"/>
              <a:buFont typeface="Century Gothic"/>
              <a:buChar char="●"/>
            </a:pPr>
            <a:r>
              <a:rPr lang="en-US" sz="1200">
                <a:solidFill>
                  <a:schemeClr val="dk1"/>
                </a:solidFill>
                <a:latin typeface="Century Gothic"/>
                <a:ea typeface="Century Gothic"/>
                <a:cs typeface="Century Gothic"/>
                <a:sym typeface="Century Gothic"/>
              </a:rPr>
              <a:t>LOAN: Amount of loan approved</a:t>
            </a:r>
            <a:endParaRPr/>
          </a:p>
          <a:p>
            <a:pPr marL="457200" lvl="0" indent="-304800" algn="l" rtl="0">
              <a:lnSpc>
                <a:spcPct val="150000"/>
              </a:lnSpc>
              <a:spcBef>
                <a:spcPts val="1000"/>
              </a:spcBef>
              <a:spcAft>
                <a:spcPts val="0"/>
              </a:spcAft>
              <a:buClr>
                <a:schemeClr val="dk1"/>
              </a:buClr>
              <a:buSzPts val="1200"/>
              <a:buFont typeface="Century Gothic"/>
              <a:buChar char="●"/>
            </a:pPr>
            <a:r>
              <a:rPr lang="en-US" sz="1200">
                <a:solidFill>
                  <a:schemeClr val="dk1"/>
                </a:solidFill>
                <a:latin typeface="Century Gothic"/>
                <a:ea typeface="Century Gothic"/>
                <a:cs typeface="Century Gothic"/>
                <a:sym typeface="Century Gothic"/>
              </a:rPr>
              <a:t>MORTDUE: Amount due on the existing mortgage</a:t>
            </a:r>
            <a:endParaRPr/>
          </a:p>
          <a:p>
            <a:pPr marL="457200" lvl="0" indent="-304800" algn="l" rtl="0">
              <a:lnSpc>
                <a:spcPct val="150000"/>
              </a:lnSpc>
              <a:spcBef>
                <a:spcPts val="1000"/>
              </a:spcBef>
              <a:spcAft>
                <a:spcPts val="0"/>
              </a:spcAft>
              <a:buClr>
                <a:schemeClr val="dk1"/>
              </a:buClr>
              <a:buSzPts val="1200"/>
              <a:buFont typeface="Century Gothic"/>
              <a:buChar char="●"/>
            </a:pPr>
            <a:r>
              <a:rPr lang="en-US" sz="1200">
                <a:solidFill>
                  <a:schemeClr val="dk1"/>
                </a:solidFill>
                <a:latin typeface="Century Gothic"/>
                <a:ea typeface="Century Gothic"/>
                <a:cs typeface="Century Gothic"/>
                <a:sym typeface="Century Gothic"/>
              </a:rPr>
              <a:t>VALUE: Current value of the property</a:t>
            </a:r>
            <a:endParaRPr/>
          </a:p>
          <a:p>
            <a:pPr marL="457200" lvl="0" indent="-304800" algn="l" rtl="0">
              <a:lnSpc>
                <a:spcPct val="150000"/>
              </a:lnSpc>
              <a:spcBef>
                <a:spcPts val="1000"/>
              </a:spcBef>
              <a:spcAft>
                <a:spcPts val="0"/>
              </a:spcAft>
              <a:buClr>
                <a:schemeClr val="dk1"/>
              </a:buClr>
              <a:buSzPts val="1200"/>
              <a:buFont typeface="Century Gothic"/>
              <a:buChar char="●"/>
            </a:pPr>
            <a:r>
              <a:rPr lang="en-US" sz="1200">
                <a:solidFill>
                  <a:schemeClr val="dk1"/>
                </a:solidFill>
                <a:latin typeface="Century Gothic"/>
                <a:ea typeface="Century Gothic"/>
                <a:cs typeface="Century Gothic"/>
                <a:sym typeface="Century Gothic"/>
              </a:rPr>
              <a:t>REASON: Reason for the loan request (HomeImp = Home Improvement, DebtCon = Debt Consolidation)</a:t>
            </a:r>
            <a:endParaRPr/>
          </a:p>
          <a:p>
            <a:pPr marL="457200" lvl="0" indent="-304800" algn="l" rtl="0">
              <a:lnSpc>
                <a:spcPct val="150000"/>
              </a:lnSpc>
              <a:spcBef>
                <a:spcPts val="1000"/>
              </a:spcBef>
              <a:spcAft>
                <a:spcPts val="0"/>
              </a:spcAft>
              <a:buClr>
                <a:schemeClr val="dk1"/>
              </a:buClr>
              <a:buSzPts val="1200"/>
              <a:buFont typeface="Century Gothic"/>
              <a:buChar char="●"/>
            </a:pPr>
            <a:r>
              <a:rPr lang="en-US" sz="1200">
                <a:solidFill>
                  <a:schemeClr val="dk1"/>
                </a:solidFill>
                <a:latin typeface="Century Gothic"/>
                <a:ea typeface="Century Gothic"/>
                <a:cs typeface="Century Gothic"/>
                <a:sym typeface="Century Gothic"/>
              </a:rPr>
              <a:t>JOB: Type of job the applicant has (e.g., Manager, Self-employed)</a:t>
            </a:r>
            <a:endParaRPr/>
          </a:p>
          <a:p>
            <a:pPr marL="457200" lvl="0" indent="-304800" algn="l" rtl="0">
              <a:lnSpc>
                <a:spcPct val="150000"/>
              </a:lnSpc>
              <a:spcBef>
                <a:spcPts val="1000"/>
              </a:spcBef>
              <a:spcAft>
                <a:spcPts val="0"/>
              </a:spcAft>
              <a:buClr>
                <a:schemeClr val="dk1"/>
              </a:buClr>
              <a:buSzPts val="1200"/>
              <a:buFont typeface="Century Gothic"/>
              <a:buChar char="●"/>
            </a:pPr>
            <a:r>
              <a:rPr lang="en-US" sz="1200">
                <a:solidFill>
                  <a:schemeClr val="dk1"/>
                </a:solidFill>
                <a:latin typeface="Century Gothic"/>
                <a:ea typeface="Century Gothic"/>
                <a:cs typeface="Century Gothic"/>
                <a:sym typeface="Century Gothic"/>
              </a:rPr>
              <a:t>YOJ: Years at present job</a:t>
            </a:r>
            <a:endParaRPr/>
          </a:p>
          <a:p>
            <a:pPr marL="457200" lvl="0" indent="0" algn="l" rtl="0">
              <a:lnSpc>
                <a:spcPct val="150000"/>
              </a:lnSpc>
              <a:spcBef>
                <a:spcPts val="1000"/>
              </a:spcBef>
              <a:spcAft>
                <a:spcPts val="0"/>
              </a:spcAft>
              <a:buSzPts val="1500"/>
              <a:buNone/>
            </a:pPr>
            <a:endParaRPr sz="1400">
              <a:solidFill>
                <a:schemeClr val="dk1"/>
              </a:solidFill>
              <a:latin typeface="Century Gothic"/>
              <a:ea typeface="Century Gothic"/>
              <a:cs typeface="Century Gothic"/>
              <a:sym typeface="Century Gothic"/>
            </a:endParaRPr>
          </a:p>
          <a:p>
            <a:pPr marL="0" lvl="0" indent="0" algn="l" rtl="0">
              <a:lnSpc>
                <a:spcPct val="150000"/>
              </a:lnSpc>
              <a:spcBef>
                <a:spcPts val="1000"/>
              </a:spcBef>
              <a:spcAft>
                <a:spcPts val="0"/>
              </a:spcAft>
              <a:buSzPts val="1500"/>
              <a:buNone/>
            </a:pPr>
            <a:endParaRPr sz="1200">
              <a:solidFill>
                <a:schemeClr val="dk1"/>
              </a:solidFill>
              <a:latin typeface="Century Gothic"/>
              <a:ea typeface="Century Gothic"/>
              <a:cs typeface="Century Gothic"/>
              <a:sym typeface="Century Gothic"/>
            </a:endParaRPr>
          </a:p>
          <a:p>
            <a:pPr marL="457200" lvl="0" indent="0" algn="l" rtl="0">
              <a:lnSpc>
                <a:spcPct val="150000"/>
              </a:lnSpc>
              <a:spcBef>
                <a:spcPts val="1000"/>
              </a:spcBef>
              <a:spcAft>
                <a:spcPts val="1000"/>
              </a:spcAft>
              <a:buSzPts val="1500"/>
              <a:buNone/>
            </a:pPr>
            <a:endParaRPr sz="1200">
              <a:solidFill>
                <a:schemeClr val="dk1"/>
              </a:solidFill>
              <a:latin typeface="Century Gothic"/>
              <a:ea typeface="Century Gothic"/>
              <a:cs typeface="Century Gothic"/>
              <a:sym typeface="Century Gothic"/>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37"/>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US">
                <a:solidFill>
                  <a:schemeClr val="lt2"/>
                </a:solidFill>
                <a:latin typeface="Century Gothic"/>
                <a:ea typeface="Century Gothic"/>
                <a:cs typeface="Century Gothic"/>
                <a:sym typeface="Century Gothic"/>
              </a:rPr>
              <a:t>Data Dictionary</a:t>
            </a:r>
            <a:endParaRPr>
              <a:solidFill>
                <a:schemeClr val="lt2"/>
              </a:solidFill>
              <a:latin typeface="Century Gothic"/>
              <a:ea typeface="Century Gothic"/>
              <a:cs typeface="Century Gothic"/>
              <a:sym typeface="Century Gothic"/>
            </a:endParaRPr>
          </a:p>
        </p:txBody>
      </p:sp>
      <p:sp>
        <p:nvSpPr>
          <p:cNvPr id="171" name="Google Shape;171;p37"/>
          <p:cNvSpPr txBox="1">
            <a:spLocks noGrp="1"/>
          </p:cNvSpPr>
          <p:nvPr>
            <p:ph type="body" idx="1"/>
          </p:nvPr>
        </p:nvSpPr>
        <p:spPr>
          <a:xfrm>
            <a:off x="311750" y="861975"/>
            <a:ext cx="8520600" cy="3706800"/>
          </a:xfrm>
          <a:prstGeom prst="rect">
            <a:avLst/>
          </a:prstGeom>
          <a:noFill/>
          <a:ln>
            <a:noFill/>
          </a:ln>
        </p:spPr>
        <p:txBody>
          <a:bodyPr spcFirstLastPara="1" wrap="square" lIns="91425" tIns="91425" rIns="91425" bIns="91425" anchor="t" anchorCtr="0">
            <a:noAutofit/>
          </a:bodyPr>
          <a:lstStyle/>
          <a:p>
            <a:pPr marL="457200" lvl="0" indent="-228600" algn="l" rtl="0">
              <a:lnSpc>
                <a:spcPct val="150000"/>
              </a:lnSpc>
              <a:spcBef>
                <a:spcPts val="1000"/>
              </a:spcBef>
              <a:spcAft>
                <a:spcPts val="0"/>
              </a:spcAft>
              <a:buClr>
                <a:schemeClr val="dk1"/>
              </a:buClr>
              <a:buSzPts val="1200"/>
              <a:buFont typeface="Century Gothic"/>
              <a:buNone/>
            </a:pPr>
            <a:endParaRPr sz="1200" dirty="0">
              <a:solidFill>
                <a:schemeClr val="dk1"/>
              </a:solidFill>
              <a:latin typeface="Century Gothic"/>
              <a:ea typeface="Century Gothic"/>
              <a:cs typeface="Century Gothic"/>
              <a:sym typeface="Century Gothic"/>
            </a:endParaRPr>
          </a:p>
          <a:p>
            <a:pPr marL="457200" lvl="0" indent="-304800" algn="l" rtl="0">
              <a:lnSpc>
                <a:spcPct val="150000"/>
              </a:lnSpc>
              <a:spcBef>
                <a:spcPts val="1000"/>
              </a:spcBef>
              <a:spcAft>
                <a:spcPts val="0"/>
              </a:spcAft>
              <a:buClr>
                <a:schemeClr val="dk1"/>
              </a:buClr>
              <a:buSzPts val="1200"/>
              <a:buFont typeface="Century Gothic"/>
              <a:buChar char="●"/>
            </a:pPr>
            <a:r>
              <a:rPr lang="en-US" sz="1200" dirty="0">
                <a:solidFill>
                  <a:schemeClr val="dk1"/>
                </a:solidFill>
                <a:latin typeface="Century Gothic"/>
                <a:ea typeface="Century Gothic"/>
                <a:cs typeface="Century Gothic"/>
                <a:sym typeface="Century Gothic"/>
              </a:rPr>
              <a:t>DEROG: Number of major derogatory reports (serious delinquency/late payments)</a:t>
            </a:r>
            <a:endParaRPr dirty="0"/>
          </a:p>
          <a:p>
            <a:pPr marL="457200" lvl="0" indent="-304800" algn="l" rtl="0">
              <a:lnSpc>
                <a:spcPct val="150000"/>
              </a:lnSpc>
              <a:spcBef>
                <a:spcPts val="1000"/>
              </a:spcBef>
              <a:spcAft>
                <a:spcPts val="0"/>
              </a:spcAft>
              <a:buClr>
                <a:schemeClr val="dk1"/>
              </a:buClr>
              <a:buSzPts val="1200"/>
              <a:buFont typeface="Century Gothic"/>
              <a:buChar char="●"/>
            </a:pPr>
            <a:r>
              <a:rPr lang="en-US" sz="1200" dirty="0">
                <a:solidFill>
                  <a:schemeClr val="dk1"/>
                </a:solidFill>
                <a:latin typeface="Century Gothic"/>
                <a:ea typeface="Century Gothic"/>
                <a:cs typeface="Century Gothic"/>
                <a:sym typeface="Century Gothic"/>
              </a:rPr>
              <a:t>DELINQ: Number of delinquent credit lines (past due payments)</a:t>
            </a:r>
            <a:endParaRPr dirty="0"/>
          </a:p>
          <a:p>
            <a:pPr marL="457200" lvl="0" indent="-304800" algn="l" rtl="0">
              <a:lnSpc>
                <a:spcPct val="150000"/>
              </a:lnSpc>
              <a:spcBef>
                <a:spcPts val="1000"/>
              </a:spcBef>
              <a:spcAft>
                <a:spcPts val="0"/>
              </a:spcAft>
              <a:buClr>
                <a:schemeClr val="dk1"/>
              </a:buClr>
              <a:buSzPts val="1200"/>
              <a:buFont typeface="Century Gothic"/>
              <a:buChar char="●"/>
            </a:pPr>
            <a:r>
              <a:rPr lang="en-US" sz="1200" dirty="0">
                <a:solidFill>
                  <a:schemeClr val="dk1"/>
                </a:solidFill>
                <a:latin typeface="Century Gothic"/>
                <a:ea typeface="Century Gothic"/>
                <a:cs typeface="Century Gothic"/>
                <a:sym typeface="Century Gothic"/>
              </a:rPr>
              <a:t>CLAGE: Age of the oldest credit line in months</a:t>
            </a:r>
            <a:endParaRPr dirty="0"/>
          </a:p>
          <a:p>
            <a:pPr marL="457200" lvl="0" indent="-304800" algn="l" rtl="0">
              <a:lnSpc>
                <a:spcPct val="150000"/>
              </a:lnSpc>
              <a:spcBef>
                <a:spcPts val="1000"/>
              </a:spcBef>
              <a:spcAft>
                <a:spcPts val="0"/>
              </a:spcAft>
              <a:buClr>
                <a:schemeClr val="dk1"/>
              </a:buClr>
              <a:buSzPts val="1200"/>
              <a:buFont typeface="Century Gothic"/>
              <a:buChar char="●"/>
            </a:pPr>
            <a:r>
              <a:rPr lang="en-US" sz="1200" dirty="0">
                <a:solidFill>
                  <a:schemeClr val="dk1"/>
                </a:solidFill>
                <a:latin typeface="Century Gothic"/>
                <a:ea typeface="Century Gothic"/>
                <a:cs typeface="Century Gothic"/>
                <a:sym typeface="Century Gothic"/>
              </a:rPr>
              <a:t>NINQ: Number of recent credit inquiries</a:t>
            </a:r>
            <a:endParaRPr dirty="0"/>
          </a:p>
          <a:p>
            <a:pPr marL="457200" lvl="0" indent="-304800" algn="l" rtl="0">
              <a:lnSpc>
                <a:spcPct val="150000"/>
              </a:lnSpc>
              <a:spcBef>
                <a:spcPts val="1000"/>
              </a:spcBef>
              <a:spcAft>
                <a:spcPts val="0"/>
              </a:spcAft>
              <a:buClr>
                <a:schemeClr val="dk1"/>
              </a:buClr>
              <a:buSzPts val="1200"/>
              <a:buFont typeface="Century Gothic"/>
              <a:buChar char="●"/>
            </a:pPr>
            <a:r>
              <a:rPr lang="en-US" sz="1200" dirty="0">
                <a:solidFill>
                  <a:schemeClr val="dk1"/>
                </a:solidFill>
                <a:latin typeface="Century Gothic"/>
                <a:ea typeface="Century Gothic"/>
                <a:cs typeface="Century Gothic"/>
                <a:sym typeface="Century Gothic"/>
              </a:rPr>
              <a:t>CLNO: Number of existing credit lines</a:t>
            </a:r>
            <a:endParaRPr dirty="0"/>
          </a:p>
          <a:p>
            <a:pPr marL="457200" lvl="0" indent="-304800" algn="l" rtl="0">
              <a:lnSpc>
                <a:spcPct val="150000"/>
              </a:lnSpc>
              <a:spcBef>
                <a:spcPts val="1000"/>
              </a:spcBef>
              <a:spcAft>
                <a:spcPts val="0"/>
              </a:spcAft>
              <a:buClr>
                <a:schemeClr val="dk1"/>
              </a:buClr>
              <a:buSzPts val="1200"/>
              <a:buFont typeface="Century Gothic"/>
              <a:buChar char="●"/>
            </a:pPr>
            <a:r>
              <a:rPr lang="en-US" sz="1200" dirty="0">
                <a:solidFill>
                  <a:schemeClr val="dk1"/>
                </a:solidFill>
                <a:latin typeface="Century Gothic"/>
                <a:ea typeface="Century Gothic"/>
                <a:cs typeface="Century Gothic"/>
                <a:sym typeface="Century Gothic"/>
              </a:rPr>
              <a:t>DEBTINC: Debt-to-income ratio (all monthly debt payments divided by gross monthly income)</a:t>
            </a:r>
            <a:endParaRPr dirty="0"/>
          </a:p>
          <a:p>
            <a:pPr marL="914400" lvl="0" indent="-228600" algn="l" rtl="0">
              <a:lnSpc>
                <a:spcPct val="115000"/>
              </a:lnSpc>
              <a:spcBef>
                <a:spcPts val="1000"/>
              </a:spcBef>
              <a:spcAft>
                <a:spcPts val="0"/>
              </a:spcAft>
              <a:buClr>
                <a:srgbClr val="2D3B45"/>
              </a:buClr>
              <a:buSzPts val="1200"/>
              <a:buFont typeface="Century Gothic"/>
              <a:buNone/>
            </a:pPr>
            <a:endParaRPr sz="1200" dirty="0">
              <a:solidFill>
                <a:schemeClr val="dk1"/>
              </a:solidFill>
              <a:latin typeface="Century Gothic"/>
              <a:ea typeface="Century Gothic"/>
              <a:cs typeface="Century Gothic"/>
              <a:sym typeface="Century Gothic"/>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39"/>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US" dirty="0">
                <a:solidFill>
                  <a:schemeClr val="lt2"/>
                </a:solidFill>
                <a:latin typeface="Century Gothic"/>
                <a:ea typeface="Century Gothic"/>
                <a:cs typeface="Century Gothic"/>
                <a:sym typeface="Century Gothic"/>
              </a:rPr>
              <a:t>Business Problem Overview and Solution Approach</a:t>
            </a:r>
          </a:p>
        </p:txBody>
      </p:sp>
      <p:sp>
        <p:nvSpPr>
          <p:cNvPr id="183" name="Google Shape;183;p39"/>
          <p:cNvSpPr txBox="1">
            <a:spLocks noGrp="1"/>
          </p:cNvSpPr>
          <p:nvPr>
            <p:ph type="body" idx="1"/>
          </p:nvPr>
        </p:nvSpPr>
        <p:spPr>
          <a:xfrm>
            <a:off x="202550" y="1116751"/>
            <a:ext cx="8629800" cy="2662237"/>
          </a:xfrm>
          <a:prstGeom prst="rect">
            <a:avLst/>
          </a:prstGeom>
          <a:noFill/>
          <a:ln>
            <a:noFill/>
          </a:ln>
        </p:spPr>
        <p:txBody>
          <a:bodyPr spcFirstLastPara="1" wrap="square" lIns="91425" tIns="91425" rIns="91425" bIns="91425" anchor="t" anchorCtr="0">
            <a:spAutoFit/>
          </a:bodyPr>
          <a:lstStyle/>
          <a:p>
            <a:r>
              <a:rPr lang="en-US" sz="1400" b="1" dirty="0">
                <a:latin typeface="Century Gothic" panose="020B0502020202020204" pitchFamily="34" charset="0"/>
              </a:rPr>
              <a:t>The Problem: </a:t>
            </a:r>
            <a:r>
              <a:rPr lang="en-US" sz="1400" dirty="0">
                <a:latin typeface="Century Gothic" panose="020B0502020202020204" pitchFamily="34" charset="0"/>
              </a:rPr>
              <a:t>The retail bank faces critical financial risk derived from Non-Performing Assets (NPAs), which directly erode the profitability of the mortgage portfolio. The current approval process is manual, inefficient, and vulnerable to human bias, preventing an objective risk assessment and hindering regulatory compliance (Equal Credit Opportunity Act).</a:t>
            </a:r>
          </a:p>
          <a:p>
            <a:endParaRPr lang="en-US" sz="1400" dirty="0">
              <a:latin typeface="Century Gothic" panose="020B0502020202020204" pitchFamily="34" charset="0"/>
            </a:endParaRPr>
          </a:p>
          <a:p>
            <a:r>
              <a:rPr lang="en-US" sz="1400" b="1" dirty="0">
                <a:latin typeface="Century Gothic" panose="020B0502020202020204" pitchFamily="34" charset="0"/>
              </a:rPr>
              <a:t>Solution Approach: </a:t>
            </a:r>
            <a:r>
              <a:rPr lang="en-US" sz="1400" dirty="0">
                <a:latin typeface="Century Gothic" panose="020B0502020202020204" pitchFamily="34" charset="0"/>
              </a:rPr>
              <a:t>To mitigate this risk, an analytical strategy based on historical data has been implemented to transition towards an automated decision-making system. The solution consists of the development of a Neural Network model capable of detecting complex non-linear default patterns, which can additionally be analyzed to justify loan rejections for regulatory compliance.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1">
          <a:extLst>
            <a:ext uri="{FF2B5EF4-FFF2-40B4-BE49-F238E27FC236}">
              <a16:creationId xmlns:a16="http://schemas.microsoft.com/office/drawing/2014/main" id="{DD585CDC-1EED-FC70-785E-EF5289BC2B58}"/>
            </a:ext>
          </a:extLst>
        </p:cNvPr>
        <p:cNvGrpSpPr/>
        <p:nvPr/>
      </p:nvGrpSpPr>
      <p:grpSpPr>
        <a:xfrm>
          <a:off x="0" y="0"/>
          <a:ext cx="0" cy="0"/>
          <a:chOff x="0" y="0"/>
          <a:chExt cx="0" cy="0"/>
        </a:xfrm>
      </p:grpSpPr>
      <p:sp>
        <p:nvSpPr>
          <p:cNvPr id="182" name="Google Shape;182;p39">
            <a:extLst>
              <a:ext uri="{FF2B5EF4-FFF2-40B4-BE49-F238E27FC236}">
                <a16:creationId xmlns:a16="http://schemas.microsoft.com/office/drawing/2014/main" id="{9BFB51CD-0154-9D60-5487-6C97C043A47B}"/>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US" dirty="0">
                <a:solidFill>
                  <a:schemeClr val="lt2"/>
                </a:solidFill>
                <a:latin typeface="Century Gothic"/>
                <a:ea typeface="Century Gothic"/>
                <a:cs typeface="Century Gothic"/>
                <a:sym typeface="Century Gothic"/>
              </a:rPr>
              <a:t>Business Problem Overview and Solution Approach</a:t>
            </a:r>
          </a:p>
        </p:txBody>
      </p:sp>
      <p:sp>
        <p:nvSpPr>
          <p:cNvPr id="183" name="Google Shape;183;p39">
            <a:extLst>
              <a:ext uri="{FF2B5EF4-FFF2-40B4-BE49-F238E27FC236}">
                <a16:creationId xmlns:a16="http://schemas.microsoft.com/office/drawing/2014/main" id="{D7277E71-C1BB-2854-76CD-C757E6FC49B7}"/>
              </a:ext>
            </a:extLst>
          </p:cNvPr>
          <p:cNvSpPr txBox="1">
            <a:spLocks noGrp="1"/>
          </p:cNvSpPr>
          <p:nvPr>
            <p:ph type="body" idx="1"/>
          </p:nvPr>
        </p:nvSpPr>
        <p:spPr>
          <a:xfrm>
            <a:off x="202550" y="1043044"/>
            <a:ext cx="8629800" cy="3801523"/>
          </a:xfrm>
          <a:prstGeom prst="rect">
            <a:avLst/>
          </a:prstGeom>
          <a:noFill/>
          <a:ln>
            <a:noFill/>
          </a:ln>
        </p:spPr>
        <p:txBody>
          <a:bodyPr spcFirstLastPara="1" wrap="square" lIns="91425" tIns="91425" rIns="91425" bIns="91425" anchor="t" anchorCtr="0">
            <a:spAutoFit/>
          </a:bodyPr>
          <a:lstStyle/>
          <a:p>
            <a:r>
              <a:rPr lang="en-US" sz="1400" dirty="0">
                <a:latin typeface="Century Gothic" panose="020B0502020202020204" pitchFamily="34" charset="0"/>
              </a:rPr>
              <a:t>A credit risk predictive model was developed using RapidMiner, starting with advanced data preprocessing that included missing value imputation via k-Nearest Neighbors (k-NN), feature engineering to capture debt concealment behaviors, and variable normalization.</a:t>
            </a:r>
          </a:p>
          <a:p>
            <a:endParaRPr lang="en-US" sz="1400" dirty="0">
              <a:latin typeface="Century Gothic" panose="020B0502020202020204" pitchFamily="34" charset="0"/>
            </a:endParaRPr>
          </a:p>
          <a:p>
            <a:r>
              <a:rPr lang="en-US" sz="1400" dirty="0">
                <a:latin typeface="Century Gothic" panose="020B0502020202020204" pitchFamily="34" charset="0"/>
              </a:rPr>
              <a:t>The core analysis focused on training Neural Networks in three phases:</a:t>
            </a:r>
          </a:p>
          <a:p>
            <a:pPr lvl="1"/>
            <a:r>
              <a:rPr lang="en-US" sz="1200" b="1" dirty="0">
                <a:latin typeface="Century Gothic" panose="020B0502020202020204" pitchFamily="34" charset="0"/>
              </a:rPr>
              <a:t>First:</a:t>
            </a:r>
            <a:r>
              <a:rPr lang="en-US" sz="1200" dirty="0">
                <a:latin typeface="Century Gothic" panose="020B0502020202020204" pitchFamily="34" charset="0"/>
              </a:rPr>
              <a:t> Establishing a baseline model to define the general architecture.</a:t>
            </a:r>
          </a:p>
          <a:p>
            <a:pPr lvl="1"/>
            <a:r>
              <a:rPr lang="en-US" sz="1200" b="1" dirty="0">
                <a:latin typeface="Century Gothic" panose="020B0502020202020204" pitchFamily="34" charset="0"/>
              </a:rPr>
              <a:t>Second:</a:t>
            </a:r>
            <a:r>
              <a:rPr lang="en-US" sz="1200" dirty="0">
                <a:latin typeface="Century Gothic" panose="020B0502020202020204" pitchFamily="34" charset="0"/>
              </a:rPr>
              <a:t> Developing a model optimized through parameter tuning.</a:t>
            </a:r>
          </a:p>
          <a:p>
            <a:pPr lvl="1"/>
            <a:r>
              <a:rPr lang="en-US" sz="1200" b="1" dirty="0">
                <a:latin typeface="Century Gothic" panose="020B0502020202020204" pitchFamily="34" charset="0"/>
              </a:rPr>
              <a:t>Third:</a:t>
            </a:r>
            <a:r>
              <a:rPr lang="en-US" sz="1200" dirty="0">
                <a:latin typeface="Century Gothic" panose="020B0502020202020204" pitchFamily="34" charset="0"/>
              </a:rPr>
              <a:t> Implementing a model that incorporates automatic optimization (Grid Search) and Cross-Validation to ensure statistical stability.</a:t>
            </a:r>
          </a:p>
          <a:p>
            <a:pPr lvl="1"/>
            <a:endParaRPr lang="en-US" sz="1200" dirty="0">
              <a:latin typeface="Century Gothic" panose="020B0502020202020204" pitchFamily="34" charset="0"/>
            </a:endParaRPr>
          </a:p>
          <a:p>
            <a:r>
              <a:rPr lang="en-US" sz="1400" dirty="0">
                <a:latin typeface="Century Gothic" panose="020B0502020202020204" pitchFamily="34" charset="0"/>
              </a:rPr>
              <a:t>Ultimately, the models were compared to select the best performer and derive significant insights.</a:t>
            </a:r>
          </a:p>
        </p:txBody>
      </p:sp>
    </p:spTree>
    <p:extLst>
      <p:ext uri="{BB962C8B-B14F-4D97-AF65-F5344CB8AC3E}">
        <p14:creationId xmlns:p14="http://schemas.microsoft.com/office/powerpoint/2010/main" val="26072437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40"/>
          <p:cNvSpPr txBox="1"/>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200"/>
              <a:buFont typeface="Arial"/>
              <a:buNone/>
            </a:pPr>
            <a:r>
              <a:rPr lang="en-US" sz="2200" b="1" i="0" u="none" strike="noStrike" cap="none" dirty="0">
                <a:solidFill>
                  <a:schemeClr val="lt2"/>
                </a:solidFill>
                <a:latin typeface="Century Gothic"/>
                <a:ea typeface="Century Gothic"/>
                <a:cs typeface="Century Gothic"/>
                <a:sym typeface="Century Gothic"/>
              </a:rPr>
              <a:t>Exploratory Data Analysis</a:t>
            </a:r>
          </a:p>
        </p:txBody>
      </p:sp>
      <p:sp>
        <p:nvSpPr>
          <p:cNvPr id="190" name="Google Shape;190;p40"/>
          <p:cNvSpPr txBox="1">
            <a:spLocks noGrp="1"/>
          </p:cNvSpPr>
          <p:nvPr>
            <p:ph type="body" idx="1"/>
          </p:nvPr>
        </p:nvSpPr>
        <p:spPr>
          <a:xfrm>
            <a:off x="202550" y="3242617"/>
            <a:ext cx="3717600" cy="1056156"/>
          </a:xfrm>
          <a:prstGeom prst="rect">
            <a:avLst/>
          </a:prstGeom>
          <a:noFill/>
          <a:ln>
            <a:noFill/>
          </a:ln>
        </p:spPr>
        <p:txBody>
          <a:bodyPr spcFirstLastPara="1" wrap="square" lIns="91425" tIns="91425" rIns="91425" bIns="91425" anchor="t" anchorCtr="0">
            <a:spAutoFit/>
          </a:bodyPr>
          <a:lstStyle/>
          <a:p>
            <a:pPr marL="139700" lvl="0" indent="0" algn="just">
              <a:spcBef>
                <a:spcPts val="1000"/>
              </a:spcBef>
              <a:buClr>
                <a:schemeClr val="dk1"/>
              </a:buClr>
              <a:buSzPts val="1400"/>
              <a:buNone/>
            </a:pPr>
            <a:r>
              <a:rPr lang="en-US" sz="1400" dirty="0">
                <a:latin typeface="Century Gothic" panose="020B0502020202020204" pitchFamily="34" charset="0"/>
              </a:rPr>
              <a:t>Reveals an expectedly imbalanced distribution, with a default prevalence of 19.9%. </a:t>
            </a:r>
            <a:endParaRPr lang="en-US" sz="1400" dirty="0">
              <a:solidFill>
                <a:schemeClr val="dk1"/>
              </a:solidFill>
              <a:latin typeface="Century Gothic" panose="020B0502020202020204" pitchFamily="34" charset="0"/>
              <a:ea typeface="Century Gothic"/>
              <a:cs typeface="Century Gothic"/>
              <a:sym typeface="Century Gothic"/>
            </a:endParaRPr>
          </a:p>
        </p:txBody>
      </p:sp>
      <p:pic>
        <p:nvPicPr>
          <p:cNvPr id="3" name="Imagen 2">
            <a:extLst>
              <a:ext uri="{FF2B5EF4-FFF2-40B4-BE49-F238E27FC236}">
                <a16:creationId xmlns:a16="http://schemas.microsoft.com/office/drawing/2014/main" id="{876F8546-20CE-F910-DBF3-02769405E7CE}"/>
              </a:ext>
            </a:extLst>
          </p:cNvPr>
          <p:cNvPicPr>
            <a:picLocks noChangeAspect="1"/>
          </p:cNvPicPr>
          <p:nvPr/>
        </p:nvPicPr>
        <p:blipFill>
          <a:blip r:embed="rId3"/>
          <a:stretch>
            <a:fillRect/>
          </a:stretch>
        </p:blipFill>
        <p:spPr>
          <a:xfrm>
            <a:off x="293543" y="861979"/>
            <a:ext cx="1870742" cy="2524017"/>
          </a:xfrm>
          <a:prstGeom prst="rect">
            <a:avLst/>
          </a:prstGeom>
        </p:spPr>
      </p:pic>
      <p:pic>
        <p:nvPicPr>
          <p:cNvPr id="5" name="Imagen 4">
            <a:extLst>
              <a:ext uri="{FF2B5EF4-FFF2-40B4-BE49-F238E27FC236}">
                <a16:creationId xmlns:a16="http://schemas.microsoft.com/office/drawing/2014/main" id="{568DF765-18B3-CD82-62E2-C528DD8B9F34}"/>
              </a:ext>
            </a:extLst>
          </p:cNvPr>
          <p:cNvPicPr>
            <a:picLocks noChangeAspect="1"/>
          </p:cNvPicPr>
          <p:nvPr/>
        </p:nvPicPr>
        <p:blipFill>
          <a:blip r:embed="rId4"/>
          <a:stretch>
            <a:fillRect/>
          </a:stretch>
        </p:blipFill>
        <p:spPr>
          <a:xfrm>
            <a:off x="4106413" y="1246441"/>
            <a:ext cx="5050411" cy="323850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3" name="CuadroTexto 2">
            <a:extLst>
              <a:ext uri="{FF2B5EF4-FFF2-40B4-BE49-F238E27FC236}">
                <a16:creationId xmlns:a16="http://schemas.microsoft.com/office/drawing/2014/main" id="{F10C319D-C7CD-D763-7D01-A52452047818}"/>
              </a:ext>
            </a:extLst>
          </p:cNvPr>
          <p:cNvSpPr txBox="1"/>
          <p:nvPr/>
        </p:nvSpPr>
        <p:spPr>
          <a:xfrm>
            <a:off x="137843" y="3102781"/>
            <a:ext cx="4105997" cy="1169551"/>
          </a:xfrm>
          <a:prstGeom prst="rect">
            <a:avLst/>
          </a:prstGeom>
          <a:noFill/>
        </p:spPr>
        <p:txBody>
          <a:bodyPr wrap="square">
            <a:spAutoFit/>
          </a:bodyPr>
          <a:lstStyle/>
          <a:p>
            <a:r>
              <a:rPr lang="en-US" dirty="0">
                <a:latin typeface="Century Gothic" panose="020B0502020202020204" pitchFamily="34" charset="0"/>
              </a:rPr>
              <a:t>It is vital to impute missing values.</a:t>
            </a:r>
          </a:p>
          <a:p>
            <a:endParaRPr lang="en-US" dirty="0">
              <a:latin typeface="Century Gothic" panose="020B0502020202020204" pitchFamily="34" charset="0"/>
            </a:endParaRPr>
          </a:p>
          <a:p>
            <a:r>
              <a:rPr lang="en-US" dirty="0">
                <a:latin typeface="Century Gothic" panose="020B0502020202020204" pitchFamily="34" charset="0"/>
              </a:rPr>
              <a:t>Addressing outliers is critical because neural networks are hypersensitive to extreme scales.</a:t>
            </a:r>
          </a:p>
        </p:txBody>
      </p:sp>
      <p:pic>
        <p:nvPicPr>
          <p:cNvPr id="5" name="Imagen 4">
            <a:extLst>
              <a:ext uri="{FF2B5EF4-FFF2-40B4-BE49-F238E27FC236}">
                <a16:creationId xmlns:a16="http://schemas.microsoft.com/office/drawing/2014/main" id="{7AECC021-8F96-E02A-2E93-D643000328D1}"/>
              </a:ext>
            </a:extLst>
          </p:cNvPr>
          <p:cNvPicPr>
            <a:picLocks noChangeAspect="1"/>
          </p:cNvPicPr>
          <p:nvPr/>
        </p:nvPicPr>
        <p:blipFill>
          <a:blip r:embed="rId3"/>
          <a:stretch>
            <a:fillRect/>
          </a:stretch>
        </p:blipFill>
        <p:spPr>
          <a:xfrm>
            <a:off x="3938256" y="568856"/>
            <a:ext cx="5205743" cy="3389675"/>
          </a:xfrm>
          <a:prstGeom prst="rect">
            <a:avLst/>
          </a:prstGeom>
        </p:spPr>
      </p:pic>
      <p:pic>
        <p:nvPicPr>
          <p:cNvPr id="7" name="Imagen 6">
            <a:extLst>
              <a:ext uri="{FF2B5EF4-FFF2-40B4-BE49-F238E27FC236}">
                <a16:creationId xmlns:a16="http://schemas.microsoft.com/office/drawing/2014/main" id="{45F0B7F5-252E-CDC0-9FC1-7354420CC89D}"/>
              </a:ext>
            </a:extLst>
          </p:cNvPr>
          <p:cNvPicPr>
            <a:picLocks noChangeAspect="1"/>
          </p:cNvPicPr>
          <p:nvPr/>
        </p:nvPicPr>
        <p:blipFill>
          <a:blip r:embed="rId4"/>
          <a:stretch>
            <a:fillRect/>
          </a:stretch>
        </p:blipFill>
        <p:spPr>
          <a:xfrm>
            <a:off x="211530" y="320278"/>
            <a:ext cx="2135958" cy="2695375"/>
          </a:xfrm>
          <a:prstGeom prst="rect">
            <a:avLst/>
          </a:prstGeom>
        </p:spPr>
      </p:pic>
      <p:pic>
        <p:nvPicPr>
          <p:cNvPr id="9" name="Imagen 8">
            <a:extLst>
              <a:ext uri="{FF2B5EF4-FFF2-40B4-BE49-F238E27FC236}">
                <a16:creationId xmlns:a16="http://schemas.microsoft.com/office/drawing/2014/main" id="{C4595D6E-9868-84A8-6181-5F2451B792A8}"/>
              </a:ext>
            </a:extLst>
          </p:cNvPr>
          <p:cNvPicPr>
            <a:picLocks noChangeAspect="1"/>
          </p:cNvPicPr>
          <p:nvPr/>
        </p:nvPicPr>
        <p:blipFill>
          <a:blip r:embed="rId5"/>
          <a:stretch>
            <a:fillRect/>
          </a:stretch>
        </p:blipFill>
        <p:spPr>
          <a:xfrm>
            <a:off x="4112759" y="3945049"/>
            <a:ext cx="4570550" cy="1015678"/>
          </a:xfrm>
          <a:prstGeom prst="rect">
            <a:avLst/>
          </a:prstGeom>
        </p:spPr>
      </p:pic>
      <p:sp>
        <p:nvSpPr>
          <p:cNvPr id="10" name="Elipse 9">
            <a:extLst>
              <a:ext uri="{FF2B5EF4-FFF2-40B4-BE49-F238E27FC236}">
                <a16:creationId xmlns:a16="http://schemas.microsoft.com/office/drawing/2014/main" id="{B9C4CA3C-23C7-CFBA-C90D-1918577E1EEE}"/>
              </a:ext>
            </a:extLst>
          </p:cNvPr>
          <p:cNvSpPr/>
          <p:nvPr/>
        </p:nvSpPr>
        <p:spPr>
          <a:xfrm>
            <a:off x="7999255" y="4390516"/>
            <a:ext cx="502571" cy="184128"/>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3" name="CuadroTexto 2">
            <a:extLst>
              <a:ext uri="{FF2B5EF4-FFF2-40B4-BE49-F238E27FC236}">
                <a16:creationId xmlns:a16="http://schemas.microsoft.com/office/drawing/2014/main" id="{E3962F3D-FCA0-57F5-A80C-36EA9BEC4997}"/>
              </a:ext>
            </a:extLst>
          </p:cNvPr>
          <p:cNvSpPr txBox="1"/>
          <p:nvPr/>
        </p:nvSpPr>
        <p:spPr>
          <a:xfrm>
            <a:off x="194066" y="3051019"/>
            <a:ext cx="3750094" cy="954107"/>
          </a:xfrm>
          <a:prstGeom prst="rect">
            <a:avLst/>
          </a:prstGeom>
          <a:noFill/>
        </p:spPr>
        <p:txBody>
          <a:bodyPr wrap="square">
            <a:spAutoFit/>
          </a:bodyPr>
          <a:lstStyle/>
          <a:p>
            <a:r>
              <a:rPr lang="en-US" dirty="0">
                <a:latin typeface="Century Gothic" panose="020B0502020202020204" pitchFamily="34" charset="0"/>
              </a:rPr>
              <a:t>The CLNO variable has a quasi-normal distribution favorable for modeling, requiring only a simple imputation of missing values ​​(3.72%) and normalization.</a:t>
            </a:r>
          </a:p>
        </p:txBody>
      </p:sp>
      <p:pic>
        <p:nvPicPr>
          <p:cNvPr id="5" name="Imagen 4">
            <a:extLst>
              <a:ext uri="{FF2B5EF4-FFF2-40B4-BE49-F238E27FC236}">
                <a16:creationId xmlns:a16="http://schemas.microsoft.com/office/drawing/2014/main" id="{A889C9F7-CD7C-2C8C-14B2-A8BF3ED83E25}"/>
              </a:ext>
            </a:extLst>
          </p:cNvPr>
          <p:cNvPicPr>
            <a:picLocks noChangeAspect="1"/>
          </p:cNvPicPr>
          <p:nvPr/>
        </p:nvPicPr>
        <p:blipFill>
          <a:blip r:embed="rId3"/>
          <a:stretch>
            <a:fillRect/>
          </a:stretch>
        </p:blipFill>
        <p:spPr>
          <a:xfrm>
            <a:off x="194066" y="271603"/>
            <a:ext cx="1879178" cy="2332447"/>
          </a:xfrm>
          <a:prstGeom prst="rect">
            <a:avLst/>
          </a:prstGeom>
        </p:spPr>
      </p:pic>
      <p:pic>
        <p:nvPicPr>
          <p:cNvPr id="7" name="Imagen 6">
            <a:extLst>
              <a:ext uri="{FF2B5EF4-FFF2-40B4-BE49-F238E27FC236}">
                <a16:creationId xmlns:a16="http://schemas.microsoft.com/office/drawing/2014/main" id="{5BF379E9-E3E6-08D7-3150-F6F005DDA0BA}"/>
              </a:ext>
            </a:extLst>
          </p:cNvPr>
          <p:cNvPicPr>
            <a:picLocks noChangeAspect="1"/>
          </p:cNvPicPr>
          <p:nvPr/>
        </p:nvPicPr>
        <p:blipFill>
          <a:blip r:embed="rId4"/>
          <a:stretch>
            <a:fillRect/>
          </a:stretch>
        </p:blipFill>
        <p:spPr>
          <a:xfrm>
            <a:off x="3944160" y="1195058"/>
            <a:ext cx="5199840" cy="336710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9">
          <a:extLst>
            <a:ext uri="{FF2B5EF4-FFF2-40B4-BE49-F238E27FC236}">
              <a16:creationId xmlns:a16="http://schemas.microsoft.com/office/drawing/2014/main" id="{87EF8AF3-228D-5BB3-6839-05E2A88AF2CB}"/>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6F17B5AD-B95A-2BD8-9551-4EDC0EE9D8EB}"/>
              </a:ext>
            </a:extLst>
          </p:cNvPr>
          <p:cNvSpPr txBox="1"/>
          <p:nvPr/>
        </p:nvSpPr>
        <p:spPr>
          <a:xfrm>
            <a:off x="368174" y="2571750"/>
            <a:ext cx="3533121" cy="1815882"/>
          </a:xfrm>
          <a:prstGeom prst="rect">
            <a:avLst/>
          </a:prstGeom>
          <a:noFill/>
        </p:spPr>
        <p:txBody>
          <a:bodyPr wrap="square">
            <a:spAutoFit/>
          </a:bodyPr>
          <a:lstStyle/>
          <a:p>
            <a:r>
              <a:rPr lang="en-US" noProof="0">
                <a:latin typeface="Century Gothic" panose="020B0502020202020204" pitchFamily="34" charset="0"/>
              </a:rPr>
              <a:t>There are outliers that act as statistical noise, representing errors or anomalous situations that do not reflect real market behavior and distort the model.</a:t>
            </a:r>
          </a:p>
          <a:p>
            <a:endParaRPr lang="en-US" noProof="0" dirty="0">
              <a:latin typeface="Century Gothic" panose="020B0502020202020204" pitchFamily="34" charset="0"/>
            </a:endParaRPr>
          </a:p>
          <a:p>
            <a:r>
              <a:rPr lang="en-US" noProof="0" dirty="0">
                <a:latin typeface="Century Gothic" panose="020B0502020202020204" pitchFamily="34" charset="0"/>
              </a:rPr>
              <a:t>Additionally, a significant amount of missing data has been identified.</a:t>
            </a:r>
          </a:p>
        </p:txBody>
      </p:sp>
      <p:pic>
        <p:nvPicPr>
          <p:cNvPr id="4" name="Imagen 3">
            <a:extLst>
              <a:ext uri="{FF2B5EF4-FFF2-40B4-BE49-F238E27FC236}">
                <a16:creationId xmlns:a16="http://schemas.microsoft.com/office/drawing/2014/main" id="{64336266-5847-F65D-764B-5650DE5538DE}"/>
              </a:ext>
            </a:extLst>
          </p:cNvPr>
          <p:cNvPicPr>
            <a:picLocks noChangeAspect="1"/>
          </p:cNvPicPr>
          <p:nvPr/>
        </p:nvPicPr>
        <p:blipFill>
          <a:blip r:embed="rId3"/>
          <a:stretch>
            <a:fillRect/>
          </a:stretch>
        </p:blipFill>
        <p:spPr>
          <a:xfrm>
            <a:off x="3725938" y="727478"/>
            <a:ext cx="5306079" cy="3104191"/>
          </a:xfrm>
          <a:prstGeom prst="rect">
            <a:avLst/>
          </a:prstGeom>
        </p:spPr>
      </p:pic>
      <p:pic>
        <p:nvPicPr>
          <p:cNvPr id="14" name="Imagen 13">
            <a:extLst>
              <a:ext uri="{FF2B5EF4-FFF2-40B4-BE49-F238E27FC236}">
                <a16:creationId xmlns:a16="http://schemas.microsoft.com/office/drawing/2014/main" id="{0F740063-EE07-23DF-9A90-4A4056E53B14}"/>
              </a:ext>
            </a:extLst>
          </p:cNvPr>
          <p:cNvPicPr>
            <a:picLocks noChangeAspect="1"/>
          </p:cNvPicPr>
          <p:nvPr/>
        </p:nvPicPr>
        <p:blipFill>
          <a:blip r:embed="rId4"/>
          <a:stretch>
            <a:fillRect/>
          </a:stretch>
        </p:blipFill>
        <p:spPr>
          <a:xfrm>
            <a:off x="368174" y="271075"/>
            <a:ext cx="1895192" cy="2300675"/>
          </a:xfrm>
          <a:prstGeom prst="rect">
            <a:avLst/>
          </a:prstGeom>
        </p:spPr>
      </p:pic>
      <p:pic>
        <p:nvPicPr>
          <p:cNvPr id="16" name="Imagen 15">
            <a:extLst>
              <a:ext uri="{FF2B5EF4-FFF2-40B4-BE49-F238E27FC236}">
                <a16:creationId xmlns:a16="http://schemas.microsoft.com/office/drawing/2014/main" id="{C70DB30E-2415-0A77-75E2-FD870DEA5853}"/>
              </a:ext>
            </a:extLst>
          </p:cNvPr>
          <p:cNvPicPr>
            <a:picLocks noChangeAspect="1"/>
          </p:cNvPicPr>
          <p:nvPr/>
        </p:nvPicPr>
        <p:blipFill>
          <a:blip r:embed="rId5"/>
          <a:stretch>
            <a:fillRect/>
          </a:stretch>
        </p:blipFill>
        <p:spPr>
          <a:xfrm>
            <a:off x="4309668" y="3805074"/>
            <a:ext cx="4313976" cy="1131884"/>
          </a:xfrm>
          <a:prstGeom prst="rect">
            <a:avLst/>
          </a:prstGeom>
        </p:spPr>
      </p:pic>
      <p:sp>
        <p:nvSpPr>
          <p:cNvPr id="17" name="Elipse 16">
            <a:extLst>
              <a:ext uri="{FF2B5EF4-FFF2-40B4-BE49-F238E27FC236}">
                <a16:creationId xmlns:a16="http://schemas.microsoft.com/office/drawing/2014/main" id="{33E169E4-0471-31CB-A3C0-9B7C1E194704}"/>
              </a:ext>
            </a:extLst>
          </p:cNvPr>
          <p:cNvSpPr/>
          <p:nvPr/>
        </p:nvSpPr>
        <p:spPr>
          <a:xfrm>
            <a:off x="7722606" y="4309450"/>
            <a:ext cx="570368" cy="217283"/>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Tree>
    <p:extLst>
      <p:ext uri="{BB962C8B-B14F-4D97-AF65-F5344CB8AC3E}">
        <p14:creationId xmlns:p14="http://schemas.microsoft.com/office/powerpoint/2010/main" val="26209956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9">
          <a:extLst>
            <a:ext uri="{FF2B5EF4-FFF2-40B4-BE49-F238E27FC236}">
              <a16:creationId xmlns:a16="http://schemas.microsoft.com/office/drawing/2014/main" id="{0F0C3A2C-C6FF-CFF9-8378-CDC19A9299F8}"/>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871BC54A-F570-3DA7-F2DD-8D27A8865D29}"/>
              </a:ext>
            </a:extLst>
          </p:cNvPr>
          <p:cNvSpPr txBox="1"/>
          <p:nvPr/>
        </p:nvSpPr>
        <p:spPr>
          <a:xfrm>
            <a:off x="368174" y="2571750"/>
            <a:ext cx="3533121" cy="1600438"/>
          </a:xfrm>
          <a:prstGeom prst="rect">
            <a:avLst/>
          </a:prstGeom>
          <a:noFill/>
        </p:spPr>
        <p:txBody>
          <a:bodyPr wrap="square">
            <a:spAutoFit/>
          </a:bodyPr>
          <a:lstStyle/>
          <a:p>
            <a:r>
              <a:rPr lang="es-CL" dirty="0" err="1">
                <a:latin typeface="Century Gothic" panose="020B0502020202020204" pitchFamily="34" charset="0"/>
              </a:rPr>
              <a:t>The</a:t>
            </a:r>
            <a:r>
              <a:rPr lang="es-CL" dirty="0">
                <a:latin typeface="Century Gothic" panose="020B0502020202020204" pitchFamily="34" charset="0"/>
              </a:rPr>
              <a:t> </a:t>
            </a:r>
            <a:r>
              <a:rPr lang="es-CL" dirty="0" err="1">
                <a:latin typeface="Century Gothic" panose="020B0502020202020204" pitchFamily="34" charset="0"/>
              </a:rPr>
              <a:t>distribution</a:t>
            </a:r>
            <a:r>
              <a:rPr lang="es-CL" dirty="0">
                <a:latin typeface="Century Gothic" panose="020B0502020202020204" pitchFamily="34" charset="0"/>
              </a:rPr>
              <a:t> </a:t>
            </a:r>
            <a:r>
              <a:rPr lang="es-CL" dirty="0" err="1">
                <a:latin typeface="Century Gothic" panose="020B0502020202020204" pitchFamily="34" charset="0"/>
              </a:rPr>
              <a:t>is</a:t>
            </a:r>
            <a:r>
              <a:rPr lang="es-CL" dirty="0">
                <a:latin typeface="Century Gothic" panose="020B0502020202020204" pitchFamily="34" charset="0"/>
              </a:rPr>
              <a:t> </a:t>
            </a:r>
            <a:r>
              <a:rPr lang="es-CL" dirty="0" err="1">
                <a:latin typeface="Century Gothic" panose="020B0502020202020204" pitchFamily="34" charset="0"/>
              </a:rPr>
              <a:t>highly</a:t>
            </a:r>
            <a:r>
              <a:rPr lang="es-CL" dirty="0">
                <a:latin typeface="Century Gothic" panose="020B0502020202020204" pitchFamily="34" charset="0"/>
              </a:rPr>
              <a:t> </a:t>
            </a:r>
            <a:r>
              <a:rPr lang="es-CL" dirty="0" err="1">
                <a:latin typeface="Century Gothic" panose="020B0502020202020204" pitchFamily="34" charset="0"/>
              </a:rPr>
              <a:t>skewed</a:t>
            </a:r>
            <a:r>
              <a:rPr lang="es-CL" dirty="0">
                <a:latin typeface="Century Gothic" panose="020B0502020202020204" pitchFamily="34" charset="0"/>
              </a:rPr>
              <a:t>, as </a:t>
            </a:r>
            <a:r>
              <a:rPr lang="es-CL" dirty="0" err="1">
                <a:latin typeface="Century Gothic" panose="020B0502020202020204" pitchFamily="34" charset="0"/>
              </a:rPr>
              <a:t>expected</a:t>
            </a:r>
            <a:r>
              <a:rPr lang="es-CL" dirty="0">
                <a:latin typeface="Century Gothic" panose="020B0502020202020204" pitchFamily="34" charset="0"/>
              </a:rPr>
              <a:t> </a:t>
            </a:r>
            <a:r>
              <a:rPr lang="es-CL" dirty="0" err="1">
                <a:latin typeface="Century Gothic" panose="020B0502020202020204" pitchFamily="34" charset="0"/>
              </a:rPr>
              <a:t>with</a:t>
            </a:r>
            <a:r>
              <a:rPr lang="es-CL" dirty="0">
                <a:latin typeface="Century Gothic" panose="020B0502020202020204" pitchFamily="34" charset="0"/>
              </a:rPr>
              <a:t> </a:t>
            </a:r>
            <a:r>
              <a:rPr lang="es-CL" dirty="0" err="1">
                <a:latin typeface="Century Gothic" panose="020B0502020202020204" pitchFamily="34" charset="0"/>
              </a:rPr>
              <a:t>zero</a:t>
            </a:r>
            <a:r>
              <a:rPr lang="es-CL" dirty="0">
                <a:latin typeface="Century Gothic" panose="020B0502020202020204" pitchFamily="34" charset="0"/>
              </a:rPr>
              <a:t> </a:t>
            </a:r>
            <a:r>
              <a:rPr lang="es-CL" dirty="0" err="1">
                <a:latin typeface="Century Gothic" panose="020B0502020202020204" pitchFamily="34" charset="0"/>
              </a:rPr>
              <a:t>inflation</a:t>
            </a:r>
            <a:r>
              <a:rPr lang="es-CL" dirty="0">
                <a:latin typeface="Century Gothic" panose="020B0502020202020204" pitchFamily="34" charset="0"/>
              </a:rPr>
              <a:t>, </a:t>
            </a:r>
            <a:r>
              <a:rPr lang="es-CL" dirty="0" err="1">
                <a:latin typeface="Century Gothic" panose="020B0502020202020204" pitchFamily="34" charset="0"/>
              </a:rPr>
              <a:t>indicating</a:t>
            </a:r>
            <a:r>
              <a:rPr lang="es-CL" dirty="0">
                <a:latin typeface="Century Gothic" panose="020B0502020202020204" pitchFamily="34" charset="0"/>
              </a:rPr>
              <a:t> </a:t>
            </a:r>
            <a:r>
              <a:rPr lang="es-CL" dirty="0" err="1">
                <a:latin typeface="Century Gothic" panose="020B0502020202020204" pitchFamily="34" charset="0"/>
              </a:rPr>
              <a:t>that</a:t>
            </a:r>
            <a:r>
              <a:rPr lang="es-CL" dirty="0">
                <a:latin typeface="Century Gothic" panose="020B0502020202020204" pitchFamily="34" charset="0"/>
              </a:rPr>
              <a:t> </a:t>
            </a:r>
            <a:r>
              <a:rPr lang="es-CL" dirty="0" err="1">
                <a:latin typeface="Century Gothic" panose="020B0502020202020204" pitchFamily="34" charset="0"/>
              </a:rPr>
              <a:t>most</a:t>
            </a:r>
            <a:r>
              <a:rPr lang="es-CL" dirty="0">
                <a:latin typeface="Century Gothic" panose="020B0502020202020204" pitchFamily="34" charset="0"/>
              </a:rPr>
              <a:t> </a:t>
            </a:r>
            <a:r>
              <a:rPr lang="es-CL" dirty="0" err="1">
                <a:latin typeface="Century Gothic" panose="020B0502020202020204" pitchFamily="34" charset="0"/>
              </a:rPr>
              <a:t>applicants</a:t>
            </a:r>
            <a:r>
              <a:rPr lang="es-CL" dirty="0">
                <a:latin typeface="Century Gothic" panose="020B0502020202020204" pitchFamily="34" charset="0"/>
              </a:rPr>
              <a:t> </a:t>
            </a:r>
            <a:r>
              <a:rPr lang="es-CL" dirty="0" err="1">
                <a:latin typeface="Century Gothic" panose="020B0502020202020204" pitchFamily="34" charset="0"/>
              </a:rPr>
              <a:t>have</a:t>
            </a:r>
            <a:r>
              <a:rPr lang="es-CL" dirty="0">
                <a:latin typeface="Century Gothic" panose="020B0502020202020204" pitchFamily="34" charset="0"/>
              </a:rPr>
              <a:t> no </a:t>
            </a:r>
            <a:r>
              <a:rPr lang="es-CL" dirty="0" err="1">
                <a:latin typeface="Century Gothic" panose="020B0502020202020204" pitchFamily="34" charset="0"/>
              </a:rPr>
              <a:t>history</a:t>
            </a:r>
            <a:r>
              <a:rPr lang="es-CL" dirty="0">
                <a:latin typeface="Century Gothic" panose="020B0502020202020204" pitchFamily="34" charset="0"/>
              </a:rPr>
              <a:t> </a:t>
            </a:r>
            <a:r>
              <a:rPr lang="es-CL" dirty="0" err="1">
                <a:latin typeface="Century Gothic" panose="020B0502020202020204" pitchFamily="34" charset="0"/>
              </a:rPr>
              <a:t>of</a:t>
            </a:r>
            <a:r>
              <a:rPr lang="es-CL" dirty="0">
                <a:latin typeface="Century Gothic" panose="020B0502020202020204" pitchFamily="34" charset="0"/>
              </a:rPr>
              <a:t> default.</a:t>
            </a:r>
          </a:p>
          <a:p>
            <a:endParaRPr lang="es-CL" dirty="0">
              <a:latin typeface="Century Gothic" panose="020B0502020202020204" pitchFamily="34" charset="0"/>
            </a:endParaRPr>
          </a:p>
          <a:p>
            <a:r>
              <a:rPr lang="es-CL" dirty="0" err="1">
                <a:latin typeface="Century Gothic" panose="020B0502020202020204" pitchFamily="34" charset="0"/>
              </a:rPr>
              <a:t>Additionally</a:t>
            </a:r>
            <a:r>
              <a:rPr lang="es-CL" dirty="0">
                <a:latin typeface="Century Gothic" panose="020B0502020202020204" pitchFamily="34" charset="0"/>
              </a:rPr>
              <a:t>, a </a:t>
            </a:r>
            <a:r>
              <a:rPr lang="es-CL" dirty="0" err="1">
                <a:latin typeface="Century Gothic" panose="020B0502020202020204" pitchFamily="34" charset="0"/>
              </a:rPr>
              <a:t>significant</a:t>
            </a:r>
            <a:r>
              <a:rPr lang="es-CL" dirty="0">
                <a:latin typeface="Century Gothic" panose="020B0502020202020204" pitchFamily="34" charset="0"/>
              </a:rPr>
              <a:t> </a:t>
            </a:r>
            <a:r>
              <a:rPr lang="es-CL" dirty="0" err="1">
                <a:latin typeface="Century Gothic" panose="020B0502020202020204" pitchFamily="34" charset="0"/>
              </a:rPr>
              <a:t>amount</a:t>
            </a:r>
            <a:r>
              <a:rPr lang="es-CL" dirty="0">
                <a:latin typeface="Century Gothic" panose="020B0502020202020204" pitchFamily="34" charset="0"/>
              </a:rPr>
              <a:t> </a:t>
            </a:r>
            <a:r>
              <a:rPr lang="es-CL" dirty="0" err="1">
                <a:latin typeface="Century Gothic" panose="020B0502020202020204" pitchFamily="34" charset="0"/>
              </a:rPr>
              <a:t>of</a:t>
            </a:r>
            <a:r>
              <a:rPr lang="es-CL" dirty="0">
                <a:latin typeface="Century Gothic" panose="020B0502020202020204" pitchFamily="34" charset="0"/>
              </a:rPr>
              <a:t> </a:t>
            </a:r>
            <a:r>
              <a:rPr lang="es-CL" dirty="0" err="1">
                <a:latin typeface="Century Gothic" panose="020B0502020202020204" pitchFamily="34" charset="0"/>
              </a:rPr>
              <a:t>missing</a:t>
            </a:r>
            <a:r>
              <a:rPr lang="es-CL" dirty="0">
                <a:latin typeface="Century Gothic" panose="020B0502020202020204" pitchFamily="34" charset="0"/>
              </a:rPr>
              <a:t> </a:t>
            </a:r>
            <a:r>
              <a:rPr lang="es-CL" dirty="0" err="1">
                <a:latin typeface="Century Gothic" panose="020B0502020202020204" pitchFamily="34" charset="0"/>
              </a:rPr>
              <a:t>values</a:t>
            </a:r>
            <a:r>
              <a:rPr lang="es-CL" dirty="0">
                <a:latin typeface="Century Gothic" panose="020B0502020202020204" pitchFamily="34" charset="0"/>
              </a:rPr>
              <a:t> </a:t>
            </a:r>
            <a:r>
              <a:rPr lang="es-CL" dirty="0" err="1">
                <a:latin typeface="Century Gothic" panose="020B0502020202020204" pitchFamily="34" charset="0"/>
              </a:rPr>
              <a:t>was</a:t>
            </a:r>
            <a:r>
              <a:rPr lang="es-CL" dirty="0">
                <a:latin typeface="Century Gothic" panose="020B0502020202020204" pitchFamily="34" charset="0"/>
              </a:rPr>
              <a:t> </a:t>
            </a:r>
            <a:r>
              <a:rPr lang="es-CL" dirty="0" err="1">
                <a:latin typeface="Century Gothic" panose="020B0502020202020204" pitchFamily="34" charset="0"/>
              </a:rPr>
              <a:t>identified</a:t>
            </a:r>
            <a:r>
              <a:rPr lang="es-CL" dirty="0">
                <a:latin typeface="Century Gothic" panose="020B0502020202020204" pitchFamily="34" charset="0"/>
              </a:rPr>
              <a:t>.</a:t>
            </a:r>
          </a:p>
        </p:txBody>
      </p:sp>
      <p:pic>
        <p:nvPicPr>
          <p:cNvPr id="5" name="Imagen 4">
            <a:extLst>
              <a:ext uri="{FF2B5EF4-FFF2-40B4-BE49-F238E27FC236}">
                <a16:creationId xmlns:a16="http://schemas.microsoft.com/office/drawing/2014/main" id="{B9B5513A-939D-6415-1C2B-B14DA6E04A08}"/>
              </a:ext>
            </a:extLst>
          </p:cNvPr>
          <p:cNvPicPr>
            <a:picLocks noChangeAspect="1"/>
          </p:cNvPicPr>
          <p:nvPr/>
        </p:nvPicPr>
        <p:blipFill>
          <a:blip r:embed="rId3"/>
          <a:stretch>
            <a:fillRect/>
          </a:stretch>
        </p:blipFill>
        <p:spPr>
          <a:xfrm>
            <a:off x="245222" y="129742"/>
            <a:ext cx="1857825" cy="2260938"/>
          </a:xfrm>
          <a:prstGeom prst="rect">
            <a:avLst/>
          </a:prstGeom>
        </p:spPr>
      </p:pic>
      <p:pic>
        <p:nvPicPr>
          <p:cNvPr id="7" name="Imagen 6">
            <a:extLst>
              <a:ext uri="{FF2B5EF4-FFF2-40B4-BE49-F238E27FC236}">
                <a16:creationId xmlns:a16="http://schemas.microsoft.com/office/drawing/2014/main" id="{A643F134-C0FA-19EA-16AE-2D423E28D853}"/>
              </a:ext>
            </a:extLst>
          </p:cNvPr>
          <p:cNvPicPr>
            <a:picLocks noChangeAspect="1"/>
          </p:cNvPicPr>
          <p:nvPr/>
        </p:nvPicPr>
        <p:blipFill>
          <a:blip r:embed="rId4"/>
          <a:stretch>
            <a:fillRect/>
          </a:stretch>
        </p:blipFill>
        <p:spPr>
          <a:xfrm>
            <a:off x="3906764" y="1260211"/>
            <a:ext cx="5147918" cy="3342864"/>
          </a:xfrm>
          <a:prstGeom prst="rect">
            <a:avLst/>
          </a:prstGeom>
        </p:spPr>
      </p:pic>
    </p:spTree>
    <p:extLst>
      <p:ext uri="{BB962C8B-B14F-4D97-AF65-F5344CB8AC3E}">
        <p14:creationId xmlns:p14="http://schemas.microsoft.com/office/powerpoint/2010/main" val="39703382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43"/>
          <p:cNvSpPr txBox="1">
            <a:spLocks noGrp="1"/>
          </p:cNvSpPr>
          <p:nvPr>
            <p:ph type="body" idx="1"/>
          </p:nvPr>
        </p:nvSpPr>
        <p:spPr>
          <a:xfrm>
            <a:off x="202550" y="1183062"/>
            <a:ext cx="8629800" cy="3706800"/>
          </a:xfrm>
          <a:prstGeom prst="rect">
            <a:avLst/>
          </a:prstGeom>
          <a:noFill/>
          <a:ln>
            <a:noFill/>
          </a:ln>
        </p:spPr>
        <p:txBody>
          <a:bodyPr spcFirstLastPara="1" wrap="square" lIns="91425" tIns="91425" rIns="91425" bIns="91425" anchor="t" anchorCtr="0">
            <a:noAutofit/>
          </a:bodyPr>
          <a:lstStyle/>
          <a:p>
            <a:r>
              <a:rPr lang="en-US" dirty="0">
                <a:latin typeface="Century Gothic" panose="020B0502020202020204" pitchFamily="34" charset="0"/>
              </a:rPr>
              <a:t>It is vital to impute or fill in missing values ​​because Neural Networks do not process null inputs. Filling in this data ensures the technical feasibility of the matrix calculation without sacrificing valuable sample information. To do this, each variable will undergo an analysis to determine how to maintain objectivity as much as possible and avoid introducing bias into the model.</a:t>
            </a:r>
          </a:p>
          <a:p>
            <a:endParaRPr lang="en-US" dirty="0">
              <a:latin typeface="Century Gothic" panose="020B0502020202020204" pitchFamily="34" charset="0"/>
            </a:endParaRPr>
          </a:p>
          <a:p>
            <a:r>
              <a:rPr lang="en-US" dirty="0">
                <a:latin typeface="Century Gothic" panose="020B0502020202020204" pitchFamily="34" charset="0"/>
              </a:rPr>
              <a:t>The variables need to be standardized/normalized due to their large variance differences. These values ​​must be transformed to prevent them from distorting the weights and the learning of general patterns.</a:t>
            </a:r>
          </a:p>
          <a:p>
            <a:endParaRPr lang="en-US" dirty="0">
              <a:latin typeface="Century Gothic" panose="020B0502020202020204" pitchFamily="34" charset="0"/>
            </a:endParaRPr>
          </a:p>
          <a:p>
            <a:r>
              <a:rPr lang="en-US" dirty="0">
                <a:latin typeface="Century Gothic" panose="020B0502020202020204" pitchFamily="34" charset="0"/>
              </a:rPr>
              <a:t>It is positive to confirm that the LOAN variable has no missing values ​​because knowing the loan amount for each client is essential for model development.</a:t>
            </a:r>
          </a:p>
          <a:p>
            <a:pPr marL="139700" indent="0" algn="just">
              <a:buSzPts val="1400"/>
              <a:buNone/>
            </a:pPr>
            <a:endParaRPr lang="en-US" sz="1400" dirty="0">
              <a:latin typeface="Century Gothic" panose="020B0502020202020204" pitchFamily="34" charset="0"/>
            </a:endParaRPr>
          </a:p>
          <a:p>
            <a:pPr marL="139700" lvl="0" indent="0" algn="just" rtl="0">
              <a:lnSpc>
                <a:spcPct val="115000"/>
              </a:lnSpc>
              <a:spcBef>
                <a:spcPts val="0"/>
              </a:spcBef>
              <a:spcAft>
                <a:spcPts val="0"/>
              </a:spcAft>
              <a:buSzPts val="1400"/>
              <a:buNone/>
            </a:pPr>
            <a:endParaRPr lang="en-US" sz="1400" dirty="0">
              <a:latin typeface="Century Gothic" panose="020B0502020202020204" pitchFamily="34" charset="0"/>
            </a:endParaRPr>
          </a:p>
          <a:p>
            <a:pPr marL="139700" lvl="0" indent="0" algn="just" rtl="0">
              <a:lnSpc>
                <a:spcPct val="115000"/>
              </a:lnSpc>
              <a:spcBef>
                <a:spcPts val="0"/>
              </a:spcBef>
              <a:spcAft>
                <a:spcPts val="0"/>
              </a:spcAft>
              <a:buSzPts val="1400"/>
              <a:buNone/>
            </a:pPr>
            <a:endParaRPr lang="en-US" sz="1400" dirty="0">
              <a:latin typeface="Century Gothic" panose="020B0502020202020204" pitchFamily="34" charset="0"/>
            </a:endParaRPr>
          </a:p>
        </p:txBody>
      </p:sp>
      <p:sp>
        <p:nvSpPr>
          <p:cNvPr id="3" name="CuadroTexto 2">
            <a:extLst>
              <a:ext uri="{FF2B5EF4-FFF2-40B4-BE49-F238E27FC236}">
                <a16:creationId xmlns:a16="http://schemas.microsoft.com/office/drawing/2014/main" id="{B9863A93-427C-356A-A625-0FCE12A0F1BB}"/>
              </a:ext>
            </a:extLst>
          </p:cNvPr>
          <p:cNvSpPr txBox="1"/>
          <p:nvPr/>
        </p:nvSpPr>
        <p:spPr>
          <a:xfrm>
            <a:off x="339505" y="353106"/>
            <a:ext cx="4572000" cy="430887"/>
          </a:xfrm>
          <a:prstGeom prst="rect">
            <a:avLst/>
          </a:prstGeom>
          <a:noFill/>
        </p:spPr>
        <p:txBody>
          <a:bodyPr wrap="square">
            <a:spAutoFit/>
          </a:bodyPr>
          <a:lstStyle/>
          <a:p>
            <a:r>
              <a:rPr lang="en-US" sz="2200" b="1" i="0" u="none" strike="noStrike" cap="none" dirty="0">
                <a:solidFill>
                  <a:schemeClr val="lt2"/>
                </a:solidFill>
                <a:latin typeface="Century Gothic"/>
                <a:ea typeface="Century Gothic"/>
                <a:cs typeface="Century Gothic"/>
                <a:sym typeface="Century Gothic"/>
              </a:rPr>
              <a:t>Summary of Initial EDA</a:t>
            </a:r>
            <a:endParaRPr lang="en-US" sz="2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4">
          <a:extLst>
            <a:ext uri="{FF2B5EF4-FFF2-40B4-BE49-F238E27FC236}">
              <a16:creationId xmlns:a16="http://schemas.microsoft.com/office/drawing/2014/main" id="{6B3F60ED-D889-5430-1F42-A3861B50AC78}"/>
            </a:ext>
          </a:extLst>
        </p:cNvPr>
        <p:cNvGrpSpPr/>
        <p:nvPr/>
      </p:nvGrpSpPr>
      <p:grpSpPr>
        <a:xfrm>
          <a:off x="0" y="0"/>
          <a:ext cx="0" cy="0"/>
          <a:chOff x="0" y="0"/>
          <a:chExt cx="0" cy="0"/>
        </a:xfrm>
      </p:grpSpPr>
      <p:sp>
        <p:nvSpPr>
          <p:cNvPr id="205" name="Google Shape;205;p43">
            <a:extLst>
              <a:ext uri="{FF2B5EF4-FFF2-40B4-BE49-F238E27FC236}">
                <a16:creationId xmlns:a16="http://schemas.microsoft.com/office/drawing/2014/main" id="{B236074D-22C8-C334-D5CF-8C34410A65ED}"/>
              </a:ext>
            </a:extLst>
          </p:cNvPr>
          <p:cNvSpPr txBox="1">
            <a:spLocks noGrp="1"/>
          </p:cNvSpPr>
          <p:nvPr>
            <p:ph type="body" idx="1"/>
          </p:nvPr>
        </p:nvSpPr>
        <p:spPr>
          <a:xfrm>
            <a:off x="202550" y="1183062"/>
            <a:ext cx="8629800" cy="3706800"/>
          </a:xfrm>
          <a:prstGeom prst="rect">
            <a:avLst/>
          </a:prstGeom>
          <a:noFill/>
          <a:ln>
            <a:noFill/>
          </a:ln>
        </p:spPr>
        <p:txBody>
          <a:bodyPr spcFirstLastPara="1" wrap="square" lIns="91425" tIns="91425" rIns="91425" bIns="91425" anchor="t" anchorCtr="0">
            <a:noAutofit/>
          </a:bodyPr>
          <a:lstStyle/>
          <a:p>
            <a:r>
              <a:rPr lang="en-US" sz="1400" dirty="0">
                <a:latin typeface="Century Gothic" panose="020B0502020202020204" pitchFamily="34" charset="0"/>
              </a:rPr>
              <a:t>For JOB variable, the ”</a:t>
            </a:r>
            <a:r>
              <a:rPr lang="en-US" sz="1400" dirty="0" err="1">
                <a:latin typeface="Century Gothic" panose="020B0502020202020204" pitchFamily="34" charset="0"/>
              </a:rPr>
              <a:t>Desconocido</a:t>
            </a:r>
            <a:r>
              <a:rPr lang="en-US" sz="1400" dirty="0">
                <a:latin typeface="Century Gothic" panose="020B0502020202020204" pitchFamily="34" charset="0"/>
              </a:rPr>
              <a:t>" category was created for missing values.</a:t>
            </a:r>
          </a:p>
          <a:p>
            <a:endParaRPr lang="en-US" sz="1400" dirty="0">
              <a:latin typeface="Century Gothic" panose="020B0502020202020204" pitchFamily="34" charset="0"/>
            </a:endParaRPr>
          </a:p>
          <a:p>
            <a:r>
              <a:rPr lang="en-US" sz="1400" dirty="0">
                <a:latin typeface="Century Gothic" panose="020B0502020202020204" pitchFamily="34" charset="0"/>
              </a:rPr>
              <a:t>For the DELINQ, DEROG, and NINQ variables, missing values ​​were filled with 0. This is because if a client has no negative records, a certain degree of bank innocence is assumed.</a:t>
            </a:r>
          </a:p>
          <a:p>
            <a:endParaRPr lang="en-US" sz="1400" dirty="0">
              <a:latin typeface="Century Gothic" panose="020B0502020202020204" pitchFamily="34" charset="0"/>
            </a:endParaRPr>
          </a:p>
          <a:p>
            <a:r>
              <a:rPr lang="en-US" sz="1400" dirty="0">
                <a:latin typeface="Century Gothic" panose="020B0502020202020204" pitchFamily="34" charset="0"/>
              </a:rPr>
              <a:t>The VALUE, MORTDUE, DEBTINC, CLAGE, CLNO, and YOJ variables were correlated with LOAN using K-NN. Additionally, an attribute, </a:t>
            </a:r>
            <a:r>
              <a:rPr lang="en-US" sz="1400" dirty="0" err="1">
                <a:latin typeface="Century Gothic" panose="020B0502020202020204" pitchFamily="34" charset="0"/>
              </a:rPr>
              <a:t>DEBTINC_Flag</a:t>
            </a:r>
            <a:r>
              <a:rPr lang="en-US" sz="1400" dirty="0">
                <a:latin typeface="Century Gothic" panose="020B0502020202020204" pitchFamily="34" charset="0"/>
              </a:rPr>
              <a:t>, was created to identify clients whose data is not declared in DEBTINC.</a:t>
            </a:r>
          </a:p>
          <a:p>
            <a:endParaRPr lang="en-US" sz="1400" dirty="0">
              <a:latin typeface="Century Gothic" panose="020B0502020202020204" pitchFamily="34" charset="0"/>
            </a:endParaRPr>
          </a:p>
          <a:p>
            <a:r>
              <a:rPr lang="en-US" sz="1400" dirty="0">
                <a:latin typeface="Century Gothic" panose="020B0502020202020204" pitchFamily="34" charset="0"/>
              </a:rPr>
              <a:t>Capping was performed on the CLAGE, DEBTINC, and DELINQ variables to eliminate outliers that negatively affect the normalization process.</a:t>
            </a:r>
          </a:p>
          <a:p>
            <a:endParaRPr lang="en-US" sz="1400" dirty="0">
              <a:latin typeface="Century Gothic" panose="020B0502020202020204" pitchFamily="34" charset="0"/>
            </a:endParaRPr>
          </a:p>
          <a:p>
            <a:r>
              <a:rPr lang="en-US" sz="1400" dirty="0">
                <a:latin typeface="Century Gothic" panose="020B0502020202020204" pitchFamily="34" charset="0"/>
              </a:rPr>
              <a:t>Finally, the data was normalized using the Z-transformation.</a:t>
            </a:r>
          </a:p>
          <a:p>
            <a:endParaRPr lang="en-US" sz="1400" dirty="0">
              <a:latin typeface="Century Gothic" panose="020B0502020202020204" pitchFamily="34" charset="0"/>
            </a:endParaRPr>
          </a:p>
          <a:p>
            <a:pPr marL="139700" lvl="0" indent="0" algn="just" rtl="0">
              <a:lnSpc>
                <a:spcPct val="115000"/>
              </a:lnSpc>
              <a:spcBef>
                <a:spcPts val="0"/>
              </a:spcBef>
              <a:spcAft>
                <a:spcPts val="0"/>
              </a:spcAft>
              <a:buSzPts val="1400"/>
              <a:buNone/>
            </a:pPr>
            <a:endParaRPr lang="en-US" sz="1400" dirty="0">
              <a:latin typeface="Century Gothic" panose="020B0502020202020204" pitchFamily="34" charset="0"/>
            </a:endParaRPr>
          </a:p>
          <a:p>
            <a:pPr marL="139700" lvl="0" indent="0" algn="just" rtl="0">
              <a:lnSpc>
                <a:spcPct val="115000"/>
              </a:lnSpc>
              <a:spcBef>
                <a:spcPts val="0"/>
              </a:spcBef>
              <a:spcAft>
                <a:spcPts val="0"/>
              </a:spcAft>
              <a:buSzPts val="1400"/>
              <a:buNone/>
            </a:pPr>
            <a:endParaRPr lang="en-US" sz="1400" dirty="0">
              <a:latin typeface="Century Gothic" panose="020B0502020202020204" pitchFamily="34" charset="0"/>
            </a:endParaRPr>
          </a:p>
        </p:txBody>
      </p:sp>
      <p:sp>
        <p:nvSpPr>
          <p:cNvPr id="2" name="Google Shape;210;p44">
            <a:extLst>
              <a:ext uri="{FF2B5EF4-FFF2-40B4-BE49-F238E27FC236}">
                <a16:creationId xmlns:a16="http://schemas.microsoft.com/office/drawing/2014/main" id="{D2FC7574-3BBF-7D75-332B-FF314890824D}"/>
              </a:ext>
            </a:extLst>
          </p:cNvPr>
          <p:cNvSpPr txBox="1"/>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200"/>
              <a:buFont typeface="Arial"/>
              <a:buNone/>
            </a:pPr>
            <a:r>
              <a:rPr lang="en-US" sz="2200" b="1" i="0" u="none" strike="noStrike" cap="none" dirty="0">
                <a:solidFill>
                  <a:schemeClr val="lt2"/>
                </a:solidFill>
                <a:latin typeface="Century Gothic"/>
                <a:ea typeface="Century Gothic"/>
                <a:cs typeface="Century Gothic"/>
                <a:sym typeface="Century Gothic"/>
              </a:rPr>
              <a:t>Statistics after Preprocessing:</a:t>
            </a:r>
          </a:p>
        </p:txBody>
      </p:sp>
    </p:spTree>
    <p:extLst>
      <p:ext uri="{BB962C8B-B14F-4D97-AF65-F5344CB8AC3E}">
        <p14:creationId xmlns:p14="http://schemas.microsoft.com/office/powerpoint/2010/main" val="10439058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9">
          <a:extLst>
            <a:ext uri="{FF2B5EF4-FFF2-40B4-BE49-F238E27FC236}">
              <a16:creationId xmlns:a16="http://schemas.microsoft.com/office/drawing/2014/main" id="{40FDB10B-D93F-B231-1F2A-619474BCAA93}"/>
            </a:ext>
          </a:extLst>
        </p:cNvPr>
        <p:cNvGrpSpPr/>
        <p:nvPr/>
      </p:nvGrpSpPr>
      <p:grpSpPr>
        <a:xfrm>
          <a:off x="0" y="0"/>
          <a:ext cx="0" cy="0"/>
          <a:chOff x="0" y="0"/>
          <a:chExt cx="0" cy="0"/>
        </a:xfrm>
      </p:grpSpPr>
      <p:sp>
        <p:nvSpPr>
          <p:cNvPr id="210" name="Google Shape;210;p44">
            <a:extLst>
              <a:ext uri="{FF2B5EF4-FFF2-40B4-BE49-F238E27FC236}">
                <a16:creationId xmlns:a16="http://schemas.microsoft.com/office/drawing/2014/main" id="{37DB3A97-8131-CAF8-A072-8C1326D7D1D4}"/>
              </a:ext>
            </a:extLst>
          </p:cNvPr>
          <p:cNvSpPr txBox="1"/>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200"/>
              <a:buFont typeface="Arial"/>
              <a:buNone/>
            </a:pPr>
            <a:r>
              <a:rPr lang="en-US" sz="2200" b="1" i="0" u="none" strike="noStrike" cap="none">
                <a:solidFill>
                  <a:schemeClr val="lt2"/>
                </a:solidFill>
                <a:latin typeface="Century Gothic"/>
                <a:ea typeface="Century Gothic"/>
                <a:cs typeface="Century Gothic"/>
                <a:sym typeface="Century Gothic"/>
              </a:rPr>
              <a:t>Statistics after Preprocessing:</a:t>
            </a:r>
            <a:endParaRPr sz="2200" b="1" i="0" u="none" strike="noStrike" cap="none">
              <a:solidFill>
                <a:schemeClr val="lt2"/>
              </a:solidFill>
              <a:latin typeface="Century Gothic"/>
              <a:ea typeface="Century Gothic"/>
              <a:cs typeface="Century Gothic"/>
              <a:sym typeface="Century Gothic"/>
            </a:endParaRPr>
          </a:p>
        </p:txBody>
      </p:sp>
      <p:sp>
        <p:nvSpPr>
          <p:cNvPr id="211" name="Google Shape;211;p44">
            <a:extLst>
              <a:ext uri="{FF2B5EF4-FFF2-40B4-BE49-F238E27FC236}">
                <a16:creationId xmlns:a16="http://schemas.microsoft.com/office/drawing/2014/main" id="{6D8CAA78-2359-6ED1-F164-CF5E3859CC1F}"/>
              </a:ext>
            </a:extLst>
          </p:cNvPr>
          <p:cNvSpPr txBox="1">
            <a:spLocks noGrp="1"/>
          </p:cNvSpPr>
          <p:nvPr>
            <p:ph type="body" idx="1"/>
          </p:nvPr>
        </p:nvSpPr>
        <p:spPr>
          <a:xfrm>
            <a:off x="202550" y="728051"/>
            <a:ext cx="8629800" cy="578333"/>
          </a:xfrm>
          <a:prstGeom prst="rect">
            <a:avLst/>
          </a:prstGeom>
          <a:noFill/>
          <a:ln>
            <a:noFill/>
          </a:ln>
        </p:spPr>
        <p:txBody>
          <a:bodyPr spcFirstLastPara="1" wrap="square" lIns="91425" tIns="91425" rIns="91425" bIns="91425" anchor="t" anchorCtr="0">
            <a:spAutoFit/>
          </a:bodyPr>
          <a:lstStyle/>
          <a:p>
            <a:pPr lvl="0" indent="-317500" algn="just">
              <a:spcBef>
                <a:spcPts val="1000"/>
              </a:spcBef>
              <a:buClr>
                <a:schemeClr val="dk1"/>
              </a:buClr>
              <a:buSzPts val="1400"/>
              <a:buFont typeface="Century Gothic"/>
              <a:buChar char="●"/>
            </a:pPr>
            <a:r>
              <a:rPr lang="es-CL" dirty="0" err="1">
                <a:latin typeface="Century Gothic" panose="020B0502020202020204" pitchFamily="34" charset="0"/>
              </a:rPr>
              <a:t>This</a:t>
            </a:r>
            <a:r>
              <a:rPr lang="es-CL" dirty="0">
                <a:latin typeface="Century Gothic" panose="020B0502020202020204" pitchFamily="34" charset="0"/>
              </a:rPr>
              <a:t> </a:t>
            </a:r>
            <a:r>
              <a:rPr lang="es-CL" dirty="0" err="1">
                <a:latin typeface="Century Gothic" panose="020B0502020202020204" pitchFamily="34" charset="0"/>
              </a:rPr>
              <a:t>is</a:t>
            </a:r>
            <a:r>
              <a:rPr lang="es-CL" dirty="0">
                <a:latin typeface="Century Gothic" panose="020B0502020202020204" pitchFamily="34" charset="0"/>
              </a:rPr>
              <a:t> </a:t>
            </a:r>
            <a:r>
              <a:rPr lang="es-CL" dirty="0" err="1">
                <a:latin typeface="Century Gothic" panose="020B0502020202020204" pitchFamily="34" charset="0"/>
              </a:rPr>
              <a:t>the</a:t>
            </a:r>
            <a:r>
              <a:rPr lang="es-CL" dirty="0">
                <a:latin typeface="Century Gothic" panose="020B0502020202020204" pitchFamily="34" charset="0"/>
              </a:rPr>
              <a:t> </a:t>
            </a:r>
            <a:r>
              <a:rPr lang="es-CL" dirty="0" err="1">
                <a:latin typeface="Century Gothic" panose="020B0502020202020204" pitchFamily="34" charset="0"/>
              </a:rPr>
              <a:t>label</a:t>
            </a:r>
            <a:r>
              <a:rPr lang="es-CL" dirty="0">
                <a:latin typeface="Century Gothic" panose="020B0502020202020204" pitchFamily="34" charset="0"/>
              </a:rPr>
              <a:t> variable, similar </a:t>
            </a:r>
            <a:r>
              <a:rPr lang="es-CL" dirty="0" err="1">
                <a:latin typeface="Century Gothic" panose="020B0502020202020204" pitchFamily="34" charset="0"/>
              </a:rPr>
              <a:t>to</a:t>
            </a:r>
            <a:r>
              <a:rPr lang="es-CL" dirty="0">
                <a:latin typeface="Century Gothic" panose="020B0502020202020204" pitchFamily="34" charset="0"/>
              </a:rPr>
              <a:t> BAD </a:t>
            </a:r>
            <a:r>
              <a:rPr lang="es-CL" dirty="0" err="1">
                <a:latin typeface="Century Gothic" panose="020B0502020202020204" pitchFamily="34" charset="0"/>
              </a:rPr>
              <a:t>but</a:t>
            </a:r>
            <a:r>
              <a:rPr lang="es-CL" dirty="0">
                <a:latin typeface="Century Gothic" panose="020B0502020202020204" pitchFamily="34" charset="0"/>
              </a:rPr>
              <a:t> </a:t>
            </a:r>
            <a:r>
              <a:rPr lang="es-CL" dirty="0" err="1">
                <a:latin typeface="Century Gothic" panose="020B0502020202020204" pitchFamily="34" charset="0"/>
              </a:rPr>
              <a:t>categorical</a:t>
            </a:r>
            <a:r>
              <a:rPr lang="es-CL" dirty="0">
                <a:latin typeface="Century Gothic" panose="020B0502020202020204" pitchFamily="34" charset="0"/>
              </a:rPr>
              <a:t>.</a:t>
            </a:r>
            <a:endParaRPr dirty="0">
              <a:latin typeface="Century Gothic" panose="020B0502020202020204" pitchFamily="34" charset="0"/>
            </a:endParaRPr>
          </a:p>
        </p:txBody>
      </p:sp>
      <p:pic>
        <p:nvPicPr>
          <p:cNvPr id="212" name="Google Shape;212;p44">
            <a:extLst>
              <a:ext uri="{FF2B5EF4-FFF2-40B4-BE49-F238E27FC236}">
                <a16:creationId xmlns:a16="http://schemas.microsoft.com/office/drawing/2014/main" id="{634B15F2-B868-A587-FA58-FC4D23FC888B}"/>
              </a:ext>
            </a:extLst>
          </p:cNvPr>
          <p:cNvPicPr preferRelativeResize="0"/>
          <p:nvPr/>
        </p:nvPicPr>
        <p:blipFill rotWithShape="1">
          <a:blip r:embed="rId3">
            <a:alphaModFix/>
          </a:blip>
          <a:srcRect b="11510"/>
          <a:stretch>
            <a:fillRect/>
          </a:stretch>
        </p:blipFill>
        <p:spPr>
          <a:xfrm>
            <a:off x="592124" y="1420034"/>
            <a:ext cx="8131026" cy="3532212"/>
          </a:xfrm>
          <a:prstGeom prst="rect">
            <a:avLst/>
          </a:prstGeom>
          <a:noFill/>
          <a:ln>
            <a:noFill/>
          </a:ln>
        </p:spPr>
      </p:pic>
    </p:spTree>
    <p:extLst>
      <p:ext uri="{BB962C8B-B14F-4D97-AF65-F5344CB8AC3E}">
        <p14:creationId xmlns:p14="http://schemas.microsoft.com/office/powerpoint/2010/main" val="8315370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pic>
        <p:nvPicPr>
          <p:cNvPr id="3" name="Imagen 2">
            <a:extLst>
              <a:ext uri="{FF2B5EF4-FFF2-40B4-BE49-F238E27FC236}">
                <a16:creationId xmlns:a16="http://schemas.microsoft.com/office/drawing/2014/main" id="{FB5C6789-D5F0-7C72-E8C2-0D7E73EBA429}"/>
              </a:ext>
            </a:extLst>
          </p:cNvPr>
          <p:cNvPicPr>
            <a:picLocks noChangeAspect="1"/>
          </p:cNvPicPr>
          <p:nvPr/>
        </p:nvPicPr>
        <p:blipFill>
          <a:blip r:embed="rId3"/>
          <a:stretch>
            <a:fillRect/>
          </a:stretch>
        </p:blipFill>
        <p:spPr>
          <a:xfrm>
            <a:off x="282985" y="616647"/>
            <a:ext cx="8861015" cy="3613325"/>
          </a:xfrm>
          <a:prstGeom prst="rect">
            <a:avLst/>
          </a:prstGeom>
        </p:spPr>
      </p:pic>
      <p:sp>
        <p:nvSpPr>
          <p:cNvPr id="4" name="CuadroTexto 3">
            <a:extLst>
              <a:ext uri="{FF2B5EF4-FFF2-40B4-BE49-F238E27FC236}">
                <a16:creationId xmlns:a16="http://schemas.microsoft.com/office/drawing/2014/main" id="{786A6AF8-0D42-66DF-132C-9DF99585E3D1}"/>
              </a:ext>
            </a:extLst>
          </p:cNvPr>
          <p:cNvSpPr txBox="1"/>
          <p:nvPr/>
        </p:nvSpPr>
        <p:spPr>
          <a:xfrm>
            <a:off x="214624" y="4157521"/>
            <a:ext cx="8217400" cy="523220"/>
          </a:xfrm>
          <a:prstGeom prst="rect">
            <a:avLst/>
          </a:prstGeom>
          <a:noFill/>
        </p:spPr>
        <p:txBody>
          <a:bodyPr wrap="square">
            <a:spAutoFit/>
          </a:bodyPr>
          <a:lstStyle/>
          <a:p>
            <a:r>
              <a:rPr lang="es-CL" dirty="0" err="1">
                <a:latin typeface="Century Gothic" panose="020B0502020202020204" pitchFamily="34" charset="0"/>
              </a:rPr>
              <a:t>Missing</a:t>
            </a:r>
            <a:r>
              <a:rPr lang="es-CL" dirty="0">
                <a:latin typeface="Century Gothic" panose="020B0502020202020204" pitchFamily="34" charset="0"/>
              </a:rPr>
              <a:t> </a:t>
            </a:r>
            <a:r>
              <a:rPr lang="es-CL" dirty="0" err="1">
                <a:latin typeface="Century Gothic" panose="020B0502020202020204" pitchFamily="34" charset="0"/>
              </a:rPr>
              <a:t>values</a:t>
            </a:r>
            <a:r>
              <a:rPr lang="es-CL" dirty="0">
                <a:latin typeface="Century Gothic" panose="020B0502020202020204" pitchFamily="34" charset="0"/>
              </a:rPr>
              <a:t> ​​</a:t>
            </a:r>
            <a:r>
              <a:rPr lang="es-CL" dirty="0" err="1">
                <a:latin typeface="Century Gothic" panose="020B0502020202020204" pitchFamily="34" charset="0"/>
              </a:rPr>
              <a:t>were</a:t>
            </a:r>
            <a:r>
              <a:rPr lang="es-CL" dirty="0">
                <a:latin typeface="Century Gothic" panose="020B0502020202020204" pitchFamily="34" charset="0"/>
              </a:rPr>
              <a:t> </a:t>
            </a:r>
            <a:r>
              <a:rPr lang="es-CL" dirty="0" err="1">
                <a:latin typeface="Century Gothic" panose="020B0502020202020204" pitchFamily="34" charset="0"/>
              </a:rPr>
              <a:t>filled</a:t>
            </a:r>
            <a:r>
              <a:rPr lang="es-CL" dirty="0">
                <a:latin typeface="Century Gothic" panose="020B0502020202020204" pitchFamily="34" charset="0"/>
              </a:rPr>
              <a:t> </a:t>
            </a:r>
            <a:r>
              <a:rPr lang="es-CL" dirty="0" err="1">
                <a:latin typeface="Century Gothic" panose="020B0502020202020204" pitchFamily="34" charset="0"/>
              </a:rPr>
              <a:t>using</a:t>
            </a:r>
            <a:r>
              <a:rPr lang="es-CL" dirty="0">
                <a:latin typeface="Century Gothic" panose="020B0502020202020204" pitchFamily="34" charset="0"/>
              </a:rPr>
              <a:t> K-NN. A </a:t>
            </a:r>
            <a:r>
              <a:rPr lang="es-CL" dirty="0" err="1">
                <a:latin typeface="Century Gothic" panose="020B0502020202020204" pitchFamily="34" charset="0"/>
              </a:rPr>
              <a:t>cap</a:t>
            </a:r>
            <a:r>
              <a:rPr lang="es-CL" dirty="0">
                <a:latin typeface="Century Gothic" panose="020B0502020202020204" pitchFamily="34" charset="0"/>
              </a:rPr>
              <a:t> </a:t>
            </a:r>
            <a:r>
              <a:rPr lang="es-CL" dirty="0" err="1">
                <a:latin typeface="Century Gothic" panose="020B0502020202020204" pitchFamily="34" charset="0"/>
              </a:rPr>
              <a:t>was</a:t>
            </a:r>
            <a:r>
              <a:rPr lang="es-CL" dirty="0">
                <a:latin typeface="Century Gothic" panose="020B0502020202020204" pitchFamily="34" charset="0"/>
              </a:rPr>
              <a:t> </a:t>
            </a:r>
            <a:r>
              <a:rPr lang="es-CL" dirty="0" err="1">
                <a:latin typeface="Century Gothic" panose="020B0502020202020204" pitchFamily="34" charset="0"/>
              </a:rPr>
              <a:t>applied</a:t>
            </a:r>
            <a:r>
              <a:rPr lang="es-CL" dirty="0">
                <a:latin typeface="Century Gothic" panose="020B0502020202020204" pitchFamily="34" charset="0"/>
              </a:rPr>
              <a:t> </a:t>
            </a:r>
            <a:r>
              <a:rPr lang="es-CL" dirty="0" err="1">
                <a:latin typeface="Century Gothic" panose="020B0502020202020204" pitchFamily="34" charset="0"/>
              </a:rPr>
              <a:t>to</a:t>
            </a:r>
            <a:r>
              <a:rPr lang="es-CL" dirty="0">
                <a:latin typeface="Century Gothic" panose="020B0502020202020204" pitchFamily="34" charset="0"/>
              </a:rPr>
              <a:t> </a:t>
            </a:r>
            <a:r>
              <a:rPr lang="es-CL" dirty="0" err="1">
                <a:latin typeface="Century Gothic" panose="020B0502020202020204" pitchFamily="34" charset="0"/>
              </a:rPr>
              <a:t>the</a:t>
            </a:r>
            <a:r>
              <a:rPr lang="es-CL" dirty="0">
                <a:latin typeface="Century Gothic" panose="020B0502020202020204" pitchFamily="34" charset="0"/>
              </a:rPr>
              <a:t> </a:t>
            </a:r>
            <a:r>
              <a:rPr lang="es-CL" dirty="0" err="1">
                <a:latin typeface="Century Gothic" panose="020B0502020202020204" pitchFamily="34" charset="0"/>
              </a:rPr>
              <a:t>value</a:t>
            </a:r>
            <a:r>
              <a:rPr lang="es-CL" dirty="0">
                <a:latin typeface="Century Gothic" panose="020B0502020202020204" pitchFamily="34" charset="0"/>
              </a:rPr>
              <a:t> 700, and </a:t>
            </a:r>
            <a:r>
              <a:rPr lang="es-CL" dirty="0" err="1">
                <a:latin typeface="Century Gothic" panose="020B0502020202020204" pitchFamily="34" charset="0"/>
              </a:rPr>
              <a:t>the</a:t>
            </a:r>
            <a:r>
              <a:rPr lang="es-CL" dirty="0">
                <a:latin typeface="Century Gothic" panose="020B0502020202020204" pitchFamily="34" charset="0"/>
              </a:rPr>
              <a:t> data </a:t>
            </a:r>
            <a:r>
              <a:rPr lang="es-CL" dirty="0" err="1">
                <a:latin typeface="Century Gothic" panose="020B0502020202020204" pitchFamily="34" charset="0"/>
              </a:rPr>
              <a:t>was</a:t>
            </a:r>
            <a:r>
              <a:rPr lang="es-CL" dirty="0">
                <a:latin typeface="Century Gothic" panose="020B0502020202020204" pitchFamily="34" charset="0"/>
              </a:rPr>
              <a:t> </a:t>
            </a:r>
            <a:r>
              <a:rPr lang="es-CL" dirty="0" err="1">
                <a:latin typeface="Century Gothic" panose="020B0502020202020204" pitchFamily="34" charset="0"/>
              </a:rPr>
              <a:t>then</a:t>
            </a:r>
            <a:r>
              <a:rPr lang="es-CL" dirty="0">
                <a:latin typeface="Century Gothic" panose="020B0502020202020204" pitchFamily="34" charset="0"/>
              </a:rPr>
              <a:t> </a:t>
            </a:r>
            <a:r>
              <a:rPr lang="es-CL" dirty="0" err="1">
                <a:latin typeface="Century Gothic" panose="020B0502020202020204" pitchFamily="34" charset="0"/>
              </a:rPr>
              <a:t>normalized</a:t>
            </a:r>
            <a:r>
              <a:rPr lang="es-CL" dirty="0">
                <a:latin typeface="Century Gothic" panose="020B0502020202020204" pitchFamily="34" charset="0"/>
              </a:rPr>
              <a:t> </a:t>
            </a:r>
            <a:r>
              <a:rPr lang="es-CL" dirty="0" err="1">
                <a:latin typeface="Century Gothic" panose="020B0502020202020204" pitchFamily="34" charset="0"/>
              </a:rPr>
              <a:t>to</a:t>
            </a:r>
            <a:r>
              <a:rPr lang="es-CL" dirty="0">
                <a:latin typeface="Century Gothic" panose="020B0502020202020204" pitchFamily="34" charset="0"/>
              </a:rPr>
              <a:t> </a:t>
            </a:r>
            <a:r>
              <a:rPr lang="es-CL" dirty="0" err="1">
                <a:latin typeface="Century Gothic" panose="020B0502020202020204" pitchFamily="34" charset="0"/>
              </a:rPr>
              <a:t>avoid</a:t>
            </a:r>
            <a:r>
              <a:rPr lang="es-CL" dirty="0">
                <a:latin typeface="Century Gothic" panose="020B0502020202020204" pitchFamily="34" charset="0"/>
              </a:rPr>
              <a:t> "</a:t>
            </a:r>
            <a:r>
              <a:rPr lang="es-CL" dirty="0" err="1">
                <a:latin typeface="Century Gothic" panose="020B0502020202020204" pitchFamily="34" charset="0"/>
              </a:rPr>
              <a:t>squashing</a:t>
            </a:r>
            <a:r>
              <a:rPr lang="es-CL" dirty="0">
                <a:latin typeface="Century Gothic" panose="020B0502020202020204" pitchFamily="34" charset="0"/>
              </a:rPr>
              <a:t>" </a:t>
            </a:r>
            <a:r>
              <a:rPr lang="es-CL" dirty="0" err="1">
                <a:latin typeface="Century Gothic" panose="020B0502020202020204" pitchFamily="34" charset="0"/>
              </a:rPr>
              <a:t>the</a:t>
            </a:r>
            <a:r>
              <a:rPr lang="es-CL" dirty="0">
                <a:latin typeface="Century Gothic" panose="020B0502020202020204" pitchFamily="34" charset="0"/>
              </a:rPr>
              <a:t> data.</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pic>
        <p:nvPicPr>
          <p:cNvPr id="3" name="Imagen 2">
            <a:extLst>
              <a:ext uri="{FF2B5EF4-FFF2-40B4-BE49-F238E27FC236}">
                <a16:creationId xmlns:a16="http://schemas.microsoft.com/office/drawing/2014/main" id="{C4E43164-BE8F-C81B-AB45-A7416C6D86A5}"/>
              </a:ext>
            </a:extLst>
          </p:cNvPr>
          <p:cNvPicPr>
            <a:picLocks noChangeAspect="1"/>
          </p:cNvPicPr>
          <p:nvPr/>
        </p:nvPicPr>
        <p:blipFill>
          <a:blip r:embed="rId3"/>
          <a:stretch>
            <a:fillRect/>
          </a:stretch>
        </p:blipFill>
        <p:spPr>
          <a:xfrm>
            <a:off x="291599" y="573390"/>
            <a:ext cx="8852401" cy="3544899"/>
          </a:xfrm>
          <a:prstGeom prst="rect">
            <a:avLst/>
          </a:prstGeom>
        </p:spPr>
      </p:pic>
      <p:sp>
        <p:nvSpPr>
          <p:cNvPr id="5" name="CuadroTexto 4">
            <a:extLst>
              <a:ext uri="{FF2B5EF4-FFF2-40B4-BE49-F238E27FC236}">
                <a16:creationId xmlns:a16="http://schemas.microsoft.com/office/drawing/2014/main" id="{E9CCCCAA-0FBC-B708-A2DF-820253F14CC1}"/>
              </a:ext>
            </a:extLst>
          </p:cNvPr>
          <p:cNvSpPr txBox="1"/>
          <p:nvPr/>
        </p:nvSpPr>
        <p:spPr>
          <a:xfrm>
            <a:off x="291599" y="4093056"/>
            <a:ext cx="8461512" cy="307777"/>
          </a:xfrm>
          <a:prstGeom prst="rect">
            <a:avLst/>
          </a:prstGeom>
          <a:noFill/>
        </p:spPr>
        <p:txBody>
          <a:bodyPr wrap="square">
            <a:spAutoFit/>
          </a:bodyPr>
          <a:lstStyle/>
          <a:p>
            <a:r>
              <a:rPr lang="es-CL" dirty="0">
                <a:latin typeface="Century Gothic" panose="020B0502020202020204" pitchFamily="34" charset="0"/>
              </a:rPr>
              <a:t>Data </a:t>
            </a:r>
            <a:r>
              <a:rPr lang="es-CL" dirty="0" err="1">
                <a:latin typeface="Century Gothic" panose="020B0502020202020204" pitchFamily="34" charset="0"/>
              </a:rPr>
              <a:t>imputation</a:t>
            </a:r>
            <a:r>
              <a:rPr lang="es-CL" dirty="0">
                <a:latin typeface="Century Gothic" panose="020B0502020202020204" pitchFamily="34" charset="0"/>
              </a:rPr>
              <a:t> and </a:t>
            </a:r>
            <a:r>
              <a:rPr lang="es-CL" dirty="0" err="1">
                <a:latin typeface="Century Gothic" panose="020B0502020202020204" pitchFamily="34" charset="0"/>
              </a:rPr>
              <a:t>normalization</a:t>
            </a:r>
            <a:r>
              <a:rPr lang="es-CL" dirty="0">
                <a:latin typeface="Century Gothic" panose="020B0502020202020204" pitchFamily="34" charset="0"/>
              </a:rPr>
              <a:t> </a:t>
            </a:r>
            <a:r>
              <a:rPr lang="es-CL" dirty="0" err="1">
                <a:latin typeface="Century Gothic" panose="020B0502020202020204" pitchFamily="34" charset="0"/>
              </a:rPr>
              <a:t>were</a:t>
            </a:r>
            <a:r>
              <a:rPr lang="es-CL" dirty="0">
                <a:latin typeface="Century Gothic" panose="020B0502020202020204" pitchFamily="34" charset="0"/>
              </a:rPr>
              <a:t> </a:t>
            </a:r>
            <a:r>
              <a:rPr lang="es-CL" dirty="0" err="1">
                <a:latin typeface="Century Gothic" panose="020B0502020202020204" pitchFamily="34" charset="0"/>
              </a:rPr>
              <a:t>performed</a:t>
            </a:r>
            <a:r>
              <a:rPr lang="es-CL" dirty="0">
                <a:latin typeface="Century Gothic" panose="020B0502020202020204" pitchFamily="34" charset="0"/>
              </a:rPr>
              <a: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6">
          <a:extLst>
            <a:ext uri="{FF2B5EF4-FFF2-40B4-BE49-F238E27FC236}">
              <a16:creationId xmlns:a16="http://schemas.microsoft.com/office/drawing/2014/main" id="{FA4B58E0-DF89-C7DE-37F0-C6175EC949C2}"/>
            </a:ext>
          </a:extLst>
        </p:cNvPr>
        <p:cNvGrpSpPr/>
        <p:nvPr/>
      </p:nvGrpSpPr>
      <p:grpSpPr>
        <a:xfrm>
          <a:off x="0" y="0"/>
          <a:ext cx="0" cy="0"/>
          <a:chOff x="0" y="0"/>
          <a:chExt cx="0" cy="0"/>
        </a:xfrm>
      </p:grpSpPr>
      <p:sp>
        <p:nvSpPr>
          <p:cNvPr id="5" name="CuadroTexto 4">
            <a:extLst>
              <a:ext uri="{FF2B5EF4-FFF2-40B4-BE49-F238E27FC236}">
                <a16:creationId xmlns:a16="http://schemas.microsoft.com/office/drawing/2014/main" id="{0335B68A-9B18-9B75-381B-78D01D4CD718}"/>
              </a:ext>
            </a:extLst>
          </p:cNvPr>
          <p:cNvSpPr txBox="1"/>
          <p:nvPr/>
        </p:nvSpPr>
        <p:spPr>
          <a:xfrm>
            <a:off x="291599" y="4093056"/>
            <a:ext cx="8461512" cy="738664"/>
          </a:xfrm>
          <a:prstGeom prst="rect">
            <a:avLst/>
          </a:prstGeom>
          <a:noFill/>
        </p:spPr>
        <p:txBody>
          <a:bodyPr wrap="square">
            <a:spAutoFit/>
          </a:bodyPr>
          <a:lstStyle/>
          <a:p>
            <a:r>
              <a:rPr lang="es-CL" dirty="0">
                <a:latin typeface="Century Gothic" panose="020B0502020202020204" pitchFamily="34" charset="0"/>
              </a:rPr>
              <a:t>Data </a:t>
            </a:r>
            <a:r>
              <a:rPr lang="es-CL" dirty="0" err="1">
                <a:latin typeface="Century Gothic" panose="020B0502020202020204" pitchFamily="34" charset="0"/>
              </a:rPr>
              <a:t>was</a:t>
            </a:r>
            <a:r>
              <a:rPr lang="es-CL" dirty="0">
                <a:latin typeface="Century Gothic" panose="020B0502020202020204" pitchFamily="34" charset="0"/>
              </a:rPr>
              <a:t> </a:t>
            </a:r>
            <a:r>
              <a:rPr lang="es-CL" dirty="0" err="1">
                <a:latin typeface="Century Gothic" panose="020B0502020202020204" pitchFamily="34" charset="0"/>
              </a:rPr>
              <a:t>imputed</a:t>
            </a:r>
            <a:r>
              <a:rPr lang="es-CL" dirty="0">
                <a:latin typeface="Century Gothic" panose="020B0502020202020204" pitchFamily="34" charset="0"/>
              </a:rPr>
              <a:t> </a:t>
            </a:r>
            <a:r>
              <a:rPr lang="es-CL" dirty="0" err="1">
                <a:latin typeface="Century Gothic" panose="020B0502020202020204" pitchFamily="34" charset="0"/>
              </a:rPr>
              <a:t>using</a:t>
            </a:r>
            <a:r>
              <a:rPr lang="es-CL" dirty="0">
                <a:latin typeface="Century Gothic" panose="020B0502020202020204" pitchFamily="34" charset="0"/>
              </a:rPr>
              <a:t> K-NN, </a:t>
            </a:r>
            <a:r>
              <a:rPr lang="es-CL" dirty="0" err="1">
                <a:latin typeface="Century Gothic" panose="020B0502020202020204" pitchFamily="34" charset="0"/>
              </a:rPr>
              <a:t>capped</a:t>
            </a:r>
            <a:r>
              <a:rPr lang="es-CL" dirty="0">
                <a:latin typeface="Century Gothic" panose="020B0502020202020204" pitchFamily="34" charset="0"/>
              </a:rPr>
              <a:t> at </a:t>
            </a:r>
            <a:r>
              <a:rPr lang="es-CL" dirty="0" err="1">
                <a:latin typeface="Century Gothic" panose="020B0502020202020204" pitchFamily="34" charset="0"/>
              </a:rPr>
              <a:t>the</a:t>
            </a:r>
            <a:r>
              <a:rPr lang="es-CL" dirty="0">
                <a:latin typeface="Century Gothic" panose="020B0502020202020204" pitchFamily="34" charset="0"/>
              </a:rPr>
              <a:t> </a:t>
            </a:r>
            <a:r>
              <a:rPr lang="es-CL" dirty="0" err="1">
                <a:latin typeface="Century Gothic" panose="020B0502020202020204" pitchFamily="34" charset="0"/>
              </a:rPr>
              <a:t>value</a:t>
            </a:r>
            <a:r>
              <a:rPr lang="es-CL" dirty="0">
                <a:latin typeface="Century Gothic" panose="020B0502020202020204" pitchFamily="34" charset="0"/>
              </a:rPr>
              <a:t> 70, and </a:t>
            </a:r>
            <a:r>
              <a:rPr lang="es-CL" dirty="0" err="1">
                <a:latin typeface="Century Gothic" panose="020B0502020202020204" pitchFamily="34" charset="0"/>
              </a:rPr>
              <a:t>then</a:t>
            </a:r>
            <a:r>
              <a:rPr lang="es-CL" dirty="0">
                <a:latin typeface="Century Gothic" panose="020B0502020202020204" pitchFamily="34" charset="0"/>
              </a:rPr>
              <a:t> </a:t>
            </a:r>
            <a:r>
              <a:rPr lang="es-CL" dirty="0" err="1">
                <a:latin typeface="Century Gothic" panose="020B0502020202020204" pitchFamily="34" charset="0"/>
              </a:rPr>
              <a:t>normalized</a:t>
            </a:r>
            <a:r>
              <a:rPr lang="es-CL" dirty="0">
                <a:latin typeface="Century Gothic" panose="020B0502020202020204" pitchFamily="34" charset="0"/>
              </a:rPr>
              <a:t>.</a:t>
            </a:r>
          </a:p>
          <a:p>
            <a:endParaRPr lang="es-CL" dirty="0">
              <a:latin typeface="Century Gothic" panose="020B0502020202020204" pitchFamily="34" charset="0"/>
            </a:endParaRPr>
          </a:p>
          <a:p>
            <a:r>
              <a:rPr lang="es-CL" dirty="0" err="1">
                <a:latin typeface="Century Gothic" panose="020B0502020202020204" pitchFamily="34" charset="0"/>
              </a:rPr>
              <a:t>An</a:t>
            </a:r>
            <a:r>
              <a:rPr lang="es-CL" dirty="0">
                <a:latin typeface="Century Gothic" panose="020B0502020202020204" pitchFamily="34" charset="0"/>
              </a:rPr>
              <a:t> </a:t>
            </a:r>
            <a:r>
              <a:rPr lang="es-CL" dirty="0" err="1">
                <a:latin typeface="Century Gothic" panose="020B0502020202020204" pitchFamily="34" charset="0"/>
              </a:rPr>
              <a:t>attribute</a:t>
            </a:r>
            <a:r>
              <a:rPr lang="es-CL" dirty="0">
                <a:latin typeface="Century Gothic" panose="020B0502020202020204" pitchFamily="34" charset="0"/>
              </a:rPr>
              <a:t> </a:t>
            </a:r>
            <a:r>
              <a:rPr lang="es-CL" dirty="0" err="1">
                <a:latin typeface="Century Gothic" panose="020B0502020202020204" pitchFamily="34" charset="0"/>
              </a:rPr>
              <a:t>was</a:t>
            </a:r>
            <a:r>
              <a:rPr lang="es-CL" dirty="0">
                <a:latin typeface="Century Gothic" panose="020B0502020202020204" pitchFamily="34" charset="0"/>
              </a:rPr>
              <a:t> </a:t>
            </a:r>
            <a:r>
              <a:rPr lang="es-CL" dirty="0" err="1">
                <a:latin typeface="Century Gothic" panose="020B0502020202020204" pitchFamily="34" charset="0"/>
              </a:rPr>
              <a:t>created</a:t>
            </a:r>
            <a:r>
              <a:rPr lang="es-CL" dirty="0">
                <a:latin typeface="Century Gothic" panose="020B0502020202020204" pitchFamily="34" charset="0"/>
              </a:rPr>
              <a:t> </a:t>
            </a:r>
            <a:r>
              <a:rPr lang="es-CL" dirty="0" err="1">
                <a:latin typeface="Century Gothic" panose="020B0502020202020204" pitchFamily="34" charset="0"/>
              </a:rPr>
              <a:t>to</a:t>
            </a:r>
            <a:r>
              <a:rPr lang="es-CL" dirty="0">
                <a:latin typeface="Century Gothic" panose="020B0502020202020204" pitchFamily="34" charset="0"/>
              </a:rPr>
              <a:t> </a:t>
            </a:r>
            <a:r>
              <a:rPr lang="es-CL" dirty="0" err="1">
                <a:latin typeface="Century Gothic" panose="020B0502020202020204" pitchFamily="34" charset="0"/>
              </a:rPr>
              <a:t>identify</a:t>
            </a:r>
            <a:r>
              <a:rPr lang="es-CL" dirty="0">
                <a:latin typeface="Century Gothic" panose="020B0502020202020204" pitchFamily="34" charset="0"/>
              </a:rPr>
              <a:t> </a:t>
            </a:r>
            <a:r>
              <a:rPr lang="es-CL" dirty="0" err="1">
                <a:latin typeface="Century Gothic" panose="020B0502020202020204" pitchFamily="34" charset="0"/>
              </a:rPr>
              <a:t>customers</a:t>
            </a:r>
            <a:r>
              <a:rPr lang="es-CL" dirty="0">
                <a:latin typeface="Century Gothic" panose="020B0502020202020204" pitchFamily="34" charset="0"/>
              </a:rPr>
              <a:t> </a:t>
            </a:r>
            <a:r>
              <a:rPr lang="es-CL" dirty="0" err="1">
                <a:latin typeface="Century Gothic" panose="020B0502020202020204" pitchFamily="34" charset="0"/>
              </a:rPr>
              <a:t>with</a:t>
            </a:r>
            <a:r>
              <a:rPr lang="es-CL" dirty="0">
                <a:latin typeface="Century Gothic" panose="020B0502020202020204" pitchFamily="34" charset="0"/>
              </a:rPr>
              <a:t> </a:t>
            </a:r>
            <a:r>
              <a:rPr lang="es-CL" dirty="0" err="1">
                <a:latin typeface="Century Gothic" panose="020B0502020202020204" pitchFamily="34" charset="0"/>
              </a:rPr>
              <a:t>missing</a:t>
            </a:r>
            <a:r>
              <a:rPr lang="es-CL" dirty="0">
                <a:latin typeface="Century Gothic" panose="020B0502020202020204" pitchFamily="34" charset="0"/>
              </a:rPr>
              <a:t> data.</a:t>
            </a:r>
          </a:p>
        </p:txBody>
      </p:sp>
      <p:pic>
        <p:nvPicPr>
          <p:cNvPr id="4" name="Imagen 3">
            <a:extLst>
              <a:ext uri="{FF2B5EF4-FFF2-40B4-BE49-F238E27FC236}">
                <a16:creationId xmlns:a16="http://schemas.microsoft.com/office/drawing/2014/main" id="{078E52FA-FEBC-1674-A358-B07DFE2C95AF}"/>
              </a:ext>
            </a:extLst>
          </p:cNvPr>
          <p:cNvPicPr>
            <a:picLocks noChangeAspect="1"/>
          </p:cNvPicPr>
          <p:nvPr/>
        </p:nvPicPr>
        <p:blipFill>
          <a:blip r:embed="rId3"/>
          <a:stretch>
            <a:fillRect/>
          </a:stretch>
        </p:blipFill>
        <p:spPr>
          <a:xfrm>
            <a:off x="291599" y="583685"/>
            <a:ext cx="8852401" cy="3511453"/>
          </a:xfrm>
          <a:prstGeom prst="rect">
            <a:avLst/>
          </a:prstGeom>
        </p:spPr>
      </p:pic>
    </p:spTree>
    <p:extLst>
      <p:ext uri="{BB962C8B-B14F-4D97-AF65-F5344CB8AC3E}">
        <p14:creationId xmlns:p14="http://schemas.microsoft.com/office/powerpoint/2010/main" val="5303691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6">
          <a:extLst>
            <a:ext uri="{FF2B5EF4-FFF2-40B4-BE49-F238E27FC236}">
              <a16:creationId xmlns:a16="http://schemas.microsoft.com/office/drawing/2014/main" id="{E20508D9-0C53-4C1A-5F7E-335F223D2503}"/>
            </a:ext>
          </a:extLst>
        </p:cNvPr>
        <p:cNvGrpSpPr/>
        <p:nvPr/>
      </p:nvGrpSpPr>
      <p:grpSpPr>
        <a:xfrm>
          <a:off x="0" y="0"/>
          <a:ext cx="0" cy="0"/>
          <a:chOff x="0" y="0"/>
          <a:chExt cx="0" cy="0"/>
        </a:xfrm>
      </p:grpSpPr>
      <p:sp>
        <p:nvSpPr>
          <p:cNvPr id="5" name="CuadroTexto 4">
            <a:extLst>
              <a:ext uri="{FF2B5EF4-FFF2-40B4-BE49-F238E27FC236}">
                <a16:creationId xmlns:a16="http://schemas.microsoft.com/office/drawing/2014/main" id="{5C02E0AF-1529-DA2D-42AC-82743D9A1494}"/>
              </a:ext>
            </a:extLst>
          </p:cNvPr>
          <p:cNvSpPr txBox="1"/>
          <p:nvPr/>
        </p:nvSpPr>
        <p:spPr>
          <a:xfrm>
            <a:off x="180881" y="4230990"/>
            <a:ext cx="8461512" cy="307777"/>
          </a:xfrm>
          <a:prstGeom prst="rect">
            <a:avLst/>
          </a:prstGeom>
          <a:noFill/>
        </p:spPr>
        <p:txBody>
          <a:bodyPr wrap="square">
            <a:spAutoFit/>
          </a:bodyPr>
          <a:lstStyle/>
          <a:p>
            <a:r>
              <a:rPr lang="es-CL" dirty="0">
                <a:latin typeface="Century Gothic" panose="020B0502020202020204" pitchFamily="34" charset="0"/>
              </a:rPr>
              <a:t>Data </a:t>
            </a:r>
            <a:r>
              <a:rPr lang="es-CL" dirty="0" err="1">
                <a:latin typeface="Century Gothic" panose="020B0502020202020204" pitchFamily="34" charset="0"/>
              </a:rPr>
              <a:t>imputation</a:t>
            </a:r>
            <a:r>
              <a:rPr lang="es-CL" dirty="0">
                <a:latin typeface="Century Gothic" panose="020B0502020202020204" pitchFamily="34" charset="0"/>
              </a:rPr>
              <a:t> </a:t>
            </a:r>
            <a:r>
              <a:rPr lang="es-CL" dirty="0" err="1">
                <a:latin typeface="Century Gothic" panose="020B0502020202020204" pitchFamily="34" charset="0"/>
              </a:rPr>
              <a:t>was</a:t>
            </a:r>
            <a:r>
              <a:rPr lang="es-CL" dirty="0">
                <a:latin typeface="Century Gothic" panose="020B0502020202020204" pitchFamily="34" charset="0"/>
              </a:rPr>
              <a:t> </a:t>
            </a:r>
            <a:r>
              <a:rPr lang="es-CL" dirty="0" err="1">
                <a:latin typeface="Century Gothic" panose="020B0502020202020204" pitchFamily="34" charset="0"/>
              </a:rPr>
              <a:t>performed</a:t>
            </a:r>
            <a:r>
              <a:rPr lang="es-CL" dirty="0">
                <a:latin typeface="Century Gothic" panose="020B0502020202020204" pitchFamily="34" charset="0"/>
              </a:rPr>
              <a:t> </a:t>
            </a:r>
            <a:r>
              <a:rPr lang="es-CL" dirty="0" err="1">
                <a:latin typeface="Century Gothic" panose="020B0502020202020204" pitchFamily="34" charset="0"/>
              </a:rPr>
              <a:t>using</a:t>
            </a:r>
            <a:r>
              <a:rPr lang="es-CL" dirty="0">
                <a:latin typeface="Century Gothic" panose="020B0502020202020204" pitchFamily="34" charset="0"/>
              </a:rPr>
              <a:t> K-NN, </a:t>
            </a:r>
            <a:r>
              <a:rPr lang="es-CL" dirty="0" err="1">
                <a:latin typeface="Century Gothic" panose="020B0502020202020204" pitchFamily="34" charset="0"/>
              </a:rPr>
              <a:t>capping</a:t>
            </a:r>
            <a:r>
              <a:rPr lang="es-CL" dirty="0">
                <a:latin typeface="Century Gothic" panose="020B0502020202020204" pitchFamily="34" charset="0"/>
              </a:rPr>
              <a:t> at </a:t>
            </a:r>
            <a:r>
              <a:rPr lang="es-CL" dirty="0" err="1">
                <a:latin typeface="Century Gothic" panose="020B0502020202020204" pitchFamily="34" charset="0"/>
              </a:rPr>
              <a:t>the</a:t>
            </a:r>
            <a:r>
              <a:rPr lang="es-CL" dirty="0">
                <a:latin typeface="Century Gothic" panose="020B0502020202020204" pitchFamily="34" charset="0"/>
              </a:rPr>
              <a:t> </a:t>
            </a:r>
            <a:r>
              <a:rPr lang="es-CL" dirty="0" err="1">
                <a:latin typeface="Century Gothic" panose="020B0502020202020204" pitchFamily="34" charset="0"/>
              </a:rPr>
              <a:t>value</a:t>
            </a:r>
            <a:r>
              <a:rPr lang="es-CL" dirty="0">
                <a:latin typeface="Century Gothic" panose="020B0502020202020204" pitchFamily="34" charset="0"/>
              </a:rPr>
              <a:t> 3, and </a:t>
            </a:r>
            <a:r>
              <a:rPr lang="es-CL" dirty="0" err="1">
                <a:latin typeface="Century Gothic" panose="020B0502020202020204" pitchFamily="34" charset="0"/>
              </a:rPr>
              <a:t>then</a:t>
            </a:r>
            <a:r>
              <a:rPr lang="es-CL" dirty="0">
                <a:latin typeface="Century Gothic" panose="020B0502020202020204" pitchFamily="34" charset="0"/>
              </a:rPr>
              <a:t> </a:t>
            </a:r>
            <a:r>
              <a:rPr lang="es-CL" dirty="0" err="1">
                <a:latin typeface="Century Gothic" panose="020B0502020202020204" pitchFamily="34" charset="0"/>
              </a:rPr>
              <a:t>normalization</a:t>
            </a:r>
            <a:r>
              <a:rPr lang="es-CL" dirty="0">
                <a:latin typeface="Century Gothic" panose="020B0502020202020204" pitchFamily="34" charset="0"/>
              </a:rPr>
              <a:t>.</a:t>
            </a:r>
          </a:p>
        </p:txBody>
      </p:sp>
      <p:pic>
        <p:nvPicPr>
          <p:cNvPr id="3" name="Imagen 2">
            <a:extLst>
              <a:ext uri="{FF2B5EF4-FFF2-40B4-BE49-F238E27FC236}">
                <a16:creationId xmlns:a16="http://schemas.microsoft.com/office/drawing/2014/main" id="{A2D0DBF0-B0AB-B1F1-E8C1-2A9C7C2F4970}"/>
              </a:ext>
            </a:extLst>
          </p:cNvPr>
          <p:cNvPicPr>
            <a:picLocks noChangeAspect="1"/>
          </p:cNvPicPr>
          <p:nvPr/>
        </p:nvPicPr>
        <p:blipFill>
          <a:blip r:embed="rId3"/>
          <a:stretch>
            <a:fillRect/>
          </a:stretch>
        </p:blipFill>
        <p:spPr>
          <a:xfrm>
            <a:off x="180881" y="604733"/>
            <a:ext cx="8963119" cy="3541477"/>
          </a:xfrm>
          <a:prstGeom prst="rect">
            <a:avLst/>
          </a:prstGeom>
        </p:spPr>
      </p:pic>
    </p:spTree>
    <p:extLst>
      <p:ext uri="{BB962C8B-B14F-4D97-AF65-F5344CB8AC3E}">
        <p14:creationId xmlns:p14="http://schemas.microsoft.com/office/powerpoint/2010/main" val="20952655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26">
          <a:extLst>
            <a:ext uri="{FF2B5EF4-FFF2-40B4-BE49-F238E27FC236}">
              <a16:creationId xmlns:a16="http://schemas.microsoft.com/office/drawing/2014/main" id="{45BBB415-E302-D00B-1860-077ADCFA4109}"/>
            </a:ext>
          </a:extLst>
        </p:cNvPr>
        <p:cNvGrpSpPr/>
        <p:nvPr/>
      </p:nvGrpSpPr>
      <p:grpSpPr>
        <a:xfrm>
          <a:off x="0" y="0"/>
          <a:ext cx="0" cy="0"/>
          <a:chOff x="0" y="0"/>
          <a:chExt cx="0" cy="0"/>
        </a:xfrm>
      </p:grpSpPr>
      <p:sp>
        <p:nvSpPr>
          <p:cNvPr id="5" name="CuadroTexto 4">
            <a:extLst>
              <a:ext uri="{FF2B5EF4-FFF2-40B4-BE49-F238E27FC236}">
                <a16:creationId xmlns:a16="http://schemas.microsoft.com/office/drawing/2014/main" id="{18B63235-5282-2672-02AC-DC35DF577388}"/>
              </a:ext>
            </a:extLst>
          </p:cNvPr>
          <p:cNvSpPr txBox="1"/>
          <p:nvPr/>
        </p:nvSpPr>
        <p:spPr>
          <a:xfrm>
            <a:off x="180881" y="4538808"/>
            <a:ext cx="8461512" cy="307777"/>
          </a:xfrm>
          <a:prstGeom prst="rect">
            <a:avLst/>
          </a:prstGeom>
          <a:noFill/>
        </p:spPr>
        <p:txBody>
          <a:bodyPr wrap="square">
            <a:spAutoFit/>
          </a:bodyPr>
          <a:lstStyle/>
          <a:p>
            <a:r>
              <a:rPr lang="es-CL" dirty="0">
                <a:latin typeface="Century Gothic" panose="020B0502020202020204" pitchFamily="34" charset="0"/>
              </a:rPr>
              <a:t>A </a:t>
            </a:r>
            <a:r>
              <a:rPr lang="es-CL" dirty="0" err="1">
                <a:latin typeface="Century Gothic" panose="020B0502020202020204" pitchFamily="34" charset="0"/>
              </a:rPr>
              <a:t>necessary</a:t>
            </a:r>
            <a:r>
              <a:rPr lang="es-CL" dirty="0">
                <a:latin typeface="Century Gothic" panose="020B0502020202020204" pitchFamily="34" charset="0"/>
              </a:rPr>
              <a:t> </a:t>
            </a:r>
            <a:r>
              <a:rPr lang="es-CL" dirty="0" err="1">
                <a:latin typeface="Century Gothic" panose="020B0502020202020204" pitchFamily="34" charset="0"/>
              </a:rPr>
              <a:t>normalization</a:t>
            </a:r>
            <a:r>
              <a:rPr lang="es-CL" dirty="0">
                <a:latin typeface="Century Gothic" panose="020B0502020202020204" pitchFamily="34" charset="0"/>
              </a:rPr>
              <a:t> </a:t>
            </a:r>
            <a:r>
              <a:rPr lang="es-CL" dirty="0" err="1">
                <a:latin typeface="Century Gothic" panose="020B0502020202020204" pitchFamily="34" charset="0"/>
              </a:rPr>
              <a:t>of</a:t>
            </a:r>
            <a:r>
              <a:rPr lang="es-CL" dirty="0">
                <a:latin typeface="Century Gothic" panose="020B0502020202020204" pitchFamily="34" charset="0"/>
              </a:rPr>
              <a:t> </a:t>
            </a:r>
            <a:r>
              <a:rPr lang="es-CL" dirty="0" err="1">
                <a:latin typeface="Century Gothic" panose="020B0502020202020204" pitchFamily="34" charset="0"/>
              </a:rPr>
              <a:t>the</a:t>
            </a:r>
            <a:r>
              <a:rPr lang="es-CL" dirty="0">
                <a:latin typeface="Century Gothic" panose="020B0502020202020204" pitchFamily="34" charset="0"/>
              </a:rPr>
              <a:t> variable </a:t>
            </a:r>
            <a:r>
              <a:rPr lang="es-CL" dirty="0" err="1">
                <a:latin typeface="Century Gothic" panose="020B0502020202020204" pitchFamily="34" charset="0"/>
              </a:rPr>
              <a:t>was</a:t>
            </a:r>
            <a:r>
              <a:rPr lang="es-CL" dirty="0">
                <a:latin typeface="Century Gothic" panose="020B0502020202020204" pitchFamily="34" charset="0"/>
              </a:rPr>
              <a:t> </a:t>
            </a:r>
            <a:r>
              <a:rPr lang="es-CL" dirty="0" err="1">
                <a:latin typeface="Century Gothic" panose="020B0502020202020204" pitchFamily="34" charset="0"/>
              </a:rPr>
              <a:t>performed</a:t>
            </a:r>
            <a:r>
              <a:rPr lang="es-CL" dirty="0">
                <a:latin typeface="Century Gothic" panose="020B0502020202020204" pitchFamily="34" charset="0"/>
              </a:rPr>
              <a:t>.</a:t>
            </a:r>
          </a:p>
        </p:txBody>
      </p:sp>
      <p:pic>
        <p:nvPicPr>
          <p:cNvPr id="4" name="Imagen 3">
            <a:extLst>
              <a:ext uri="{FF2B5EF4-FFF2-40B4-BE49-F238E27FC236}">
                <a16:creationId xmlns:a16="http://schemas.microsoft.com/office/drawing/2014/main" id="{BA37BBC0-8191-EE97-7169-2C22796B1F04}"/>
              </a:ext>
            </a:extLst>
          </p:cNvPr>
          <p:cNvPicPr>
            <a:picLocks noChangeAspect="1"/>
          </p:cNvPicPr>
          <p:nvPr/>
        </p:nvPicPr>
        <p:blipFill>
          <a:blip r:embed="rId3"/>
          <a:stretch>
            <a:fillRect/>
          </a:stretch>
        </p:blipFill>
        <p:spPr>
          <a:xfrm>
            <a:off x="180882" y="604971"/>
            <a:ext cx="8625690" cy="3933837"/>
          </a:xfrm>
          <a:prstGeom prst="rect">
            <a:avLst/>
          </a:prstGeom>
        </p:spPr>
      </p:pic>
    </p:spTree>
    <p:extLst>
      <p:ext uri="{BB962C8B-B14F-4D97-AF65-F5344CB8AC3E}">
        <p14:creationId xmlns:p14="http://schemas.microsoft.com/office/powerpoint/2010/main" val="36611791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26">
          <a:extLst>
            <a:ext uri="{FF2B5EF4-FFF2-40B4-BE49-F238E27FC236}">
              <a16:creationId xmlns:a16="http://schemas.microsoft.com/office/drawing/2014/main" id="{94AE3CA2-E39D-FA6C-5309-D4EE75F873AD}"/>
            </a:ext>
          </a:extLst>
        </p:cNvPr>
        <p:cNvGrpSpPr/>
        <p:nvPr/>
      </p:nvGrpSpPr>
      <p:grpSpPr>
        <a:xfrm>
          <a:off x="0" y="0"/>
          <a:ext cx="0" cy="0"/>
          <a:chOff x="0" y="0"/>
          <a:chExt cx="0" cy="0"/>
        </a:xfrm>
      </p:grpSpPr>
      <p:sp>
        <p:nvSpPr>
          <p:cNvPr id="5" name="CuadroTexto 4">
            <a:extLst>
              <a:ext uri="{FF2B5EF4-FFF2-40B4-BE49-F238E27FC236}">
                <a16:creationId xmlns:a16="http://schemas.microsoft.com/office/drawing/2014/main" id="{72F7FAF4-1FB4-519B-8F4E-34D2FC374A36}"/>
              </a:ext>
            </a:extLst>
          </p:cNvPr>
          <p:cNvSpPr txBox="1"/>
          <p:nvPr/>
        </p:nvSpPr>
        <p:spPr>
          <a:xfrm>
            <a:off x="287971" y="4431394"/>
            <a:ext cx="8461512" cy="523220"/>
          </a:xfrm>
          <a:prstGeom prst="rect">
            <a:avLst/>
          </a:prstGeom>
          <a:noFill/>
        </p:spPr>
        <p:txBody>
          <a:bodyPr wrap="square">
            <a:spAutoFit/>
          </a:bodyPr>
          <a:lstStyle/>
          <a:p>
            <a:r>
              <a:rPr lang="es-CL" dirty="0" err="1">
                <a:latin typeface="Century Gothic" panose="020B0502020202020204" pitchFamily="34" charset="0"/>
              </a:rPr>
              <a:t>This</a:t>
            </a:r>
            <a:r>
              <a:rPr lang="es-CL" dirty="0">
                <a:latin typeface="Century Gothic" panose="020B0502020202020204" pitchFamily="34" charset="0"/>
              </a:rPr>
              <a:t> “</a:t>
            </a:r>
            <a:r>
              <a:rPr lang="es-CL" dirty="0" err="1">
                <a:latin typeface="Century Gothic" panose="020B0502020202020204" pitchFamily="34" charset="0"/>
              </a:rPr>
              <a:t>flag</a:t>
            </a:r>
            <a:r>
              <a:rPr lang="es-CL" dirty="0">
                <a:latin typeface="Century Gothic" panose="020B0502020202020204" pitchFamily="34" charset="0"/>
              </a:rPr>
              <a:t>” variable </a:t>
            </a:r>
            <a:r>
              <a:rPr lang="es-CL" dirty="0" err="1">
                <a:latin typeface="Century Gothic" panose="020B0502020202020204" pitchFamily="34" charset="0"/>
              </a:rPr>
              <a:t>was</a:t>
            </a:r>
            <a:r>
              <a:rPr lang="es-CL" dirty="0">
                <a:latin typeface="Century Gothic" panose="020B0502020202020204" pitchFamily="34" charset="0"/>
              </a:rPr>
              <a:t> </a:t>
            </a:r>
            <a:r>
              <a:rPr lang="es-CL" dirty="0" err="1">
                <a:latin typeface="Century Gothic" panose="020B0502020202020204" pitchFamily="34" charset="0"/>
              </a:rPr>
              <a:t>created</a:t>
            </a:r>
            <a:r>
              <a:rPr lang="es-CL" dirty="0">
                <a:latin typeface="Century Gothic" panose="020B0502020202020204" pitchFamily="34" charset="0"/>
              </a:rPr>
              <a:t> so </a:t>
            </a:r>
            <a:r>
              <a:rPr lang="es-CL" dirty="0" err="1">
                <a:latin typeface="Century Gothic" panose="020B0502020202020204" pitchFamily="34" charset="0"/>
              </a:rPr>
              <a:t>that</a:t>
            </a:r>
            <a:r>
              <a:rPr lang="es-CL" dirty="0">
                <a:latin typeface="Century Gothic" panose="020B0502020202020204" pitchFamily="34" charset="0"/>
              </a:rPr>
              <a:t> </a:t>
            </a:r>
            <a:r>
              <a:rPr lang="es-CL" dirty="0" err="1">
                <a:latin typeface="Century Gothic" panose="020B0502020202020204" pitchFamily="34" charset="0"/>
              </a:rPr>
              <a:t>the</a:t>
            </a:r>
            <a:r>
              <a:rPr lang="es-CL" dirty="0">
                <a:latin typeface="Century Gothic" panose="020B0502020202020204" pitchFamily="34" charset="0"/>
              </a:rPr>
              <a:t> </a:t>
            </a:r>
            <a:r>
              <a:rPr lang="es-CL" dirty="0" err="1">
                <a:latin typeface="Century Gothic" panose="020B0502020202020204" pitchFamily="34" charset="0"/>
              </a:rPr>
              <a:t>model</a:t>
            </a:r>
            <a:r>
              <a:rPr lang="es-CL" dirty="0">
                <a:latin typeface="Century Gothic" panose="020B0502020202020204" pitchFamily="34" charset="0"/>
              </a:rPr>
              <a:t> </a:t>
            </a:r>
            <a:r>
              <a:rPr lang="es-CL" dirty="0" err="1">
                <a:latin typeface="Century Gothic" panose="020B0502020202020204" pitchFamily="34" charset="0"/>
              </a:rPr>
              <a:t>could</a:t>
            </a:r>
            <a:r>
              <a:rPr lang="es-CL" dirty="0">
                <a:latin typeface="Century Gothic" panose="020B0502020202020204" pitchFamily="34" charset="0"/>
              </a:rPr>
              <a:t> </a:t>
            </a:r>
            <a:r>
              <a:rPr lang="es-CL" dirty="0" err="1">
                <a:latin typeface="Century Gothic" panose="020B0502020202020204" pitchFamily="34" charset="0"/>
              </a:rPr>
              <a:t>identify</a:t>
            </a:r>
            <a:r>
              <a:rPr lang="es-CL" dirty="0">
                <a:latin typeface="Century Gothic" panose="020B0502020202020204" pitchFamily="34" charset="0"/>
              </a:rPr>
              <a:t> </a:t>
            </a:r>
            <a:r>
              <a:rPr lang="es-CL" dirty="0" err="1">
                <a:latin typeface="Century Gothic" panose="020B0502020202020204" pitchFamily="34" charset="0"/>
              </a:rPr>
              <a:t>customers</a:t>
            </a:r>
            <a:r>
              <a:rPr lang="es-CL" dirty="0">
                <a:latin typeface="Century Gothic" panose="020B0502020202020204" pitchFamily="34" charset="0"/>
              </a:rPr>
              <a:t> </a:t>
            </a:r>
            <a:r>
              <a:rPr lang="es-CL" dirty="0" err="1">
                <a:latin typeface="Century Gothic" panose="020B0502020202020204" pitchFamily="34" charset="0"/>
              </a:rPr>
              <a:t>who</a:t>
            </a:r>
            <a:r>
              <a:rPr lang="es-CL" dirty="0">
                <a:latin typeface="Century Gothic" panose="020B0502020202020204" pitchFamily="34" charset="0"/>
              </a:rPr>
              <a:t> </a:t>
            </a:r>
            <a:r>
              <a:rPr lang="es-CL" dirty="0" err="1">
                <a:latin typeface="Century Gothic" panose="020B0502020202020204" pitchFamily="34" charset="0"/>
              </a:rPr>
              <a:t>did</a:t>
            </a:r>
            <a:r>
              <a:rPr lang="es-CL" dirty="0">
                <a:latin typeface="Century Gothic" panose="020B0502020202020204" pitchFamily="34" charset="0"/>
              </a:rPr>
              <a:t> </a:t>
            </a:r>
            <a:r>
              <a:rPr lang="es-CL" dirty="0" err="1">
                <a:latin typeface="Century Gothic" panose="020B0502020202020204" pitchFamily="34" charset="0"/>
              </a:rPr>
              <a:t>not</a:t>
            </a:r>
            <a:r>
              <a:rPr lang="es-CL" dirty="0">
                <a:latin typeface="Century Gothic" panose="020B0502020202020204" pitchFamily="34" charset="0"/>
              </a:rPr>
              <a:t> </a:t>
            </a:r>
            <a:r>
              <a:rPr lang="es-CL" dirty="0" err="1">
                <a:latin typeface="Century Gothic" panose="020B0502020202020204" pitchFamily="34" charset="0"/>
              </a:rPr>
              <a:t>have</a:t>
            </a:r>
            <a:r>
              <a:rPr lang="es-CL" dirty="0">
                <a:latin typeface="Century Gothic" panose="020B0502020202020204" pitchFamily="34" charset="0"/>
              </a:rPr>
              <a:t> data in </a:t>
            </a:r>
            <a:r>
              <a:rPr lang="es-CL" dirty="0" err="1">
                <a:latin typeface="Century Gothic" panose="020B0502020202020204" pitchFamily="34" charset="0"/>
              </a:rPr>
              <a:t>the</a:t>
            </a:r>
            <a:r>
              <a:rPr lang="es-CL" dirty="0">
                <a:latin typeface="Century Gothic" panose="020B0502020202020204" pitchFamily="34" charset="0"/>
              </a:rPr>
              <a:t> DEBTINC variable, </a:t>
            </a:r>
            <a:r>
              <a:rPr lang="es-CL" dirty="0" err="1">
                <a:latin typeface="Century Gothic" panose="020B0502020202020204" pitchFamily="34" charset="0"/>
              </a:rPr>
              <a:t>those</a:t>
            </a:r>
            <a:r>
              <a:rPr lang="es-CL" dirty="0">
                <a:latin typeface="Century Gothic" panose="020B0502020202020204" pitchFamily="34" charset="0"/>
              </a:rPr>
              <a:t> </a:t>
            </a:r>
            <a:r>
              <a:rPr lang="es-CL" dirty="0" err="1">
                <a:latin typeface="Century Gothic" panose="020B0502020202020204" pitchFamily="34" charset="0"/>
              </a:rPr>
              <a:t>who</a:t>
            </a:r>
            <a:r>
              <a:rPr lang="es-CL" dirty="0">
                <a:latin typeface="Century Gothic" panose="020B0502020202020204" pitchFamily="34" charset="0"/>
              </a:rPr>
              <a:t> </a:t>
            </a:r>
            <a:r>
              <a:rPr lang="es-CL" dirty="0" err="1">
                <a:latin typeface="Century Gothic" panose="020B0502020202020204" pitchFamily="34" charset="0"/>
              </a:rPr>
              <a:t>were</a:t>
            </a:r>
            <a:r>
              <a:rPr lang="es-CL" dirty="0">
                <a:latin typeface="Century Gothic" panose="020B0502020202020204" pitchFamily="34" charset="0"/>
              </a:rPr>
              <a:t> </a:t>
            </a:r>
            <a:r>
              <a:rPr lang="es-CL" dirty="0" err="1">
                <a:latin typeface="Century Gothic" panose="020B0502020202020204" pitchFamily="34" charset="0"/>
              </a:rPr>
              <a:t>imputed</a:t>
            </a:r>
            <a:r>
              <a:rPr lang="es-CL" dirty="0">
                <a:latin typeface="Century Gothic" panose="020B0502020202020204" pitchFamily="34" charset="0"/>
              </a:rPr>
              <a:t> </a:t>
            </a:r>
            <a:r>
              <a:rPr lang="es-CL" dirty="0" err="1">
                <a:latin typeface="Century Gothic" panose="020B0502020202020204" pitchFamily="34" charset="0"/>
              </a:rPr>
              <a:t>by</a:t>
            </a:r>
            <a:r>
              <a:rPr lang="es-CL" dirty="0">
                <a:latin typeface="Century Gothic" panose="020B0502020202020204" pitchFamily="34" charset="0"/>
              </a:rPr>
              <a:t> k-NN</a:t>
            </a:r>
          </a:p>
        </p:txBody>
      </p:sp>
      <p:pic>
        <p:nvPicPr>
          <p:cNvPr id="3" name="Imagen 2">
            <a:extLst>
              <a:ext uri="{FF2B5EF4-FFF2-40B4-BE49-F238E27FC236}">
                <a16:creationId xmlns:a16="http://schemas.microsoft.com/office/drawing/2014/main" id="{0CAA8296-B1FA-03BA-BFC4-09B20E9EA2B1}"/>
              </a:ext>
            </a:extLst>
          </p:cNvPr>
          <p:cNvPicPr>
            <a:picLocks noChangeAspect="1"/>
          </p:cNvPicPr>
          <p:nvPr/>
        </p:nvPicPr>
        <p:blipFill>
          <a:blip r:embed="rId3"/>
          <a:stretch>
            <a:fillRect/>
          </a:stretch>
        </p:blipFill>
        <p:spPr>
          <a:xfrm>
            <a:off x="231912" y="485835"/>
            <a:ext cx="8573631" cy="3945559"/>
          </a:xfrm>
          <a:prstGeom prst="rect">
            <a:avLst/>
          </a:prstGeom>
        </p:spPr>
      </p:pic>
    </p:spTree>
    <p:extLst>
      <p:ext uri="{BB962C8B-B14F-4D97-AF65-F5344CB8AC3E}">
        <p14:creationId xmlns:p14="http://schemas.microsoft.com/office/powerpoint/2010/main" val="28867517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48"/>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US" noProof="0" dirty="0">
                <a:solidFill>
                  <a:schemeClr val="lt2"/>
                </a:solidFill>
                <a:latin typeface="Century Gothic"/>
                <a:ea typeface="Century Gothic"/>
                <a:cs typeface="Century Gothic"/>
                <a:sym typeface="Century Gothic"/>
              </a:rPr>
              <a:t>Phase 1: Basic Neural Network</a:t>
            </a:r>
            <a:endParaRPr lang="en-US" noProof="0" dirty="0"/>
          </a:p>
        </p:txBody>
      </p:sp>
      <p:sp>
        <p:nvSpPr>
          <p:cNvPr id="233" name="Google Shape;233;p48"/>
          <p:cNvSpPr txBox="1">
            <a:spLocks noGrp="1"/>
          </p:cNvSpPr>
          <p:nvPr>
            <p:ph type="body" idx="1"/>
          </p:nvPr>
        </p:nvSpPr>
        <p:spPr>
          <a:xfrm>
            <a:off x="202550" y="861975"/>
            <a:ext cx="8307900" cy="2013848"/>
          </a:xfrm>
          <a:prstGeom prst="rect">
            <a:avLst/>
          </a:prstGeom>
          <a:noFill/>
          <a:ln>
            <a:noFill/>
          </a:ln>
        </p:spPr>
        <p:txBody>
          <a:bodyPr spcFirstLastPara="1" wrap="square" lIns="91425" tIns="91425" rIns="91425" bIns="91425" anchor="t" anchorCtr="0">
            <a:noAutofit/>
          </a:bodyPr>
          <a:lstStyle/>
          <a:p>
            <a:pPr lvl="0" indent="-317500">
              <a:spcBef>
                <a:spcPts val="1000"/>
              </a:spcBef>
              <a:buClr>
                <a:schemeClr val="dk1"/>
              </a:buClr>
              <a:buSzPts val="1400"/>
              <a:buFont typeface="Century Gothic"/>
              <a:buChar char="●"/>
            </a:pPr>
            <a:r>
              <a:rPr lang="en-US" sz="1400" noProof="0" dirty="0">
                <a:latin typeface="Century Gothic" panose="020B0502020202020204" pitchFamily="34" charset="0"/>
              </a:rPr>
              <a:t>The results are positive, but there's significant room for improvement.</a:t>
            </a:r>
          </a:p>
          <a:p>
            <a:pPr lvl="0" indent="-317500">
              <a:spcBef>
                <a:spcPts val="1000"/>
              </a:spcBef>
              <a:buClr>
                <a:schemeClr val="dk1"/>
              </a:buClr>
              <a:buSzPts val="1400"/>
              <a:buFont typeface="Century Gothic"/>
              <a:buChar char="●"/>
            </a:pPr>
            <a:r>
              <a:rPr lang="en-US" sz="1400" noProof="0" dirty="0">
                <a:latin typeface="Century Gothic" panose="020B0502020202020204" pitchFamily="34" charset="0"/>
              </a:rPr>
              <a:t>The model is generally good at identifying paying customers, but it struggles to identify non-paying customers, which is crucial for this business.</a:t>
            </a:r>
          </a:p>
          <a:p>
            <a:pPr lvl="0" indent="-317500">
              <a:spcBef>
                <a:spcPts val="1000"/>
              </a:spcBef>
              <a:buClr>
                <a:schemeClr val="dk1"/>
              </a:buClr>
              <a:buSzPts val="1400"/>
              <a:buFont typeface="Century Gothic"/>
              <a:buChar char="●"/>
            </a:pPr>
            <a:r>
              <a:rPr lang="en-US" sz="1400" noProof="0" dirty="0">
                <a:latin typeface="Century Gothic" panose="020B0502020202020204" pitchFamily="34" charset="0"/>
              </a:rPr>
              <a:t>The kappa value is moderate and needs to be higher to confirm that the model isn't random.</a:t>
            </a:r>
          </a:p>
        </p:txBody>
      </p:sp>
      <p:graphicFrame>
        <p:nvGraphicFramePr>
          <p:cNvPr id="234" name="Google Shape;234;p48"/>
          <p:cNvGraphicFramePr/>
          <p:nvPr>
            <p:extLst>
              <p:ext uri="{D42A27DB-BD31-4B8C-83A1-F6EECF244321}">
                <p14:modId xmlns:p14="http://schemas.microsoft.com/office/powerpoint/2010/main" val="1697657145"/>
              </p:ext>
            </p:extLst>
          </p:nvPr>
        </p:nvGraphicFramePr>
        <p:xfrm>
          <a:off x="1364825" y="3007700"/>
          <a:ext cx="5983350" cy="1273825"/>
        </p:xfrm>
        <a:graphic>
          <a:graphicData uri="http://schemas.openxmlformats.org/drawingml/2006/table">
            <a:tbl>
              <a:tblPr firstRow="1" bandRow="1">
                <a:noFill/>
                <a:tableStyleId>{36976CF4-DB81-4460-9A5E-51383ADFE053}</a:tableStyleId>
              </a:tblPr>
              <a:tblGrid>
                <a:gridCol w="1615400">
                  <a:extLst>
                    <a:ext uri="{9D8B030D-6E8A-4147-A177-3AD203B41FA5}">
                      <a16:colId xmlns:a16="http://schemas.microsoft.com/office/drawing/2014/main" val="20000"/>
                    </a:ext>
                  </a:extLst>
                </a:gridCol>
                <a:gridCol w="1047025">
                  <a:extLst>
                    <a:ext uri="{9D8B030D-6E8A-4147-A177-3AD203B41FA5}">
                      <a16:colId xmlns:a16="http://schemas.microsoft.com/office/drawing/2014/main" val="20001"/>
                    </a:ext>
                  </a:extLst>
                </a:gridCol>
                <a:gridCol w="1082725">
                  <a:extLst>
                    <a:ext uri="{9D8B030D-6E8A-4147-A177-3AD203B41FA5}">
                      <a16:colId xmlns:a16="http://schemas.microsoft.com/office/drawing/2014/main" val="20002"/>
                    </a:ext>
                  </a:extLst>
                </a:gridCol>
                <a:gridCol w="1041525">
                  <a:extLst>
                    <a:ext uri="{9D8B030D-6E8A-4147-A177-3AD203B41FA5}">
                      <a16:colId xmlns:a16="http://schemas.microsoft.com/office/drawing/2014/main" val="20003"/>
                    </a:ext>
                  </a:extLst>
                </a:gridCol>
                <a:gridCol w="1196675">
                  <a:extLst>
                    <a:ext uri="{9D8B030D-6E8A-4147-A177-3AD203B41FA5}">
                      <a16:colId xmlns:a16="http://schemas.microsoft.com/office/drawing/2014/main" val="20004"/>
                    </a:ext>
                  </a:extLst>
                </a:gridCol>
              </a:tblGrid>
              <a:tr h="595000">
                <a:tc>
                  <a:txBody>
                    <a:bodyPr/>
                    <a:lstStyle/>
                    <a:p>
                      <a:pPr marL="0" marR="0" lvl="0" indent="0" algn="ctr" rtl="0">
                        <a:lnSpc>
                          <a:spcPct val="100000"/>
                        </a:lnSpc>
                        <a:spcBef>
                          <a:spcPts val="0"/>
                        </a:spcBef>
                        <a:spcAft>
                          <a:spcPts val="0"/>
                        </a:spcAft>
                        <a:buClr>
                          <a:srgbClr val="000000"/>
                        </a:buClr>
                        <a:buSzPts val="1200"/>
                        <a:buFont typeface="Arial"/>
                        <a:buNone/>
                      </a:pPr>
                      <a:r>
                        <a:rPr lang="en-US" sz="1200" u="none" strike="noStrike" cap="none" noProof="0" dirty="0">
                          <a:latin typeface="Nunito"/>
                          <a:ea typeface="Nunito"/>
                          <a:cs typeface="Nunito"/>
                          <a:sym typeface="Nunito"/>
                        </a:rPr>
                        <a:t>Metric</a:t>
                      </a:r>
                    </a:p>
                  </a:txBody>
                  <a:tcPr marL="91450" marR="91450" marT="45725" marB="45725" anchor="ctr">
                    <a:solidFill>
                      <a:schemeClr val="lt2"/>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u="none" strike="noStrike" cap="none" noProof="0" dirty="0">
                          <a:latin typeface="Nunito"/>
                          <a:ea typeface="Nunito"/>
                          <a:cs typeface="Nunito"/>
                          <a:sym typeface="Nunito"/>
                        </a:rPr>
                        <a:t>Accuracy</a:t>
                      </a:r>
                    </a:p>
                  </a:txBody>
                  <a:tcPr marL="91450" marR="91450" marT="45725" marB="45725" anchor="ctr">
                    <a:solidFill>
                      <a:schemeClr val="lt2"/>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u="none" strike="noStrike" cap="none" noProof="0" dirty="0">
                          <a:latin typeface="Nunito"/>
                          <a:ea typeface="Nunito"/>
                          <a:cs typeface="Nunito"/>
                          <a:sym typeface="Nunito"/>
                        </a:rPr>
                        <a:t>Kappa</a:t>
                      </a:r>
                    </a:p>
                  </a:txBody>
                  <a:tcPr marL="91450" marR="91450" marT="45725" marB="45725" anchor="ctr">
                    <a:solidFill>
                      <a:schemeClr val="lt2"/>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u="none" strike="noStrike" cap="none" noProof="0" dirty="0">
                          <a:latin typeface="Nunito"/>
                          <a:ea typeface="Nunito"/>
                          <a:cs typeface="Nunito"/>
                          <a:sym typeface="Nunito"/>
                        </a:rPr>
                        <a:t>Weighted Recall</a:t>
                      </a:r>
                    </a:p>
                  </a:txBody>
                  <a:tcPr marL="91450" marR="91450" marT="45725" marB="45725" anchor="ctr">
                    <a:solidFill>
                      <a:schemeClr val="lt2"/>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u="none" strike="noStrike" cap="none" noProof="0" dirty="0">
                          <a:latin typeface="Nunito"/>
                          <a:ea typeface="Nunito"/>
                          <a:cs typeface="Nunito"/>
                          <a:sym typeface="Nunito"/>
                        </a:rPr>
                        <a:t>Weighted Precision</a:t>
                      </a:r>
                    </a:p>
                  </a:txBody>
                  <a:tcPr marL="91450" marR="91450" marT="45725" marB="45725" anchor="ctr">
                    <a:solidFill>
                      <a:schemeClr val="lt2"/>
                    </a:solidFill>
                  </a:tcPr>
                </a:tc>
                <a:extLst>
                  <a:ext uri="{0D108BD9-81ED-4DB2-BD59-A6C34878D82A}">
                    <a16:rowId xmlns:a16="http://schemas.microsoft.com/office/drawing/2014/main" val="10000"/>
                  </a:ext>
                </a:extLst>
              </a:tr>
              <a:tr h="678825">
                <a:tc>
                  <a:txBody>
                    <a:bodyPr/>
                    <a:lstStyle/>
                    <a:p>
                      <a:pPr marL="0" marR="0" lvl="0" indent="0" algn="ctr" rtl="0">
                        <a:lnSpc>
                          <a:spcPct val="100000"/>
                        </a:lnSpc>
                        <a:spcBef>
                          <a:spcPts val="0"/>
                        </a:spcBef>
                        <a:spcAft>
                          <a:spcPts val="0"/>
                        </a:spcAft>
                        <a:buClr>
                          <a:srgbClr val="000000"/>
                        </a:buClr>
                        <a:buSzPts val="1200"/>
                        <a:buFont typeface="Arial"/>
                        <a:buNone/>
                      </a:pPr>
                      <a:r>
                        <a:rPr lang="en-US" sz="1200" noProof="0" dirty="0">
                          <a:latin typeface="Nunito"/>
                          <a:ea typeface="Nunito"/>
                          <a:cs typeface="Nunito"/>
                          <a:sym typeface="Nunito"/>
                        </a:rPr>
                        <a:t>Basic Neural Network </a:t>
                      </a:r>
                      <a:endParaRPr lang="en-US" sz="1200" u="none" strike="noStrike" cap="none" noProof="0" dirty="0">
                        <a:latin typeface="Nunito"/>
                        <a:ea typeface="Nunito"/>
                        <a:cs typeface="Nunito"/>
                        <a:sym typeface="Nunito"/>
                      </a:endParaRPr>
                    </a:p>
                  </a:txBody>
                  <a:tcPr marL="91450" marR="91450" marT="45725" marB="45725" anchor="ctr"/>
                </a:tc>
                <a:tc>
                  <a:txBody>
                    <a:bodyPr/>
                    <a:lstStyle/>
                    <a:p>
                      <a:pPr marL="0" marR="0" lvl="0" indent="0" algn="ctr" rtl="0">
                        <a:lnSpc>
                          <a:spcPct val="115000"/>
                        </a:lnSpc>
                        <a:spcBef>
                          <a:spcPts val="0"/>
                        </a:spcBef>
                        <a:spcAft>
                          <a:spcPts val="0"/>
                        </a:spcAft>
                        <a:buClr>
                          <a:srgbClr val="000000"/>
                        </a:buClr>
                        <a:buSzPts val="1400"/>
                        <a:buFont typeface="Arial"/>
                        <a:buNone/>
                      </a:pPr>
                      <a:r>
                        <a:rPr lang="en-US" sz="1200" u="none" strike="noStrike" cap="none" noProof="0" dirty="0">
                          <a:latin typeface="Nunito"/>
                          <a:ea typeface="Nunito"/>
                          <a:cs typeface="Nunito"/>
                          <a:sym typeface="Nunito"/>
                        </a:rPr>
                        <a:t>88.70</a:t>
                      </a:r>
                    </a:p>
                  </a:txBody>
                  <a:tcPr marL="91425" marR="91425" marT="91425" marB="91425" anchor="ctr"/>
                </a:tc>
                <a:tc>
                  <a:txBody>
                    <a:bodyPr/>
                    <a:lstStyle/>
                    <a:p>
                      <a:pPr marL="0" marR="0" lvl="0" indent="0" algn="ctr" rtl="0">
                        <a:lnSpc>
                          <a:spcPct val="115000"/>
                        </a:lnSpc>
                        <a:spcBef>
                          <a:spcPts val="0"/>
                        </a:spcBef>
                        <a:spcAft>
                          <a:spcPts val="0"/>
                        </a:spcAft>
                        <a:buClr>
                          <a:srgbClr val="000000"/>
                        </a:buClr>
                        <a:buSzPts val="1400"/>
                        <a:buFont typeface="Arial"/>
                        <a:buNone/>
                      </a:pPr>
                      <a:r>
                        <a:rPr lang="en-US" sz="1200" u="none" strike="noStrike" cap="none" noProof="0" dirty="0">
                          <a:latin typeface="Nunito"/>
                          <a:ea typeface="Nunito"/>
                          <a:cs typeface="Nunito"/>
                          <a:sym typeface="Nunito"/>
                        </a:rPr>
                        <a:t>0.627</a:t>
                      </a:r>
                    </a:p>
                  </a:txBody>
                  <a:tcPr marL="91425" marR="91425" marT="91425" marB="91425" anchor="ctr"/>
                </a:tc>
                <a:tc>
                  <a:txBody>
                    <a:bodyPr/>
                    <a:lstStyle/>
                    <a:p>
                      <a:pPr marL="0" marR="0" lvl="0" indent="0" algn="ctr" rtl="0">
                        <a:lnSpc>
                          <a:spcPct val="115000"/>
                        </a:lnSpc>
                        <a:spcBef>
                          <a:spcPts val="0"/>
                        </a:spcBef>
                        <a:spcAft>
                          <a:spcPts val="0"/>
                        </a:spcAft>
                        <a:buClr>
                          <a:srgbClr val="000000"/>
                        </a:buClr>
                        <a:buSzPts val="1400"/>
                        <a:buFont typeface="Arial"/>
                        <a:buNone/>
                      </a:pPr>
                      <a:r>
                        <a:rPr lang="en-US" sz="1200" u="none" strike="noStrike" cap="none" noProof="0" dirty="0">
                          <a:latin typeface="Nunito"/>
                          <a:ea typeface="Nunito"/>
                          <a:cs typeface="Nunito"/>
                          <a:sym typeface="Nunito"/>
                        </a:rPr>
                        <a:t>79.70</a:t>
                      </a:r>
                    </a:p>
                  </a:txBody>
                  <a:tcPr marL="91425" marR="91425" marT="91425" marB="91425" anchor="ctr"/>
                </a:tc>
                <a:tc>
                  <a:txBody>
                    <a:bodyPr/>
                    <a:lstStyle/>
                    <a:p>
                      <a:pPr marL="0" marR="0" lvl="0" indent="0" algn="ctr" rtl="0">
                        <a:lnSpc>
                          <a:spcPct val="115000"/>
                        </a:lnSpc>
                        <a:spcBef>
                          <a:spcPts val="0"/>
                        </a:spcBef>
                        <a:spcAft>
                          <a:spcPts val="0"/>
                        </a:spcAft>
                        <a:buClr>
                          <a:srgbClr val="000000"/>
                        </a:buClr>
                        <a:buSzPts val="1400"/>
                        <a:buFont typeface="Arial"/>
                        <a:buNone/>
                      </a:pPr>
                      <a:r>
                        <a:rPr lang="en-US" sz="1200" u="none" strike="noStrike" cap="none" noProof="0" dirty="0">
                          <a:latin typeface="Nunito"/>
                          <a:ea typeface="Nunito"/>
                          <a:cs typeface="Nunito"/>
                          <a:sym typeface="Nunito"/>
                        </a:rPr>
                        <a:t>83.37</a:t>
                      </a:r>
                    </a:p>
                  </a:txBody>
                  <a:tcPr marL="91425" marR="91425" marT="91425" marB="91425" anchor="ctr"/>
                </a:tc>
                <a:extLst>
                  <a:ext uri="{0D108BD9-81ED-4DB2-BD59-A6C34878D82A}">
                    <a16:rowId xmlns:a16="http://schemas.microsoft.com/office/drawing/2014/main" val="10001"/>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49"/>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US" dirty="0">
                <a:solidFill>
                  <a:schemeClr val="lt2"/>
                </a:solidFill>
                <a:latin typeface="Century Gothic"/>
                <a:ea typeface="Century Gothic"/>
                <a:cs typeface="Century Gothic"/>
                <a:sym typeface="Century Gothic"/>
              </a:rPr>
              <a:t>Phase 2: Neural Network With Parameter Tuning</a:t>
            </a:r>
            <a:endParaRPr lang="en-US" dirty="0"/>
          </a:p>
        </p:txBody>
      </p:sp>
      <p:graphicFrame>
        <p:nvGraphicFramePr>
          <p:cNvPr id="241" name="Google Shape;241;p49"/>
          <p:cNvGraphicFramePr/>
          <p:nvPr>
            <p:extLst>
              <p:ext uri="{D42A27DB-BD31-4B8C-83A1-F6EECF244321}">
                <p14:modId xmlns:p14="http://schemas.microsoft.com/office/powerpoint/2010/main" val="4185823144"/>
              </p:ext>
            </p:extLst>
          </p:nvPr>
        </p:nvGraphicFramePr>
        <p:xfrm>
          <a:off x="1364825" y="2972659"/>
          <a:ext cx="5983350" cy="1273825"/>
        </p:xfrm>
        <a:graphic>
          <a:graphicData uri="http://schemas.openxmlformats.org/drawingml/2006/table">
            <a:tbl>
              <a:tblPr firstRow="1" bandRow="1">
                <a:noFill/>
                <a:tableStyleId>{36976CF4-DB81-4460-9A5E-51383ADFE053}</a:tableStyleId>
              </a:tblPr>
              <a:tblGrid>
                <a:gridCol w="1615400">
                  <a:extLst>
                    <a:ext uri="{9D8B030D-6E8A-4147-A177-3AD203B41FA5}">
                      <a16:colId xmlns:a16="http://schemas.microsoft.com/office/drawing/2014/main" val="20000"/>
                    </a:ext>
                  </a:extLst>
                </a:gridCol>
                <a:gridCol w="1047025">
                  <a:extLst>
                    <a:ext uri="{9D8B030D-6E8A-4147-A177-3AD203B41FA5}">
                      <a16:colId xmlns:a16="http://schemas.microsoft.com/office/drawing/2014/main" val="20001"/>
                    </a:ext>
                  </a:extLst>
                </a:gridCol>
                <a:gridCol w="1082725">
                  <a:extLst>
                    <a:ext uri="{9D8B030D-6E8A-4147-A177-3AD203B41FA5}">
                      <a16:colId xmlns:a16="http://schemas.microsoft.com/office/drawing/2014/main" val="20002"/>
                    </a:ext>
                  </a:extLst>
                </a:gridCol>
                <a:gridCol w="1041525">
                  <a:extLst>
                    <a:ext uri="{9D8B030D-6E8A-4147-A177-3AD203B41FA5}">
                      <a16:colId xmlns:a16="http://schemas.microsoft.com/office/drawing/2014/main" val="20003"/>
                    </a:ext>
                  </a:extLst>
                </a:gridCol>
                <a:gridCol w="1196675">
                  <a:extLst>
                    <a:ext uri="{9D8B030D-6E8A-4147-A177-3AD203B41FA5}">
                      <a16:colId xmlns:a16="http://schemas.microsoft.com/office/drawing/2014/main" val="20004"/>
                    </a:ext>
                  </a:extLst>
                </a:gridCol>
              </a:tblGrid>
              <a:tr h="595000">
                <a:tc>
                  <a:txBody>
                    <a:bodyPr/>
                    <a:lstStyle/>
                    <a:p>
                      <a:pPr marL="0" marR="0" lvl="0" indent="0" algn="ctr" rtl="0">
                        <a:lnSpc>
                          <a:spcPct val="100000"/>
                        </a:lnSpc>
                        <a:spcBef>
                          <a:spcPts val="0"/>
                        </a:spcBef>
                        <a:spcAft>
                          <a:spcPts val="0"/>
                        </a:spcAft>
                        <a:buClr>
                          <a:srgbClr val="000000"/>
                        </a:buClr>
                        <a:buSzPts val="1200"/>
                        <a:buFont typeface="Arial"/>
                        <a:buNone/>
                      </a:pPr>
                      <a:r>
                        <a:rPr lang="en-US" sz="1200" u="none" strike="noStrike" cap="none" dirty="0">
                          <a:latin typeface="Nunito"/>
                          <a:ea typeface="Nunito"/>
                          <a:cs typeface="Nunito"/>
                          <a:sym typeface="Nunito"/>
                        </a:rPr>
                        <a:t>Metric</a:t>
                      </a:r>
                    </a:p>
                  </a:txBody>
                  <a:tcPr marL="91450" marR="91450" marT="45725" marB="45725" anchor="ctr">
                    <a:solidFill>
                      <a:schemeClr val="lt2"/>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u="none" strike="noStrike" cap="none" dirty="0">
                          <a:latin typeface="Nunito"/>
                          <a:ea typeface="Nunito"/>
                          <a:cs typeface="Nunito"/>
                          <a:sym typeface="Nunito"/>
                        </a:rPr>
                        <a:t>Accuracy</a:t>
                      </a:r>
                    </a:p>
                  </a:txBody>
                  <a:tcPr marL="91450" marR="91450" marT="45725" marB="45725" anchor="ctr">
                    <a:solidFill>
                      <a:schemeClr val="lt2"/>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u="none" strike="noStrike" cap="none" dirty="0">
                          <a:latin typeface="Nunito"/>
                          <a:ea typeface="Nunito"/>
                          <a:cs typeface="Nunito"/>
                          <a:sym typeface="Nunito"/>
                        </a:rPr>
                        <a:t>Kappa</a:t>
                      </a:r>
                    </a:p>
                  </a:txBody>
                  <a:tcPr marL="91450" marR="91450" marT="45725" marB="45725" anchor="ctr">
                    <a:solidFill>
                      <a:schemeClr val="lt2"/>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u="none" strike="noStrike" cap="none" dirty="0">
                          <a:latin typeface="Nunito"/>
                          <a:ea typeface="Nunito"/>
                          <a:cs typeface="Nunito"/>
                          <a:sym typeface="Nunito"/>
                        </a:rPr>
                        <a:t>Weighted Recall</a:t>
                      </a:r>
                    </a:p>
                  </a:txBody>
                  <a:tcPr marL="91450" marR="91450" marT="45725" marB="45725" anchor="ctr">
                    <a:solidFill>
                      <a:schemeClr val="lt2"/>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u="none" strike="noStrike" cap="none" dirty="0">
                          <a:latin typeface="Nunito"/>
                          <a:ea typeface="Nunito"/>
                          <a:cs typeface="Nunito"/>
                          <a:sym typeface="Nunito"/>
                        </a:rPr>
                        <a:t>Weighted Precision</a:t>
                      </a:r>
                    </a:p>
                  </a:txBody>
                  <a:tcPr marL="91450" marR="91450" marT="45725" marB="45725" anchor="ctr">
                    <a:solidFill>
                      <a:schemeClr val="lt2"/>
                    </a:solidFill>
                  </a:tcPr>
                </a:tc>
                <a:extLst>
                  <a:ext uri="{0D108BD9-81ED-4DB2-BD59-A6C34878D82A}">
                    <a16:rowId xmlns:a16="http://schemas.microsoft.com/office/drawing/2014/main" val="10000"/>
                  </a:ext>
                </a:extLst>
              </a:tr>
              <a:tr h="678825">
                <a:tc>
                  <a:txBody>
                    <a:bodyPr/>
                    <a:lstStyle/>
                    <a:p>
                      <a:pPr marL="0" marR="0" lvl="0" indent="0" algn="ctr" rtl="0">
                        <a:lnSpc>
                          <a:spcPct val="100000"/>
                        </a:lnSpc>
                        <a:spcBef>
                          <a:spcPts val="0"/>
                        </a:spcBef>
                        <a:spcAft>
                          <a:spcPts val="0"/>
                        </a:spcAft>
                        <a:buClr>
                          <a:srgbClr val="000000"/>
                        </a:buClr>
                        <a:buSzPts val="1200"/>
                        <a:buFont typeface="Arial"/>
                        <a:buNone/>
                      </a:pPr>
                      <a:r>
                        <a:rPr lang="en-US" sz="1200" dirty="0">
                          <a:latin typeface="Nunito"/>
                          <a:ea typeface="Nunito"/>
                          <a:cs typeface="Nunito"/>
                          <a:sym typeface="Nunito"/>
                        </a:rPr>
                        <a:t>Neural Network with Parameter Tuning</a:t>
                      </a:r>
                      <a:endParaRPr lang="en-US" sz="1200" u="none" strike="noStrike" cap="none" dirty="0">
                        <a:latin typeface="Nunito"/>
                        <a:ea typeface="Nunito"/>
                        <a:cs typeface="Nunito"/>
                        <a:sym typeface="Nunito"/>
                      </a:endParaRPr>
                    </a:p>
                  </a:txBody>
                  <a:tcPr marL="91450" marR="91450" marT="45725" marB="45725" anchor="ctr"/>
                </a:tc>
                <a:tc>
                  <a:txBody>
                    <a:bodyPr/>
                    <a:lstStyle/>
                    <a:p>
                      <a:pPr marL="0" marR="0" lvl="0" indent="0" algn="ctr" rtl="0">
                        <a:lnSpc>
                          <a:spcPct val="115000"/>
                        </a:lnSpc>
                        <a:spcBef>
                          <a:spcPts val="0"/>
                        </a:spcBef>
                        <a:spcAft>
                          <a:spcPts val="0"/>
                        </a:spcAft>
                        <a:buClr>
                          <a:srgbClr val="000000"/>
                        </a:buClr>
                        <a:buSzPts val="1400"/>
                        <a:buFont typeface="Arial"/>
                        <a:buNone/>
                      </a:pPr>
                      <a:r>
                        <a:rPr lang="en-US" sz="1200" u="none" strike="noStrike" cap="none" dirty="0">
                          <a:latin typeface="Nunito"/>
                          <a:ea typeface="Nunito"/>
                          <a:cs typeface="Nunito"/>
                          <a:sym typeface="Nunito"/>
                        </a:rPr>
                        <a:t>89.09</a:t>
                      </a:r>
                    </a:p>
                  </a:txBody>
                  <a:tcPr marL="91425" marR="91425" marT="91425" marB="91425" anchor="ctr"/>
                </a:tc>
                <a:tc>
                  <a:txBody>
                    <a:bodyPr/>
                    <a:lstStyle/>
                    <a:p>
                      <a:pPr marL="0" marR="0" lvl="0" indent="0" algn="ctr" rtl="0">
                        <a:lnSpc>
                          <a:spcPct val="115000"/>
                        </a:lnSpc>
                        <a:spcBef>
                          <a:spcPts val="0"/>
                        </a:spcBef>
                        <a:spcAft>
                          <a:spcPts val="0"/>
                        </a:spcAft>
                        <a:buClr>
                          <a:srgbClr val="000000"/>
                        </a:buClr>
                        <a:buSzPts val="1400"/>
                        <a:buFont typeface="Arial"/>
                        <a:buNone/>
                      </a:pPr>
                      <a:r>
                        <a:rPr lang="en-US" sz="1200" u="none" strike="noStrike" cap="none" dirty="0">
                          <a:latin typeface="Nunito"/>
                          <a:ea typeface="Nunito"/>
                          <a:cs typeface="Nunito"/>
                          <a:sym typeface="Nunito"/>
                        </a:rPr>
                        <a:t>0.650</a:t>
                      </a:r>
                    </a:p>
                  </a:txBody>
                  <a:tcPr marL="91425" marR="91425" marT="91425" marB="91425" anchor="ctr"/>
                </a:tc>
                <a:tc>
                  <a:txBody>
                    <a:bodyPr/>
                    <a:lstStyle/>
                    <a:p>
                      <a:pPr marL="0" marR="0" lvl="0" indent="0" algn="ctr" rtl="0">
                        <a:lnSpc>
                          <a:spcPct val="115000"/>
                        </a:lnSpc>
                        <a:spcBef>
                          <a:spcPts val="0"/>
                        </a:spcBef>
                        <a:spcAft>
                          <a:spcPts val="0"/>
                        </a:spcAft>
                        <a:buClr>
                          <a:srgbClr val="000000"/>
                        </a:buClr>
                        <a:buSzPts val="1400"/>
                        <a:buFont typeface="Arial"/>
                        <a:buNone/>
                      </a:pPr>
                      <a:r>
                        <a:rPr lang="en-US" sz="1200" u="none" strike="noStrike" cap="none" dirty="0">
                          <a:latin typeface="Nunito"/>
                          <a:ea typeface="Nunito"/>
                          <a:cs typeface="Nunito"/>
                          <a:sym typeface="Nunito"/>
                        </a:rPr>
                        <a:t>81.73</a:t>
                      </a:r>
                    </a:p>
                  </a:txBody>
                  <a:tcPr marL="91425" marR="91425" marT="91425" marB="91425" anchor="ctr"/>
                </a:tc>
                <a:tc>
                  <a:txBody>
                    <a:bodyPr/>
                    <a:lstStyle/>
                    <a:p>
                      <a:pPr marL="0" marR="0" lvl="0" indent="0" algn="ctr" rtl="0">
                        <a:lnSpc>
                          <a:spcPct val="115000"/>
                        </a:lnSpc>
                        <a:spcBef>
                          <a:spcPts val="0"/>
                        </a:spcBef>
                        <a:spcAft>
                          <a:spcPts val="0"/>
                        </a:spcAft>
                        <a:buClr>
                          <a:srgbClr val="000000"/>
                        </a:buClr>
                        <a:buSzPts val="1400"/>
                        <a:buFont typeface="Arial"/>
                        <a:buNone/>
                      </a:pPr>
                      <a:r>
                        <a:rPr lang="en-US" sz="1200" u="none" strike="noStrike" cap="none" dirty="0">
                          <a:latin typeface="Nunito"/>
                          <a:ea typeface="Nunito"/>
                          <a:cs typeface="Nunito"/>
                          <a:sym typeface="Nunito"/>
                        </a:rPr>
                        <a:t>83.38</a:t>
                      </a:r>
                    </a:p>
                  </a:txBody>
                  <a:tcPr marL="91425" marR="91425" marT="91425" marB="91425" anchor="ctr"/>
                </a:tc>
                <a:extLst>
                  <a:ext uri="{0D108BD9-81ED-4DB2-BD59-A6C34878D82A}">
                    <a16:rowId xmlns:a16="http://schemas.microsoft.com/office/drawing/2014/main" val="10001"/>
                  </a:ext>
                </a:extLst>
              </a:tr>
            </a:tbl>
          </a:graphicData>
        </a:graphic>
      </p:graphicFrame>
      <p:sp>
        <p:nvSpPr>
          <p:cNvPr id="7" name="CuadroTexto 6">
            <a:extLst>
              <a:ext uri="{FF2B5EF4-FFF2-40B4-BE49-F238E27FC236}">
                <a16:creationId xmlns:a16="http://schemas.microsoft.com/office/drawing/2014/main" id="{DE74569C-B339-FFD9-5050-E52291B9E5FB}"/>
              </a:ext>
            </a:extLst>
          </p:cNvPr>
          <p:cNvSpPr txBox="1"/>
          <p:nvPr/>
        </p:nvSpPr>
        <p:spPr>
          <a:xfrm>
            <a:off x="420850" y="1022522"/>
            <a:ext cx="8457904" cy="1641475"/>
          </a:xfrm>
          <a:prstGeom prst="rect">
            <a:avLst/>
          </a:prstGeom>
          <a:noFill/>
        </p:spPr>
        <p:txBody>
          <a:bodyPr wrap="square">
            <a:spAutoFit/>
          </a:bodyPr>
          <a:lstStyle/>
          <a:p>
            <a:pPr lvl="0" indent="-317500">
              <a:spcBef>
                <a:spcPts val="1000"/>
              </a:spcBef>
              <a:buClr>
                <a:schemeClr val="dk1"/>
              </a:buClr>
              <a:buSzPts val="1400"/>
              <a:buFont typeface="Century Gothic"/>
              <a:buChar char="●"/>
            </a:pPr>
            <a:r>
              <a:rPr lang="en-US" dirty="0">
                <a:latin typeface="Century Gothic" panose="020B0502020202020204" pitchFamily="34" charset="0"/>
              </a:rPr>
              <a:t>With a slight increase in the depth of the neural network, where hidden layers were added, the results are positive and are better consolidated as a realistic model. However, it is necessary to verify whether this model is overfitting the training data.</a:t>
            </a:r>
          </a:p>
          <a:p>
            <a:pPr lvl="0" indent="-317500">
              <a:spcBef>
                <a:spcPts val="1000"/>
              </a:spcBef>
              <a:buClr>
                <a:schemeClr val="dk1"/>
              </a:buClr>
              <a:buSzPts val="1400"/>
              <a:buFont typeface="Century Gothic"/>
              <a:buChar char="●"/>
            </a:pPr>
            <a:r>
              <a:rPr lang="en-US" dirty="0">
                <a:latin typeface="Century Gothic" panose="020B0502020202020204" pitchFamily="34" charset="0"/>
              </a:rPr>
              <a:t>The model has successfully detected 80% of the debtors, in addition to having a near 90% accuracy rate.</a:t>
            </a:r>
          </a:p>
          <a:p>
            <a:pPr lvl="0" indent="-317500">
              <a:spcBef>
                <a:spcPts val="1000"/>
              </a:spcBef>
              <a:buClr>
                <a:schemeClr val="dk1"/>
              </a:buClr>
              <a:buSzPts val="1400"/>
              <a:buFont typeface="Century Gothic"/>
              <a:buChar char="●"/>
            </a:pPr>
            <a:r>
              <a:rPr lang="en-US" dirty="0">
                <a:latin typeface="Century Gothic" panose="020B0502020202020204" pitchFamily="34" charset="0"/>
              </a:rPr>
              <a:t>The kappa value has improved slightly.</a:t>
            </a:r>
            <a:endParaRPr lang="en-US" sz="1400" dirty="0">
              <a:latin typeface="Century Gothic" panose="020B0502020202020204" pitchFamily="34"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50"/>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US" dirty="0">
                <a:solidFill>
                  <a:schemeClr val="lt2"/>
                </a:solidFill>
                <a:latin typeface="Century Gothic"/>
                <a:ea typeface="Century Gothic"/>
                <a:cs typeface="Century Gothic"/>
                <a:sym typeface="Century Gothic"/>
              </a:rPr>
              <a:t>Phase 3: Neural Network Using Grid Search </a:t>
            </a:r>
            <a:endParaRPr dirty="0"/>
          </a:p>
        </p:txBody>
      </p:sp>
      <p:sp>
        <p:nvSpPr>
          <p:cNvPr id="247" name="Google Shape;247;p50"/>
          <p:cNvSpPr txBox="1">
            <a:spLocks noGrp="1"/>
          </p:cNvSpPr>
          <p:nvPr>
            <p:ph type="body" idx="1"/>
          </p:nvPr>
        </p:nvSpPr>
        <p:spPr>
          <a:xfrm>
            <a:off x="202550" y="861974"/>
            <a:ext cx="8307900" cy="2161883"/>
          </a:xfrm>
          <a:prstGeom prst="rect">
            <a:avLst/>
          </a:prstGeom>
          <a:noFill/>
          <a:ln>
            <a:noFill/>
          </a:ln>
        </p:spPr>
        <p:txBody>
          <a:bodyPr spcFirstLastPara="1" wrap="square" lIns="91425" tIns="91425" rIns="91425" bIns="91425" anchor="t" anchorCtr="0">
            <a:noAutofit/>
          </a:bodyPr>
          <a:lstStyle/>
          <a:p>
            <a:pPr lvl="0" indent="-317500">
              <a:spcBef>
                <a:spcPts val="1000"/>
              </a:spcBef>
              <a:buClr>
                <a:schemeClr val="dk1"/>
              </a:buClr>
              <a:buSzPts val="1400"/>
              <a:buFont typeface="Century Gothic"/>
              <a:buChar char="●"/>
            </a:pPr>
            <a:r>
              <a:rPr lang="en-US" sz="1400" dirty="0">
                <a:solidFill>
                  <a:schemeClr val="dk1"/>
                </a:solidFill>
                <a:latin typeface="Century Gothic"/>
                <a:ea typeface="Century Gothic"/>
                <a:cs typeface="Century Gothic"/>
                <a:sym typeface="Century Gothic"/>
              </a:rPr>
              <a:t>The introduction of cross-validation has reduced the model's performance. This isn't necessarily negative, as the model has now been validated and can perform better in a real-world environment, rather than being overfitted to the training data.</a:t>
            </a:r>
          </a:p>
          <a:p>
            <a:pPr lvl="0" indent="-317500">
              <a:spcBef>
                <a:spcPts val="1000"/>
              </a:spcBef>
              <a:buClr>
                <a:schemeClr val="dk1"/>
              </a:buClr>
              <a:buSzPts val="1400"/>
              <a:buFont typeface="Century Gothic"/>
              <a:buChar char="●"/>
            </a:pPr>
            <a:r>
              <a:rPr lang="en-US" sz="1400" dirty="0">
                <a:solidFill>
                  <a:schemeClr val="dk1"/>
                </a:solidFill>
                <a:latin typeface="Century Gothic"/>
                <a:ea typeface="Century Gothic"/>
                <a:cs typeface="Century Gothic"/>
                <a:sym typeface="Century Gothic"/>
              </a:rPr>
              <a:t>Despite its generally good performance, the model requires refinement to improve the detection of bad customers without penalizing good ones.</a:t>
            </a:r>
            <a:endParaRPr sz="1400" dirty="0">
              <a:solidFill>
                <a:schemeClr val="dk1"/>
              </a:solidFill>
              <a:latin typeface="Century Gothic"/>
              <a:ea typeface="Century Gothic"/>
              <a:cs typeface="Century Gothic"/>
              <a:sym typeface="Century Gothic"/>
            </a:endParaRPr>
          </a:p>
        </p:txBody>
      </p:sp>
      <p:graphicFrame>
        <p:nvGraphicFramePr>
          <p:cNvPr id="248" name="Google Shape;248;p50"/>
          <p:cNvGraphicFramePr/>
          <p:nvPr>
            <p:extLst>
              <p:ext uri="{D42A27DB-BD31-4B8C-83A1-F6EECF244321}">
                <p14:modId xmlns:p14="http://schemas.microsoft.com/office/powerpoint/2010/main" val="510745146"/>
              </p:ext>
            </p:extLst>
          </p:nvPr>
        </p:nvGraphicFramePr>
        <p:xfrm>
          <a:off x="1364825" y="3144444"/>
          <a:ext cx="5983350" cy="1273825"/>
        </p:xfrm>
        <a:graphic>
          <a:graphicData uri="http://schemas.openxmlformats.org/drawingml/2006/table">
            <a:tbl>
              <a:tblPr firstRow="1" bandRow="1">
                <a:noFill/>
                <a:tableStyleId>{36976CF4-DB81-4460-9A5E-51383ADFE053}</a:tableStyleId>
              </a:tblPr>
              <a:tblGrid>
                <a:gridCol w="1615400">
                  <a:extLst>
                    <a:ext uri="{9D8B030D-6E8A-4147-A177-3AD203B41FA5}">
                      <a16:colId xmlns:a16="http://schemas.microsoft.com/office/drawing/2014/main" val="20000"/>
                    </a:ext>
                  </a:extLst>
                </a:gridCol>
                <a:gridCol w="1047025">
                  <a:extLst>
                    <a:ext uri="{9D8B030D-6E8A-4147-A177-3AD203B41FA5}">
                      <a16:colId xmlns:a16="http://schemas.microsoft.com/office/drawing/2014/main" val="20001"/>
                    </a:ext>
                  </a:extLst>
                </a:gridCol>
                <a:gridCol w="1082725">
                  <a:extLst>
                    <a:ext uri="{9D8B030D-6E8A-4147-A177-3AD203B41FA5}">
                      <a16:colId xmlns:a16="http://schemas.microsoft.com/office/drawing/2014/main" val="20002"/>
                    </a:ext>
                  </a:extLst>
                </a:gridCol>
                <a:gridCol w="1041525">
                  <a:extLst>
                    <a:ext uri="{9D8B030D-6E8A-4147-A177-3AD203B41FA5}">
                      <a16:colId xmlns:a16="http://schemas.microsoft.com/office/drawing/2014/main" val="20003"/>
                    </a:ext>
                  </a:extLst>
                </a:gridCol>
                <a:gridCol w="1196675">
                  <a:extLst>
                    <a:ext uri="{9D8B030D-6E8A-4147-A177-3AD203B41FA5}">
                      <a16:colId xmlns:a16="http://schemas.microsoft.com/office/drawing/2014/main" val="20004"/>
                    </a:ext>
                  </a:extLst>
                </a:gridCol>
              </a:tblGrid>
              <a:tr h="595000">
                <a:tc>
                  <a:txBody>
                    <a:bodyPr/>
                    <a:lstStyle/>
                    <a:p>
                      <a:pPr marL="0" marR="0" lvl="0" indent="0" algn="ctr" rtl="0">
                        <a:lnSpc>
                          <a:spcPct val="100000"/>
                        </a:lnSpc>
                        <a:spcBef>
                          <a:spcPts val="0"/>
                        </a:spcBef>
                        <a:spcAft>
                          <a:spcPts val="0"/>
                        </a:spcAft>
                        <a:buClr>
                          <a:srgbClr val="000000"/>
                        </a:buClr>
                        <a:buSzPts val="1200"/>
                        <a:buFont typeface="Arial"/>
                        <a:buNone/>
                      </a:pPr>
                      <a:r>
                        <a:rPr lang="en-US" sz="1200" u="none" strike="noStrike" cap="none" dirty="0">
                          <a:latin typeface="Nunito"/>
                          <a:ea typeface="Nunito"/>
                          <a:cs typeface="Nunito"/>
                          <a:sym typeface="Nunito"/>
                        </a:rPr>
                        <a:t>Metric</a:t>
                      </a:r>
                      <a:endParaRPr sz="1200" u="none" strike="noStrike" cap="none" dirty="0">
                        <a:latin typeface="Nunito"/>
                        <a:ea typeface="Nunito"/>
                        <a:cs typeface="Nunito"/>
                        <a:sym typeface="Nunito"/>
                      </a:endParaRPr>
                    </a:p>
                  </a:txBody>
                  <a:tcPr marL="91450" marR="91450" marT="45725" marB="45725" anchor="ctr">
                    <a:solidFill>
                      <a:schemeClr val="lt2"/>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u="none" strike="noStrike" cap="none">
                          <a:latin typeface="Nunito"/>
                          <a:ea typeface="Nunito"/>
                          <a:cs typeface="Nunito"/>
                          <a:sym typeface="Nunito"/>
                        </a:rPr>
                        <a:t>Accuracy</a:t>
                      </a:r>
                      <a:endParaRPr sz="1200" u="none" strike="noStrike" cap="none">
                        <a:latin typeface="Nunito"/>
                        <a:ea typeface="Nunito"/>
                        <a:cs typeface="Nunito"/>
                        <a:sym typeface="Nunito"/>
                      </a:endParaRPr>
                    </a:p>
                  </a:txBody>
                  <a:tcPr marL="91450" marR="91450" marT="45725" marB="45725" anchor="ctr">
                    <a:solidFill>
                      <a:schemeClr val="lt2"/>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u="none" strike="noStrike" cap="none">
                          <a:latin typeface="Nunito"/>
                          <a:ea typeface="Nunito"/>
                          <a:cs typeface="Nunito"/>
                          <a:sym typeface="Nunito"/>
                        </a:rPr>
                        <a:t>Kappa</a:t>
                      </a:r>
                      <a:endParaRPr sz="1200" u="none" strike="noStrike" cap="none">
                        <a:latin typeface="Nunito"/>
                        <a:ea typeface="Nunito"/>
                        <a:cs typeface="Nunito"/>
                        <a:sym typeface="Nunito"/>
                      </a:endParaRPr>
                    </a:p>
                  </a:txBody>
                  <a:tcPr marL="91450" marR="91450" marT="45725" marB="45725" anchor="ctr">
                    <a:solidFill>
                      <a:schemeClr val="lt2"/>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u="none" strike="noStrike" cap="none">
                          <a:latin typeface="Nunito"/>
                          <a:ea typeface="Nunito"/>
                          <a:cs typeface="Nunito"/>
                          <a:sym typeface="Nunito"/>
                        </a:rPr>
                        <a:t>Weighted Recall</a:t>
                      </a:r>
                      <a:endParaRPr sz="1200" u="none" strike="noStrike" cap="none">
                        <a:latin typeface="Nunito"/>
                        <a:ea typeface="Nunito"/>
                        <a:cs typeface="Nunito"/>
                        <a:sym typeface="Nunito"/>
                      </a:endParaRPr>
                    </a:p>
                  </a:txBody>
                  <a:tcPr marL="91450" marR="91450" marT="45725" marB="45725" anchor="ctr">
                    <a:solidFill>
                      <a:schemeClr val="lt2"/>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u="none" strike="noStrike" cap="none" dirty="0">
                          <a:latin typeface="Nunito"/>
                          <a:ea typeface="Nunito"/>
                          <a:cs typeface="Nunito"/>
                          <a:sym typeface="Nunito"/>
                        </a:rPr>
                        <a:t>Weighted Precision</a:t>
                      </a:r>
                      <a:endParaRPr sz="1200" u="none" strike="noStrike" cap="none" dirty="0">
                        <a:latin typeface="Nunito"/>
                        <a:ea typeface="Nunito"/>
                        <a:cs typeface="Nunito"/>
                        <a:sym typeface="Nunito"/>
                      </a:endParaRPr>
                    </a:p>
                  </a:txBody>
                  <a:tcPr marL="91450" marR="91450" marT="45725" marB="45725" anchor="ctr">
                    <a:solidFill>
                      <a:schemeClr val="lt2"/>
                    </a:solidFill>
                  </a:tcPr>
                </a:tc>
                <a:extLst>
                  <a:ext uri="{0D108BD9-81ED-4DB2-BD59-A6C34878D82A}">
                    <a16:rowId xmlns:a16="http://schemas.microsoft.com/office/drawing/2014/main" val="10000"/>
                  </a:ext>
                </a:extLst>
              </a:tr>
              <a:tr h="678825">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Nunito"/>
                          <a:ea typeface="Nunito"/>
                          <a:cs typeface="Nunito"/>
                          <a:sym typeface="Nunito"/>
                        </a:rPr>
                        <a:t>Grid Search Optimized Model</a:t>
                      </a:r>
                      <a:endParaRPr sz="1200" u="none" strike="noStrike" cap="none">
                        <a:latin typeface="Nunito"/>
                        <a:ea typeface="Nunito"/>
                        <a:cs typeface="Nunito"/>
                        <a:sym typeface="Nunito"/>
                      </a:endParaRPr>
                    </a:p>
                  </a:txBody>
                  <a:tcPr marL="91450" marR="91450" marT="45725" marB="45725" anchor="ctr"/>
                </a:tc>
                <a:tc>
                  <a:txBody>
                    <a:bodyPr/>
                    <a:lstStyle/>
                    <a:p>
                      <a:pPr marL="0" marR="0" lvl="0" indent="0" algn="ctr" rtl="0">
                        <a:lnSpc>
                          <a:spcPct val="115000"/>
                        </a:lnSpc>
                        <a:spcBef>
                          <a:spcPts val="0"/>
                        </a:spcBef>
                        <a:spcAft>
                          <a:spcPts val="0"/>
                        </a:spcAft>
                        <a:buClr>
                          <a:srgbClr val="000000"/>
                        </a:buClr>
                        <a:buSzPts val="1400"/>
                        <a:buFont typeface="Arial"/>
                        <a:buNone/>
                      </a:pPr>
                      <a:r>
                        <a:rPr lang="en-US" sz="1200" u="none" strike="noStrike" cap="none" dirty="0">
                          <a:latin typeface="Nunito"/>
                          <a:ea typeface="Nunito"/>
                          <a:cs typeface="Nunito"/>
                          <a:sym typeface="Nunito"/>
                        </a:rPr>
                        <a:t>8</a:t>
                      </a:r>
                      <a:r>
                        <a:rPr lang="en-US" sz="1200" dirty="0">
                          <a:latin typeface="Nunito"/>
                          <a:ea typeface="Nunito"/>
                          <a:cs typeface="Nunito"/>
                          <a:sym typeface="Nunito"/>
                        </a:rPr>
                        <a:t>8</a:t>
                      </a:r>
                      <a:r>
                        <a:rPr lang="en-US" sz="1200" u="none" strike="noStrike" cap="none" dirty="0">
                          <a:latin typeface="Nunito"/>
                          <a:ea typeface="Nunito"/>
                          <a:cs typeface="Nunito"/>
                          <a:sym typeface="Nunito"/>
                        </a:rPr>
                        <a:t>.26</a:t>
                      </a:r>
                      <a:endParaRPr sz="1200" u="none" strike="noStrike" cap="none" dirty="0">
                        <a:latin typeface="Nunito"/>
                        <a:ea typeface="Nunito"/>
                        <a:cs typeface="Nunito"/>
                        <a:sym typeface="Nunito"/>
                      </a:endParaRPr>
                    </a:p>
                  </a:txBody>
                  <a:tcPr marL="91425" marR="91425" marT="91425" marB="91425" anchor="ctr"/>
                </a:tc>
                <a:tc>
                  <a:txBody>
                    <a:bodyPr/>
                    <a:lstStyle/>
                    <a:p>
                      <a:pPr marL="0" marR="0" lvl="0" indent="0" algn="ctr" rtl="0">
                        <a:lnSpc>
                          <a:spcPct val="115000"/>
                        </a:lnSpc>
                        <a:spcBef>
                          <a:spcPts val="0"/>
                        </a:spcBef>
                        <a:spcAft>
                          <a:spcPts val="0"/>
                        </a:spcAft>
                        <a:buClr>
                          <a:srgbClr val="000000"/>
                        </a:buClr>
                        <a:buSzPts val="1400"/>
                        <a:buFont typeface="Arial"/>
                        <a:buNone/>
                      </a:pPr>
                      <a:r>
                        <a:rPr lang="en-US" sz="1200" u="none" strike="noStrike" cap="none" dirty="0">
                          <a:latin typeface="Nunito"/>
                          <a:ea typeface="Nunito"/>
                          <a:cs typeface="Nunito"/>
                          <a:sym typeface="Nunito"/>
                        </a:rPr>
                        <a:t>0.614</a:t>
                      </a:r>
                      <a:endParaRPr sz="1200" u="none" strike="noStrike" cap="none" dirty="0">
                        <a:latin typeface="Nunito"/>
                        <a:ea typeface="Nunito"/>
                        <a:cs typeface="Nunito"/>
                        <a:sym typeface="Nunito"/>
                      </a:endParaRPr>
                    </a:p>
                  </a:txBody>
                  <a:tcPr marL="91425" marR="91425" marT="91425" marB="91425" anchor="ctr"/>
                </a:tc>
                <a:tc>
                  <a:txBody>
                    <a:bodyPr/>
                    <a:lstStyle/>
                    <a:p>
                      <a:pPr marL="0" marR="0" lvl="0" indent="0" algn="ctr" rtl="0">
                        <a:lnSpc>
                          <a:spcPct val="115000"/>
                        </a:lnSpc>
                        <a:spcBef>
                          <a:spcPts val="0"/>
                        </a:spcBef>
                        <a:spcAft>
                          <a:spcPts val="0"/>
                        </a:spcAft>
                        <a:buClr>
                          <a:srgbClr val="000000"/>
                        </a:buClr>
                        <a:buSzPts val="1400"/>
                        <a:buFont typeface="Arial"/>
                        <a:buNone/>
                      </a:pPr>
                      <a:r>
                        <a:rPr lang="en-US" sz="1200" u="none" strike="noStrike" cap="none" dirty="0">
                          <a:latin typeface="Nunito"/>
                          <a:ea typeface="Nunito"/>
                          <a:cs typeface="Nunito"/>
                          <a:sym typeface="Nunito"/>
                        </a:rPr>
                        <a:t>79.21</a:t>
                      </a:r>
                      <a:endParaRPr sz="1200" u="none" strike="noStrike" cap="none" dirty="0">
                        <a:latin typeface="Nunito"/>
                        <a:ea typeface="Nunito"/>
                        <a:cs typeface="Nunito"/>
                        <a:sym typeface="Nunito"/>
                      </a:endParaRPr>
                    </a:p>
                  </a:txBody>
                  <a:tcPr marL="91425" marR="91425" marT="91425" marB="91425" anchor="ctr"/>
                </a:tc>
                <a:tc>
                  <a:txBody>
                    <a:bodyPr/>
                    <a:lstStyle/>
                    <a:p>
                      <a:pPr marL="0" marR="0" lvl="0" indent="0" algn="ctr" rtl="0">
                        <a:lnSpc>
                          <a:spcPct val="115000"/>
                        </a:lnSpc>
                        <a:spcBef>
                          <a:spcPts val="0"/>
                        </a:spcBef>
                        <a:spcAft>
                          <a:spcPts val="0"/>
                        </a:spcAft>
                        <a:buClr>
                          <a:srgbClr val="000000"/>
                        </a:buClr>
                        <a:buSzPts val="1400"/>
                        <a:buFont typeface="Arial"/>
                        <a:buNone/>
                      </a:pPr>
                      <a:r>
                        <a:rPr lang="en-US" sz="1200" u="none" strike="noStrike" cap="none" dirty="0">
                          <a:latin typeface="Nunito"/>
                          <a:ea typeface="Nunito"/>
                          <a:cs typeface="Nunito"/>
                          <a:sym typeface="Nunito"/>
                        </a:rPr>
                        <a:t>82.48</a:t>
                      </a:r>
                      <a:endParaRPr sz="1200" u="none" strike="noStrike" cap="none" dirty="0">
                        <a:latin typeface="Nunito"/>
                        <a:ea typeface="Nunito"/>
                        <a:cs typeface="Nunito"/>
                        <a:sym typeface="Nunito"/>
                      </a:endParaRPr>
                    </a:p>
                  </a:txBody>
                  <a:tcPr marL="91425" marR="91425" marT="91425" marB="91425" anchor="ctr"/>
                </a:tc>
                <a:extLst>
                  <a:ext uri="{0D108BD9-81ED-4DB2-BD59-A6C34878D82A}">
                    <a16:rowId xmlns:a16="http://schemas.microsoft.com/office/drawing/2014/main" val="10001"/>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p51"/>
          <p:cNvSpPr txBox="1">
            <a:spLocks noGrp="1"/>
          </p:cNvSpPr>
          <p:nvPr>
            <p:ph type="body" idx="1"/>
          </p:nvPr>
        </p:nvSpPr>
        <p:spPr>
          <a:xfrm>
            <a:off x="202550" y="654311"/>
            <a:ext cx="8629800" cy="2451594"/>
          </a:xfrm>
          <a:prstGeom prst="rect">
            <a:avLst/>
          </a:prstGeom>
          <a:noFill/>
          <a:ln>
            <a:noFill/>
          </a:ln>
        </p:spPr>
        <p:txBody>
          <a:bodyPr spcFirstLastPara="1" wrap="square" lIns="91425" tIns="91425" rIns="91425" bIns="91425" anchor="t" anchorCtr="0">
            <a:noAutofit/>
          </a:bodyPr>
          <a:lstStyle/>
          <a:p>
            <a:pPr lvl="0" indent="-317500">
              <a:spcBef>
                <a:spcPts val="1000"/>
              </a:spcBef>
              <a:buSzPts val="1400"/>
              <a:buFont typeface="Century Gothic"/>
              <a:buChar char="●"/>
            </a:pPr>
            <a:r>
              <a:rPr lang="en-US" sz="1400" dirty="0"/>
              <a:t>The Grid Search Optimized Model (Phase 3) is selected. Although its metrics are slightly lower than the manual model, this model has been validated using cross-validation (10-fold). This ensures that it is mathematically robust, stable, and not overfitted to a specific data sample, which is critical to avoid losses of millions in a real-world environment.</a:t>
            </a:r>
          </a:p>
          <a:p>
            <a:pPr lvl="0" indent="-317500">
              <a:spcBef>
                <a:spcPts val="1000"/>
              </a:spcBef>
              <a:buSzPts val="1400"/>
              <a:buFont typeface="Century Gothic"/>
              <a:buChar char="●"/>
            </a:pPr>
            <a:r>
              <a:rPr lang="en-US" sz="1400" dirty="0"/>
              <a:t>The critical metric is the Recall (Sensitivity) of the "BAD" Class. The cost of approving a loan for a customer who will not repay is vastly greater than the cost of reviewing a doubtful customer. Maximizing the Recall protects the bank's capital.</a:t>
            </a:r>
          </a:p>
        </p:txBody>
      </p:sp>
      <p:sp>
        <p:nvSpPr>
          <p:cNvPr id="254" name="Google Shape;254;p51"/>
          <p:cNvSpPr txBox="1"/>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200"/>
              <a:buFont typeface="Arial"/>
              <a:buNone/>
            </a:pPr>
            <a:r>
              <a:rPr lang="en-US" sz="2200" b="1" i="0" u="none" strike="noStrike" cap="none" dirty="0">
                <a:solidFill>
                  <a:schemeClr val="lt2"/>
                </a:solidFill>
                <a:latin typeface="Century Gothic"/>
                <a:ea typeface="Century Gothic"/>
                <a:cs typeface="Century Gothic"/>
                <a:sym typeface="Century Gothic"/>
              </a:rPr>
              <a:t>Model Performance Summary</a:t>
            </a:r>
          </a:p>
        </p:txBody>
      </p:sp>
      <p:graphicFrame>
        <p:nvGraphicFramePr>
          <p:cNvPr id="255" name="Google Shape;255;p51"/>
          <p:cNvGraphicFramePr/>
          <p:nvPr>
            <p:extLst>
              <p:ext uri="{D42A27DB-BD31-4B8C-83A1-F6EECF244321}">
                <p14:modId xmlns:p14="http://schemas.microsoft.com/office/powerpoint/2010/main" val="2428337997"/>
              </p:ext>
            </p:extLst>
          </p:nvPr>
        </p:nvGraphicFramePr>
        <p:xfrm>
          <a:off x="1916212" y="3105905"/>
          <a:ext cx="5311575" cy="1828840"/>
        </p:xfrm>
        <a:graphic>
          <a:graphicData uri="http://schemas.openxmlformats.org/drawingml/2006/table">
            <a:tbl>
              <a:tblPr firstRow="1" bandRow="1">
                <a:noFill/>
                <a:tableStyleId>{36976CF4-DB81-4460-9A5E-51383ADFE053}</a:tableStyleId>
              </a:tblPr>
              <a:tblGrid>
                <a:gridCol w="1434025">
                  <a:extLst>
                    <a:ext uri="{9D8B030D-6E8A-4147-A177-3AD203B41FA5}">
                      <a16:colId xmlns:a16="http://schemas.microsoft.com/office/drawing/2014/main" val="20000"/>
                    </a:ext>
                  </a:extLst>
                </a:gridCol>
                <a:gridCol w="929475">
                  <a:extLst>
                    <a:ext uri="{9D8B030D-6E8A-4147-A177-3AD203B41FA5}">
                      <a16:colId xmlns:a16="http://schemas.microsoft.com/office/drawing/2014/main" val="20001"/>
                    </a:ext>
                  </a:extLst>
                </a:gridCol>
                <a:gridCol w="961150">
                  <a:extLst>
                    <a:ext uri="{9D8B030D-6E8A-4147-A177-3AD203B41FA5}">
                      <a16:colId xmlns:a16="http://schemas.microsoft.com/office/drawing/2014/main" val="20002"/>
                    </a:ext>
                  </a:extLst>
                </a:gridCol>
                <a:gridCol w="924600">
                  <a:extLst>
                    <a:ext uri="{9D8B030D-6E8A-4147-A177-3AD203B41FA5}">
                      <a16:colId xmlns:a16="http://schemas.microsoft.com/office/drawing/2014/main" val="20003"/>
                    </a:ext>
                  </a:extLst>
                </a:gridCol>
                <a:gridCol w="1062325">
                  <a:extLst>
                    <a:ext uri="{9D8B030D-6E8A-4147-A177-3AD203B41FA5}">
                      <a16:colId xmlns:a16="http://schemas.microsoft.com/office/drawing/2014/main" val="20004"/>
                    </a:ext>
                  </a:extLst>
                </a:gridCol>
              </a:tblGrid>
              <a:tr h="365650">
                <a:tc>
                  <a:txBody>
                    <a:bodyPr/>
                    <a:lstStyle/>
                    <a:p>
                      <a:pPr marL="0" marR="0" lvl="0" indent="0" algn="ctr" rtl="0">
                        <a:lnSpc>
                          <a:spcPct val="100000"/>
                        </a:lnSpc>
                        <a:spcBef>
                          <a:spcPts val="0"/>
                        </a:spcBef>
                        <a:spcAft>
                          <a:spcPts val="0"/>
                        </a:spcAft>
                        <a:buClr>
                          <a:srgbClr val="000000"/>
                        </a:buClr>
                        <a:buSzPts val="1200"/>
                        <a:buFont typeface="Arial"/>
                        <a:buNone/>
                      </a:pPr>
                      <a:r>
                        <a:rPr lang="en-US" sz="1200" u="none" strike="noStrike" cap="none" dirty="0">
                          <a:latin typeface="Nunito"/>
                          <a:ea typeface="Nunito"/>
                          <a:cs typeface="Nunito"/>
                          <a:sym typeface="Nunito"/>
                        </a:rPr>
                        <a:t>Metric</a:t>
                      </a:r>
                    </a:p>
                  </a:txBody>
                  <a:tcPr marL="91450" marR="91450" marT="45725" marB="45725" anchor="ctr">
                    <a:solidFill>
                      <a:schemeClr val="lt2"/>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u="none" strike="noStrike" cap="none" dirty="0">
                          <a:latin typeface="Nunito"/>
                          <a:ea typeface="Nunito"/>
                          <a:cs typeface="Nunito"/>
                          <a:sym typeface="Nunito"/>
                        </a:rPr>
                        <a:t>Accuracy</a:t>
                      </a:r>
                    </a:p>
                  </a:txBody>
                  <a:tcPr marL="91450" marR="91450" marT="45725" marB="45725" anchor="ctr">
                    <a:solidFill>
                      <a:schemeClr val="lt2"/>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u="none" strike="noStrike" cap="none" dirty="0">
                          <a:latin typeface="Nunito"/>
                          <a:ea typeface="Nunito"/>
                          <a:cs typeface="Nunito"/>
                          <a:sym typeface="Nunito"/>
                        </a:rPr>
                        <a:t>Kappa</a:t>
                      </a:r>
                    </a:p>
                  </a:txBody>
                  <a:tcPr marL="91450" marR="91450" marT="45725" marB="45725" anchor="ctr">
                    <a:solidFill>
                      <a:schemeClr val="lt2"/>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u="none" strike="noStrike" cap="none" dirty="0">
                          <a:latin typeface="Nunito"/>
                          <a:ea typeface="Nunito"/>
                          <a:cs typeface="Nunito"/>
                          <a:sym typeface="Nunito"/>
                        </a:rPr>
                        <a:t>Weighted Recall</a:t>
                      </a:r>
                    </a:p>
                  </a:txBody>
                  <a:tcPr marL="91450" marR="91450" marT="45725" marB="45725" anchor="ctr">
                    <a:solidFill>
                      <a:schemeClr val="lt2"/>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u="none" strike="noStrike" cap="none" dirty="0">
                          <a:latin typeface="Nunito"/>
                          <a:ea typeface="Nunito"/>
                          <a:cs typeface="Nunito"/>
                          <a:sym typeface="Nunito"/>
                        </a:rPr>
                        <a:t>Weighted Precision</a:t>
                      </a:r>
                    </a:p>
                  </a:txBody>
                  <a:tcPr marL="91450" marR="91450" marT="45725" marB="45725" anchor="ctr">
                    <a:solidFill>
                      <a:schemeClr val="lt2"/>
                    </a:solidFill>
                  </a:tcPr>
                </a:tc>
                <a:extLst>
                  <a:ext uri="{0D108BD9-81ED-4DB2-BD59-A6C34878D82A}">
                    <a16:rowId xmlns:a16="http://schemas.microsoft.com/office/drawing/2014/main" val="10000"/>
                  </a:ext>
                </a:extLst>
              </a:tr>
              <a:tr h="417175">
                <a:tc>
                  <a:txBody>
                    <a:bodyPr/>
                    <a:lstStyle/>
                    <a:p>
                      <a:pPr marL="0" lvl="0" indent="0" algn="ctr" rtl="0">
                        <a:spcBef>
                          <a:spcPts val="0"/>
                        </a:spcBef>
                        <a:spcAft>
                          <a:spcPts val="0"/>
                        </a:spcAft>
                        <a:buClr>
                          <a:srgbClr val="000000"/>
                        </a:buClr>
                        <a:buSzPts val="1200"/>
                        <a:buFont typeface="Arial"/>
                        <a:buNone/>
                      </a:pPr>
                      <a:r>
                        <a:rPr lang="en-US" sz="1200" dirty="0">
                          <a:latin typeface="Nunito"/>
                          <a:ea typeface="Nunito"/>
                          <a:cs typeface="Nunito"/>
                          <a:sym typeface="Nunito"/>
                        </a:rPr>
                        <a:t>Without parameter tuning</a:t>
                      </a:r>
                    </a:p>
                  </a:txBody>
                  <a:tcPr marL="91450" marR="91450" marT="45725" marB="45725" anchor="ctr"/>
                </a:tc>
                <a:tc>
                  <a:txBody>
                    <a:bodyPr/>
                    <a:lstStyle/>
                    <a:p>
                      <a:pPr marL="0" marR="0" lvl="0" indent="0" algn="ctr" rtl="0">
                        <a:lnSpc>
                          <a:spcPct val="115000"/>
                        </a:lnSpc>
                        <a:spcBef>
                          <a:spcPts val="0"/>
                        </a:spcBef>
                        <a:spcAft>
                          <a:spcPts val="0"/>
                        </a:spcAft>
                        <a:buClr>
                          <a:srgbClr val="000000"/>
                        </a:buClr>
                        <a:buSzPts val="1400"/>
                        <a:buFont typeface="Arial"/>
                        <a:buNone/>
                      </a:pPr>
                      <a:r>
                        <a:rPr lang="en-US" sz="1200" u="none" strike="noStrike" cap="none" dirty="0">
                          <a:latin typeface="Nunito"/>
                          <a:ea typeface="Nunito"/>
                          <a:cs typeface="Nunito"/>
                          <a:sym typeface="Nunito"/>
                        </a:rPr>
                        <a:t>88.70</a:t>
                      </a:r>
                    </a:p>
                  </a:txBody>
                  <a:tcPr marL="91425" marR="91425" marT="91425" marB="91425" anchor="ctr"/>
                </a:tc>
                <a:tc>
                  <a:txBody>
                    <a:bodyPr/>
                    <a:lstStyle/>
                    <a:p>
                      <a:pPr marL="0" marR="0" lvl="0" indent="0" algn="ctr" rtl="0">
                        <a:lnSpc>
                          <a:spcPct val="115000"/>
                        </a:lnSpc>
                        <a:spcBef>
                          <a:spcPts val="0"/>
                        </a:spcBef>
                        <a:spcAft>
                          <a:spcPts val="0"/>
                        </a:spcAft>
                        <a:buClr>
                          <a:srgbClr val="000000"/>
                        </a:buClr>
                        <a:buSzPts val="1400"/>
                        <a:buFont typeface="Arial"/>
                        <a:buNone/>
                      </a:pPr>
                      <a:r>
                        <a:rPr lang="en-US" sz="1200" u="none" strike="noStrike" cap="none" dirty="0">
                          <a:latin typeface="Nunito"/>
                          <a:ea typeface="Nunito"/>
                          <a:cs typeface="Nunito"/>
                          <a:sym typeface="Nunito"/>
                        </a:rPr>
                        <a:t>0.627</a:t>
                      </a:r>
                    </a:p>
                  </a:txBody>
                  <a:tcPr marL="91425" marR="91425" marT="91425" marB="91425" anchor="ctr"/>
                </a:tc>
                <a:tc>
                  <a:txBody>
                    <a:bodyPr/>
                    <a:lstStyle/>
                    <a:p>
                      <a:pPr marL="0" marR="0" lvl="0" indent="0" algn="ctr" rtl="0">
                        <a:lnSpc>
                          <a:spcPct val="115000"/>
                        </a:lnSpc>
                        <a:spcBef>
                          <a:spcPts val="0"/>
                        </a:spcBef>
                        <a:spcAft>
                          <a:spcPts val="0"/>
                        </a:spcAft>
                        <a:buClr>
                          <a:srgbClr val="000000"/>
                        </a:buClr>
                        <a:buSzPts val="1400"/>
                        <a:buFont typeface="Arial"/>
                        <a:buNone/>
                      </a:pPr>
                      <a:r>
                        <a:rPr lang="en-US" sz="1200" u="none" strike="noStrike" cap="none" dirty="0">
                          <a:latin typeface="Nunito"/>
                          <a:ea typeface="Nunito"/>
                          <a:cs typeface="Nunito"/>
                          <a:sym typeface="Nunito"/>
                        </a:rPr>
                        <a:t>79.70</a:t>
                      </a:r>
                    </a:p>
                  </a:txBody>
                  <a:tcPr marL="91425" marR="91425" marT="91425" marB="91425" anchor="ctr"/>
                </a:tc>
                <a:tc>
                  <a:txBody>
                    <a:bodyPr/>
                    <a:lstStyle/>
                    <a:p>
                      <a:pPr marL="0" marR="0" lvl="0" indent="0" algn="ctr" rtl="0">
                        <a:lnSpc>
                          <a:spcPct val="115000"/>
                        </a:lnSpc>
                        <a:spcBef>
                          <a:spcPts val="0"/>
                        </a:spcBef>
                        <a:spcAft>
                          <a:spcPts val="0"/>
                        </a:spcAft>
                        <a:buClr>
                          <a:srgbClr val="000000"/>
                        </a:buClr>
                        <a:buSzPts val="1400"/>
                        <a:buFont typeface="Arial"/>
                        <a:buNone/>
                      </a:pPr>
                      <a:r>
                        <a:rPr lang="en-US" sz="1200" u="none" strike="noStrike" cap="none" dirty="0">
                          <a:latin typeface="Nunito"/>
                          <a:ea typeface="Nunito"/>
                          <a:cs typeface="Nunito"/>
                          <a:sym typeface="Nunito"/>
                        </a:rPr>
                        <a:t>83.37</a:t>
                      </a:r>
                    </a:p>
                  </a:txBody>
                  <a:tcPr marL="91425" marR="91425" marT="91425" marB="91425" anchor="ctr"/>
                </a:tc>
                <a:extLst>
                  <a:ext uri="{0D108BD9-81ED-4DB2-BD59-A6C34878D82A}">
                    <a16:rowId xmlns:a16="http://schemas.microsoft.com/office/drawing/2014/main" val="10001"/>
                  </a:ext>
                </a:extLst>
              </a:tr>
              <a:tr h="417175">
                <a:tc>
                  <a:txBody>
                    <a:bodyPr/>
                    <a:lstStyle/>
                    <a:p>
                      <a:pPr marL="0" lvl="0" indent="0" algn="ctr" rtl="0">
                        <a:spcBef>
                          <a:spcPts val="0"/>
                        </a:spcBef>
                        <a:spcAft>
                          <a:spcPts val="0"/>
                        </a:spcAft>
                        <a:buClr>
                          <a:srgbClr val="000000"/>
                        </a:buClr>
                        <a:buSzPts val="1200"/>
                        <a:buFont typeface="Arial"/>
                        <a:buNone/>
                      </a:pPr>
                      <a:r>
                        <a:rPr lang="en-US" sz="1200" dirty="0">
                          <a:latin typeface="Nunito"/>
                          <a:ea typeface="Nunito"/>
                          <a:cs typeface="Nunito"/>
                          <a:sym typeface="Nunito"/>
                        </a:rPr>
                        <a:t>With parameter tuning</a:t>
                      </a:r>
                    </a:p>
                  </a:txBody>
                  <a:tcPr marL="91450" marR="91450" marT="45725" marB="45725" anchor="ctr">
                    <a:lnB w="12700" cap="flat" cmpd="sng">
                      <a:solidFill>
                        <a:schemeClr val="lt1"/>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400"/>
                        <a:buFont typeface="Arial"/>
                        <a:buNone/>
                      </a:pPr>
                      <a:r>
                        <a:rPr lang="en-US" sz="1200" u="none" strike="noStrike" cap="none" dirty="0">
                          <a:latin typeface="Nunito"/>
                          <a:ea typeface="Nunito"/>
                          <a:cs typeface="Nunito"/>
                          <a:sym typeface="Nunito"/>
                        </a:rPr>
                        <a:t>89.09</a:t>
                      </a:r>
                    </a:p>
                  </a:txBody>
                  <a:tcPr marL="91425" marR="91425" marT="91425" marB="91425" anchor="ctr">
                    <a:lnB w="12700" cap="flat" cmpd="sng">
                      <a:solidFill>
                        <a:schemeClr val="lt1"/>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400"/>
                        <a:buFont typeface="Arial"/>
                        <a:buNone/>
                      </a:pPr>
                      <a:r>
                        <a:rPr lang="en-US" sz="1200" u="none" strike="noStrike" cap="none" dirty="0">
                          <a:latin typeface="Nunito"/>
                          <a:ea typeface="Nunito"/>
                          <a:cs typeface="Nunito"/>
                          <a:sym typeface="Nunito"/>
                        </a:rPr>
                        <a:t>0.650</a:t>
                      </a:r>
                    </a:p>
                  </a:txBody>
                  <a:tcPr marL="91425" marR="91425" marT="91425" marB="91425" anchor="ctr">
                    <a:lnB w="12700" cap="flat" cmpd="sng">
                      <a:solidFill>
                        <a:schemeClr val="lt1"/>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400"/>
                        <a:buFont typeface="Arial"/>
                        <a:buNone/>
                      </a:pPr>
                      <a:r>
                        <a:rPr lang="en-US" sz="1200" u="none" strike="noStrike" cap="none" dirty="0">
                          <a:latin typeface="Nunito"/>
                          <a:ea typeface="Nunito"/>
                          <a:cs typeface="Nunito"/>
                          <a:sym typeface="Nunito"/>
                        </a:rPr>
                        <a:t>81.73</a:t>
                      </a:r>
                    </a:p>
                  </a:txBody>
                  <a:tcPr marL="91425" marR="91425" marT="91425" marB="91425" anchor="ctr">
                    <a:lnB w="12700" cap="flat" cmpd="sng">
                      <a:solidFill>
                        <a:schemeClr val="lt1"/>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400"/>
                        <a:buFont typeface="Arial"/>
                        <a:buNone/>
                      </a:pPr>
                      <a:r>
                        <a:rPr lang="en-US" sz="1200" u="none" strike="noStrike" cap="none" dirty="0">
                          <a:latin typeface="Nunito"/>
                          <a:ea typeface="Nunito"/>
                          <a:cs typeface="Nunito"/>
                          <a:sym typeface="Nunito"/>
                        </a:rPr>
                        <a:t>83.38</a:t>
                      </a:r>
                    </a:p>
                  </a:txBody>
                  <a:tcPr marL="91425" marR="91425" marT="91425" marB="91425" anchor="ctr">
                    <a:lnB w="12700" cap="flat" cmpd="sng">
                      <a:solidFill>
                        <a:schemeClr val="lt1"/>
                      </a:solidFill>
                      <a:prstDash val="solid"/>
                      <a:round/>
                      <a:headEnd type="none" w="sm" len="sm"/>
                      <a:tailEnd type="none" w="sm" len="sm"/>
                    </a:lnB>
                  </a:tcPr>
                </a:tc>
                <a:extLst>
                  <a:ext uri="{0D108BD9-81ED-4DB2-BD59-A6C34878D82A}">
                    <a16:rowId xmlns:a16="http://schemas.microsoft.com/office/drawing/2014/main" val="10002"/>
                  </a:ext>
                </a:extLst>
              </a:tr>
              <a:tr h="417175">
                <a:tc>
                  <a:txBody>
                    <a:bodyPr/>
                    <a:lstStyle/>
                    <a:p>
                      <a:pPr marL="0" marR="0" lvl="0" indent="0" algn="ctr" rtl="0">
                        <a:lnSpc>
                          <a:spcPct val="100000"/>
                        </a:lnSpc>
                        <a:spcBef>
                          <a:spcPts val="0"/>
                        </a:spcBef>
                        <a:spcAft>
                          <a:spcPts val="0"/>
                        </a:spcAft>
                        <a:buClr>
                          <a:srgbClr val="000000"/>
                        </a:buClr>
                        <a:buSzPts val="1200"/>
                        <a:buFont typeface="Arial"/>
                        <a:buNone/>
                      </a:pPr>
                      <a:r>
                        <a:rPr lang="en-US" sz="1200" dirty="0">
                          <a:latin typeface="Nunito"/>
                          <a:ea typeface="Nunito"/>
                          <a:cs typeface="Nunito"/>
                          <a:sym typeface="Nunito"/>
                        </a:rPr>
                        <a:t>Grid Search Optimized Model</a:t>
                      </a:r>
                      <a:endParaRPr lang="en-US" sz="1200" u="none" strike="noStrike" cap="none" dirty="0">
                        <a:latin typeface="Nunito"/>
                        <a:ea typeface="Nunito"/>
                        <a:cs typeface="Nunito"/>
                        <a:sym typeface="Nunito"/>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400"/>
                        <a:buFont typeface="Arial"/>
                        <a:buNone/>
                      </a:pPr>
                      <a:r>
                        <a:rPr lang="en-US" sz="1200" u="none" strike="noStrike" cap="none" dirty="0">
                          <a:latin typeface="Nunito"/>
                          <a:ea typeface="Nunito"/>
                          <a:cs typeface="Nunito"/>
                          <a:sym typeface="Nunito"/>
                        </a:rPr>
                        <a:t>8</a:t>
                      </a:r>
                      <a:r>
                        <a:rPr lang="en-US" sz="1200" dirty="0">
                          <a:latin typeface="Nunito"/>
                          <a:ea typeface="Nunito"/>
                          <a:cs typeface="Nunito"/>
                          <a:sym typeface="Nunito"/>
                        </a:rPr>
                        <a:t>8</a:t>
                      </a:r>
                      <a:r>
                        <a:rPr lang="en-US" sz="1200" u="none" strike="noStrike" cap="none" dirty="0">
                          <a:latin typeface="Nunito"/>
                          <a:ea typeface="Nunito"/>
                          <a:cs typeface="Nunito"/>
                          <a:sym typeface="Nunito"/>
                        </a:rPr>
                        <a:t>.26</a:t>
                      </a:r>
                    </a:p>
                  </a:txBody>
                  <a:tcPr marL="91425" marR="91425" marT="91425" marB="914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400"/>
                        <a:buFont typeface="Arial"/>
                        <a:buNone/>
                      </a:pPr>
                      <a:r>
                        <a:rPr lang="en-US" sz="1200" u="none" strike="noStrike" cap="none" dirty="0">
                          <a:latin typeface="Nunito"/>
                          <a:ea typeface="Nunito"/>
                          <a:cs typeface="Nunito"/>
                          <a:sym typeface="Nunito"/>
                        </a:rPr>
                        <a:t>0.614</a:t>
                      </a:r>
                    </a:p>
                  </a:txBody>
                  <a:tcPr marL="91425" marR="91425" marT="91425" marB="914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400"/>
                        <a:buFont typeface="Arial"/>
                        <a:buNone/>
                      </a:pPr>
                      <a:r>
                        <a:rPr lang="en-US" sz="1200" u="none" strike="noStrike" cap="none" dirty="0">
                          <a:latin typeface="Nunito"/>
                          <a:ea typeface="Nunito"/>
                          <a:cs typeface="Nunito"/>
                          <a:sym typeface="Nunito"/>
                        </a:rPr>
                        <a:t>79.21</a:t>
                      </a:r>
                    </a:p>
                  </a:txBody>
                  <a:tcPr marL="91425" marR="91425" marT="91425" marB="914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400"/>
                        <a:buFont typeface="Arial"/>
                        <a:buNone/>
                      </a:pPr>
                      <a:r>
                        <a:rPr lang="en-US" sz="1200" u="none" strike="noStrike" cap="none" dirty="0">
                          <a:latin typeface="Nunito"/>
                          <a:ea typeface="Nunito"/>
                          <a:cs typeface="Nunito"/>
                          <a:sym typeface="Nunito"/>
                        </a:rPr>
                        <a:t>82.48</a:t>
                      </a:r>
                    </a:p>
                  </a:txBody>
                  <a:tcPr marL="91425" marR="91425" marT="91425" marB="914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p52"/>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US" dirty="0">
                <a:solidFill>
                  <a:schemeClr val="lt2"/>
                </a:solidFill>
                <a:latin typeface="Century Gothic"/>
                <a:ea typeface="Century Gothic"/>
                <a:cs typeface="Century Gothic"/>
                <a:sym typeface="Century Gothic"/>
              </a:rPr>
              <a:t>Conclusions and Recommendations</a:t>
            </a:r>
          </a:p>
        </p:txBody>
      </p:sp>
      <p:sp>
        <p:nvSpPr>
          <p:cNvPr id="261" name="Google Shape;261;p52"/>
          <p:cNvSpPr txBox="1">
            <a:spLocks noGrp="1"/>
          </p:cNvSpPr>
          <p:nvPr>
            <p:ph type="body" idx="1"/>
          </p:nvPr>
        </p:nvSpPr>
        <p:spPr>
          <a:xfrm>
            <a:off x="202550" y="861975"/>
            <a:ext cx="8629800" cy="3405517"/>
          </a:xfrm>
          <a:prstGeom prst="rect">
            <a:avLst/>
          </a:prstGeom>
          <a:noFill/>
          <a:ln>
            <a:noFill/>
          </a:ln>
        </p:spPr>
        <p:txBody>
          <a:bodyPr spcFirstLastPara="1" wrap="square" lIns="91425" tIns="91425" rIns="91425" bIns="91425" anchor="t" anchorCtr="0">
            <a:spAutoFit/>
          </a:bodyPr>
          <a:lstStyle/>
          <a:p>
            <a:r>
              <a:rPr lang="en-US" sz="1400" dirty="0"/>
              <a:t>Attribute engineering demonstrated that the absence of debt information (DEBTINC unknown) is a risk pattern in itself. Flagging these cases improved the model's detection capability.</a:t>
            </a:r>
          </a:p>
          <a:p>
            <a:endParaRPr lang="en-US" sz="1400" dirty="0"/>
          </a:p>
          <a:p>
            <a:r>
              <a:rPr lang="en-US" sz="1400" dirty="0"/>
              <a:t>Cross-validation revealed that simple models can create a false sense of success. The final model, although more conservative, is statistically reliable.</a:t>
            </a:r>
          </a:p>
          <a:p>
            <a:endParaRPr lang="en-US" sz="1400" dirty="0"/>
          </a:p>
          <a:p>
            <a:r>
              <a:rPr lang="en-US" sz="1400" dirty="0"/>
              <a:t>The success of the neural network (Kappa &gt; 0.60) confirms that credit risk does not depend on a single rule, but rather on complex interactions between debt age, payment behavior, and debt.</a:t>
            </a:r>
          </a:p>
          <a:p>
            <a:endParaRPr lang="en-US" sz="1400" dirty="0"/>
          </a:p>
          <a:p>
            <a:r>
              <a:rPr lang="en-US" sz="1400" dirty="0"/>
              <a:t>Implement the model with a cost-sensitive learning (</a:t>
            </a:r>
            <a:r>
              <a:rPr lang="en-US" sz="1400" dirty="0" err="1"/>
              <a:t>MetaCost</a:t>
            </a:r>
            <a:r>
              <a:rPr lang="en-US" sz="1400" dirty="0"/>
              <a:t>) strategy. It is recommended to configure the model to penalize default errors more frequently. This will slightly sacrifice overall accuracy but will increase the capture of delinquent accounts, aligning with the financial risk mitigation strategy.</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p53"/>
          <p:cNvSpPr txBox="1">
            <a:spLocks noGrp="1"/>
          </p:cNvSpPr>
          <p:nvPr>
            <p:ph type="ctrTitle"/>
          </p:nvPr>
        </p:nvSpPr>
        <p:spPr>
          <a:xfrm>
            <a:off x="0" y="2820425"/>
            <a:ext cx="9144000" cy="581700"/>
          </a:xfrm>
          <a:prstGeom prst="rect">
            <a:avLst/>
          </a:prstGeom>
          <a:solidFill>
            <a:schemeClr val="lt2"/>
          </a:solid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800"/>
              <a:buNone/>
            </a:pPr>
            <a:r>
              <a:rPr lang="en-US" sz="3300">
                <a:solidFill>
                  <a:schemeClr val="lt1"/>
                </a:solidFill>
                <a:latin typeface="Century Gothic"/>
                <a:ea typeface="Century Gothic"/>
                <a:cs typeface="Century Gothic"/>
                <a:sym typeface="Century Gothic"/>
              </a:rPr>
              <a:t>APPENDIX</a:t>
            </a:r>
            <a:endParaRPr sz="3300">
              <a:solidFill>
                <a:schemeClr val="lt1"/>
              </a:solidFill>
              <a:latin typeface="Century Gothic"/>
              <a:ea typeface="Century Gothic"/>
              <a:cs typeface="Century Gothic"/>
              <a:sym typeface="Century Gothic"/>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p54"/>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US" dirty="0">
                <a:solidFill>
                  <a:schemeClr val="lt2"/>
                </a:solidFill>
                <a:latin typeface="Century Gothic"/>
                <a:ea typeface="Century Gothic"/>
                <a:cs typeface="Century Gothic"/>
                <a:sym typeface="Century Gothic"/>
              </a:rPr>
              <a:t>RM Process</a:t>
            </a:r>
            <a:endParaRPr dirty="0">
              <a:solidFill>
                <a:schemeClr val="lt2"/>
              </a:solidFill>
              <a:latin typeface="Century Gothic"/>
              <a:ea typeface="Century Gothic"/>
              <a:cs typeface="Century Gothic"/>
              <a:sym typeface="Century Gothic"/>
            </a:endParaRPr>
          </a:p>
        </p:txBody>
      </p:sp>
      <p:pic>
        <p:nvPicPr>
          <p:cNvPr id="7" name="Imagen 6">
            <a:extLst>
              <a:ext uri="{FF2B5EF4-FFF2-40B4-BE49-F238E27FC236}">
                <a16:creationId xmlns:a16="http://schemas.microsoft.com/office/drawing/2014/main" id="{6E00501F-4686-9A7F-C94D-B067C7DC414C}"/>
              </a:ext>
            </a:extLst>
          </p:cNvPr>
          <p:cNvPicPr>
            <a:picLocks noChangeAspect="1"/>
          </p:cNvPicPr>
          <p:nvPr/>
        </p:nvPicPr>
        <p:blipFill>
          <a:blip r:embed="rId3"/>
          <a:stretch>
            <a:fillRect/>
          </a:stretch>
        </p:blipFill>
        <p:spPr>
          <a:xfrm>
            <a:off x="921813" y="861979"/>
            <a:ext cx="7082073" cy="3938643"/>
          </a:xfrm>
          <a:prstGeom prst="rect">
            <a:avLst/>
          </a:prstGeom>
        </p:spPr>
      </p:pic>
    </p:spTree>
  </p:cSld>
  <p:clrMapOvr>
    <a:masterClrMapping/>
  </p:clrMapOvr>
</p:sld>
</file>

<file path=ppt/theme/theme1.xml><?xml version="1.0" encoding="utf-8"?>
<a:theme xmlns:a="http://schemas.openxmlformats.org/drawingml/2006/main" name="Just Logo">
  <a:themeElements>
    <a:clrScheme name="Simple Light">
      <a:dk1>
        <a:srgbClr val="222222"/>
      </a:dk1>
      <a:lt1>
        <a:srgbClr val="FFFFFF"/>
      </a:lt1>
      <a:dk2>
        <a:srgbClr val="222222"/>
      </a:dk2>
      <a:lt2>
        <a:srgbClr val="0E39A9"/>
      </a:lt2>
      <a:accent1>
        <a:srgbClr val="FFAB40"/>
      </a:accent1>
      <a:accent2>
        <a:srgbClr val="6F4294"/>
      </a:accent2>
      <a:accent3>
        <a:srgbClr val="FFA000"/>
      </a:accent3>
      <a:accent4>
        <a:srgbClr val="FFAB40"/>
      </a:accent4>
      <a:accent5>
        <a:srgbClr val="FFDF00"/>
      </a:accent5>
      <a:accent6>
        <a:srgbClr val="1974D5"/>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Just Logo">
  <a:themeElements>
    <a:clrScheme name="Simple Light">
      <a:dk1>
        <a:srgbClr val="222222"/>
      </a:dk1>
      <a:lt1>
        <a:srgbClr val="FFFFFF"/>
      </a:lt1>
      <a:dk2>
        <a:srgbClr val="222222"/>
      </a:dk2>
      <a:lt2>
        <a:srgbClr val="0E39A9"/>
      </a:lt2>
      <a:accent1>
        <a:srgbClr val="FFAB40"/>
      </a:accent1>
      <a:accent2>
        <a:srgbClr val="6F4294"/>
      </a:accent2>
      <a:accent3>
        <a:srgbClr val="FFA000"/>
      </a:accent3>
      <a:accent4>
        <a:srgbClr val="FFAB40"/>
      </a:accent4>
      <a:accent5>
        <a:srgbClr val="FFDF00"/>
      </a:accent5>
      <a:accent6>
        <a:srgbClr val="1974D5"/>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5426</TotalTime>
  <Words>1528</Words>
  <Application>Microsoft Macintosh PowerPoint</Application>
  <PresentationFormat>Presentación en pantalla (16:9)</PresentationFormat>
  <Paragraphs>156</Paragraphs>
  <Slides>27</Slides>
  <Notes>27</Notes>
  <HiddenSlides>0</HiddenSlides>
  <MMClips>0</MMClips>
  <ScaleCrop>false</ScaleCrop>
  <HeadingPairs>
    <vt:vector size="6" baseType="variant">
      <vt:variant>
        <vt:lpstr>Fuentes usadas</vt:lpstr>
      </vt:variant>
      <vt:variant>
        <vt:i4>6</vt:i4>
      </vt:variant>
      <vt:variant>
        <vt:lpstr>Tema</vt:lpstr>
      </vt:variant>
      <vt:variant>
        <vt:i4>2</vt:i4>
      </vt:variant>
      <vt:variant>
        <vt:lpstr>Títulos de diapositiva</vt:lpstr>
      </vt:variant>
      <vt:variant>
        <vt:i4>27</vt:i4>
      </vt:variant>
    </vt:vector>
  </HeadingPairs>
  <TitlesOfParts>
    <vt:vector size="35" baseType="lpstr">
      <vt:lpstr>Arial</vt:lpstr>
      <vt:lpstr>Nunito ExtraBold</vt:lpstr>
      <vt:lpstr>Nunito SemiBold</vt:lpstr>
      <vt:lpstr>Century Gothic</vt:lpstr>
      <vt:lpstr>Calibri</vt:lpstr>
      <vt:lpstr>Nunito</vt:lpstr>
      <vt:lpstr>Just Logo</vt:lpstr>
      <vt:lpstr>Just Logo</vt:lpstr>
      <vt:lpstr>Loan Default Prediction Prediction Methods - Neural Networks</vt:lpstr>
      <vt:lpstr>Contents / Agenda</vt:lpstr>
      <vt:lpstr>Data Dictionary</vt:lpstr>
      <vt:lpstr>Data Dictionary</vt:lpstr>
      <vt:lpstr>Business Problem Overview and Solution Approach</vt:lpstr>
      <vt:lpstr>Business Problem Overview and Solution Approach</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Phase 1: Basic Neural Network</vt:lpstr>
      <vt:lpstr>Phase 2: Neural Network With Parameter Tuning</vt:lpstr>
      <vt:lpstr>Phase 3: Neural Network Using Grid Search </vt:lpstr>
      <vt:lpstr>Presentación de PowerPoint</vt:lpstr>
      <vt:lpstr>Conclusions and Recommendations</vt:lpstr>
      <vt:lpstr>APPENDIX</vt:lpstr>
      <vt:lpstr>RM Process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Alfredo Randolph</cp:lastModifiedBy>
  <cp:revision>8</cp:revision>
  <dcterms:modified xsi:type="dcterms:W3CDTF">2026-01-02T18:22:53Z</dcterms:modified>
</cp:coreProperties>
</file>